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9dca557-8256-eabf-d2dd-ce3933c1c700}">
          <p14:sldIdLst>
            <p14:sldId id="256"/>
            <p14:sldId id="257"/>
            <p14:sldId id="258"/>
          </p14:sldIdLst>
        </p14:section>
        <p14:section name="Approach" id="{9db82c45-0e15-9544-812e-9f5666583f01}">
          <p14:sldIdLst>
            <p14:sldId id="259"/>
            <p14:sldId id="260"/>
            <p14:sldId id="261"/>
            <p14:sldId id="262"/>
            <p14:sldId id="263"/>
          </p14:sldIdLst>
        </p14:section>
        <p14:section name="Results" id="{902313bb-e645-844c-7af4-d3803f313eca}">
          <p14:sldIdLst>
            <p14:sldId id="264"/>
            <p14:sldId id="265"/>
            <p14:sldId id="266"/>
            <p14:sldId id="267"/>
          </p14:sldIdLst>
        </p14:section>
        <p14:section name="Wrap-up" id="{adc05812-1360-f13c-ca30-e45bfa484363}">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Baseline (ours, from scratch)</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Sheet1!$B$2:$B$3</c:f>
              <c:numCache>
                <c:formatCode>General</c:formatCode>
                <c:ptCount val="2"/>
                <c:pt idx="0">
                  <c:v>1.218</c:v>
                </c:pt>
                <c:pt idx="1">
                  <c:v>1.527</c:v>
                </c:pt>
              </c:numCache>
            </c:numRef>
          </c:val>
        </c:ser>
        <c:ser>
          <c:idx val="1"/>
          <c:order val="1"/>
          <c:tx>
            <c:strRef>
              <c:f>Sheet1!$C$1</c:f>
              <c:strCache>
                <c:ptCount val="1"/>
                <c:pt idx="0">
                  <c:v>Tacotron 2 + HiFi-GAN</c:v>
                </c:pt>
              </c:strCache>
            </c:strRef>
          </c:tx>
          <c:spPr>
            <a:solidFill>
              <a:srgbClr val="5B3FD9"/>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Sheet1!$C$2:$C$3</c:f>
              <c:numCache>
                <c:formatCode>General</c:formatCode>
                <c:ptCount val="2"/>
                <c:pt idx="0">
                  <c:v>0.889</c:v>
                </c:pt>
                <c:pt idx="1">
                  <c:v>1.192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C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rebuild that pipeline properly and show, with numbers, that it works far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Because both share one mel format, we can swap Tacotron 2 for our baseline, or Griffin-Lim for HiFi-GAN,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this. The two heavy neural networks are pretrained. Everything else, including the only model we trained ourselves (the baseline), the vocoder comparison and all the evaluation, is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subset is picked by hashing file names, so everyone gets the same clips. The fixed vocabulary fixes the paper's random mapping. The mel settings match the pretrained models, so all systems speak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model we train ourselves. The highlighted step is the key weakness: instead of learning which character to read when, it stretches the character features evenly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Tacotron 2 is the architecture the paper wanted but could not train. We did not train it either; we use a pretrained checkpoint. Our work is wiring it into a shared mel format so vocoders are interchangeable and the attention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samples/main_griffinlim/05.wav then samples/main_hifigan/05.wav here. Same mel, different vocoder: Griffin-Lim guesses the missing phase and sounds metallic, HiFi-GAN learned to generate realistic waveforms.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panel: each column is a moment of speech, the dark line shows which character the model is reading. It climbs steadily from first to last character. The flat steps are pauses at commas. Measured on three test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DTW handles different speaking speeds. Mention the caveat yourselves before the panel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'pending' with the real means only once the Google Form responses are in and the table is regenerated with eval/results_table.py --ratings. Do not present numbers without the responses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deeper models. Our results confirm it from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explains our own files in the Q&amp;A. The GitHub commit history matches this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already loaded. Try one sentence from the panel.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200 sentences, versus 13,100 clips for a real TTS model</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Use a Tacotron 2 trained on all of LJ Speech</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encoder, attention decoder and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each run, and nothing could be cached</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we measure the alignment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Tacotron 2 (pretrained) or our baseline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Data download, text cleaning, fixed vocabulary</a:t>
            </a:r>
            <a:endParaRPr lang="en-US" sz="1500" dirty="0"/>
          </a:p>
          <a:p>
            <a:pPr marL="342900" indent="-342900">
              <a:spcAft>
                <a:spcPts val="1000"/>
              </a:spcAft>
              <a:buSzPct val="100000"/>
              <a:buChar char="•"/>
            </a:pPr>
            <a:r>
              <a:rPr lang="en-US" sz="1500" dirty="0">
                <a:solidFill>
                  <a:schemeClr val="tx1"/>
                </a:solidFill>
              </a:rPr>
              <a:t>Mel extraction and train / val / test split</a:t>
            </a:r>
            <a:endParaRPr lang="en-US" sz="1500" dirty="0"/>
          </a:p>
          <a:p>
            <a:pPr marL="342900" indent="-342900">
              <a:spcAft>
                <a:spcPts val="1000"/>
              </a:spcAft>
              <a:buSzPct val="100000"/>
              <a:buChar char="•"/>
            </a:pPr>
            <a:r>
              <a:rPr lang="en-US" sz="1500" dirty="0">
                <a:solidFill>
                  <a:schemeClr val="tx1"/>
                </a:solidFill>
              </a:rPr>
              <a:t>Baseline text-to-mel model, trained from scratch</a:t>
            </a:r>
            <a:endParaRPr lang="en-US" sz="1500" dirty="0"/>
          </a:p>
          <a:p>
            <a:pPr marL="342900" indent="-342900">
              <a:spcAft>
                <a:spcPts val="1000"/>
              </a:spcAft>
              <a:buSzPct val="100000"/>
              <a:buChar char="•"/>
            </a:pPr>
            <a:r>
              <a:rPr lang="en-US" sz="1500" dirty="0">
                <a:solidFill>
                  <a:schemeClr val="tx1"/>
                </a:solidFill>
              </a:rPr>
              <a:t>Griffin-Lim vocoder and shared audio settings</a:t>
            </a:r>
            <a:endParaRPr lang="en-US" sz="1500" dirty="0"/>
          </a:p>
          <a:p>
            <a:pPr marL="342900" indent="-342900">
              <a:spcAft>
                <a:spcPts val="1000"/>
              </a:spcAft>
              <a:buSzPct val="100000"/>
              <a:buChar char="•"/>
            </a:pPr>
            <a:r>
              <a:rPr lang="en-US" sz="1500" dirty="0">
                <a:solidFill>
                  <a:schemeClr val="tx1"/>
                </a:solidFill>
              </a:rPr>
              <a:t>Inference CLI and Gradio demo</a:t>
            </a:r>
            <a:endParaRPr lang="en-US" sz="1500" dirty="0"/>
          </a:p>
          <a:p>
            <a:pPr marL="342900" indent="-342900">
              <a:spcAft>
                <a:spcPts val="1000"/>
              </a:spcAft>
              <a:buSzPct val="100000"/>
              <a:buChar char="•"/>
            </a:pPr>
            <a:r>
              <a:rPr lang="en-US" sz="1500" dirty="0">
                <a:solidFill>
                  <a:schemeClr val="tx1"/>
                </a:solidFill>
              </a:rPr>
              <a:t>Alignment analysis, mel-distance metric, MOS test</a:t>
            </a:r>
            <a:endParaRPr lang="en-US" sz="1500" dirty="0"/>
          </a:p>
        </p:txBody>
      </p:sp>
      <p:sp>
        <p:nvSpPr>
          <p:cNvPr id="6" name="Pretrained card"/>
          <p:cNvSpPr/>
          <p:nvPr/>
        </p:nvSpPr>
        <p:spPr>
          <a:xfrm>
            <a:off x="5577840" y="1097280"/>
            <a:ext cx="3108960" cy="2103120"/>
          </a:xfrm>
          <a:prstGeom prst="roundRect">
            <a:avLst>
              <a:gd name="adj" fmla="val 3478"/>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trained by us)</a:t>
            </a:r>
            <a:endParaRPr lang="en-US" sz="1600" dirty="0"/>
          </a:p>
        </p:txBody>
      </p:sp>
      <p:sp>
        <p:nvSpPr>
          <p:cNvPr id="8" name="Pretrained list"/>
          <p:cNvSpPr txBox="1"/>
          <p:nvPr/>
        </p:nvSpPr>
        <p:spPr>
          <a:xfrm>
            <a:off x="5760720" y="1691640"/>
            <a:ext cx="2743200" cy="1371600"/>
          </a:xfrm>
          <a:prstGeom prst="rect">
            <a:avLst/>
          </a:prstGeom>
          <a:noFill/>
          <a:ln/>
        </p:spPr>
        <p:txBody>
          <a:bodyPr wrap="square" lIns="0" tIns="0" rIns="0" bIns="0" rtlCol="0" anchor="t"/>
          <a:lstStyle/>
          <a:p>
            <a:pPr indent="0" marL="0">
              <a:buNone/>
            </a:pPr>
            <a:r>
              <a:rPr lang="en-US" sz="1300" b="1" dirty="0">
                <a:solidFill>
                  <a:schemeClr val="tx1"/>
                </a:solidFill>
              </a:rPr>
              <a:t>Tacotron 2</a:t>
            </a:r>
            <a:endParaRPr lang="en-US" sz="1300" dirty="0"/>
          </a:p>
          <a:p>
            <a:pPr indent="0" marL="0">
              <a:buNone/>
            </a:pPr>
            <a:r>
              <a:rPr lang="en-US" sz="1300" dirty="0">
                <a:solidFill>
                  <a:schemeClr val="tx1"/>
                </a:solidFill>
              </a:rPr>
              <a:t>torchaudio, trained on LJ Speech</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HiFi-GAN vocoder</a:t>
            </a:r>
            <a:endParaRPr lang="en-US" sz="1300" dirty="0"/>
          </a:p>
          <a:p>
            <a:pPr indent="0" marL="0">
              <a:buNone/>
            </a:pPr>
            <a:r>
              <a:rPr lang="en-US" sz="1300" dirty="0">
                <a:solidFill>
                  <a:schemeClr val="tx1"/>
                </a:solidFill>
              </a:rPr>
              <a:t>SpeechBrain, trained on LJ Speech</a:t>
            </a:r>
            <a:endParaRPr lang="en-US" sz="1300" dirty="0"/>
          </a:p>
        </p:txBody>
      </p:sp>
      <p:sp>
        <p:nvSpPr>
          <p:cNvPr id="9" name="Why pretrained"/>
          <p:cNvSpPr txBox="1"/>
          <p:nvPr/>
        </p:nvSpPr>
        <p:spPr>
          <a:xfrm>
            <a:off x="5577840" y="3383280"/>
            <a:ext cx="3108960" cy="1097280"/>
          </a:xfrm>
          <a:prstGeom prst="rect">
            <a:avLst/>
          </a:prstGeom>
          <a:noFill/>
          <a:ln/>
        </p:spPr>
        <p:txBody>
          <a:bodyPr wrap="square" lIns="0" tIns="0" rIns="0" bIns="0" rtlCol="0" anchor="t"/>
          <a:lstStyle/>
          <a:p>
            <a:pPr indent="0" marL="0">
              <a:buNone/>
            </a:pPr>
            <a:r>
              <a:rPr lang="en-US" sz="1300" b="1" dirty="0">
                <a:solidFill>
                  <a:schemeClr val="tx1"/>
                </a:solidFill>
              </a:rPr>
              <a:t>Why: </a:t>
            </a:r>
            <a:pPr indent="0" marL="0">
              <a:buNone/>
            </a:pPr>
            <a:r>
              <a:rPr lang="en-US" sz="1300" dirty="0">
                <a:solidFill>
                  <a:schemeClr val="tx1"/>
                </a:solidFill>
              </a:rPr>
              <a:t>training Tacotron 2 takes days on GPUs. We had one week and laptop CPUs.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~24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~400</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our subset</a:t>
            </a:r>
            <a:endParaRPr lang="en-US" sz="1200" dirty="0"/>
          </a:p>
        </p:txBody>
      </p:sp>
      <p:sp>
        <p:nvSpPr>
          <p:cNvPr id="9" name="Fact 4 value"/>
          <p:cNvSpPr txBox="1"/>
          <p:nvPr/>
        </p:nvSpPr>
        <p:spPr>
          <a:xfrm>
            <a:off x="457200" y="370332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80 / 10 / 10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train / val / test split</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Cached to disk once, instead of recomputed every run</a:t>
            </a:r>
            <a:endParaRPr lang="en-US" sz="1400" dirty="0"/>
          </a:p>
          <a:p>
            <a:pPr marL="342900" indent="-342900">
              <a:spcAft>
                <a:spcPts val="400"/>
              </a:spcAft>
              <a:buSzPct val="100000"/>
              <a:buChar char="•"/>
            </a:pPr>
            <a:r>
              <a:rPr lang="en-US" sz="1400" dirty="0">
                <a:solidFill>
                  <a:schemeClr val="tx1"/>
                </a:solidFill>
              </a:rPr>
              <a:t>Sanity check: plot a real mel and turn it back into audio</a:t>
            </a:r>
            <a:endParaRPr lang="en-US" sz="1400" dirty="0"/>
          </a:p>
        </p:txBody>
      </p:sp>
      <p:sp>
        <p:nvSpPr>
          <p:cNvPr id="14"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trained from scratch</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a:p>
            <a:pPr marL="342900" indent="-342900">
              <a:spcAft>
                <a:spcPts val="400"/>
              </a:spcAft>
              <a:buSzPct val="100000"/>
              <a:buChar char="•"/>
            </a:pPr>
            <a:r>
              <a:rPr lang="en-US" sz="1400" dirty="0">
                <a:solidFill>
                  <a:schemeClr val="tx1"/>
                </a:solidFill>
              </a:rPr>
              <a:t>Mels normalised per band (mean / std)</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just gets an equal share of time. It shows what happens without attention and data.</a:t>
            </a:r>
            <a:endParaRPr lang="en-US" sz="1400" dirty="0"/>
          </a:p>
        </p:txBody>
      </p:sp>
      <p:sp>
        <p:nvSpPr>
          <p:cNvPr id="1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Main system: Tacotron 2</a:t>
            </a:r>
            <a:endParaRPr lang="en-US" sz="3000" dirty="0"/>
          </a:p>
        </p:txBody>
      </p:sp>
      <p:sp>
        <p:nvSpPr>
          <p:cNvPr id="3" name="Taco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aco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acotron part 1 name"/>
          <p:cNvSpPr txBox="1"/>
          <p:nvPr/>
        </p:nvSpPr>
        <p:spPr>
          <a:xfrm>
            <a:off x="1005840" y="109728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Tacotron part 1 body"/>
          <p:cNvSpPr txBox="1"/>
          <p:nvPr/>
        </p:nvSpPr>
        <p:spPr>
          <a:xfrm>
            <a:off x="1005840" y="1417320"/>
            <a:ext cx="365760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Taco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Taco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acotron part 2 name"/>
          <p:cNvSpPr txBox="1"/>
          <p:nvPr/>
        </p:nvSpPr>
        <p:spPr>
          <a:xfrm>
            <a:off x="1005840" y="193852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Tacotron part 2 body"/>
          <p:cNvSpPr txBox="1"/>
          <p:nvPr/>
        </p:nvSpPr>
        <p:spPr>
          <a:xfrm>
            <a:off x="1005840" y="2258568"/>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location-sensitive: uses where it looked last step, so it moves forward</a:t>
            </a:r>
            <a:endParaRPr lang="en-US" sz="1300" dirty="0"/>
          </a:p>
        </p:txBody>
      </p:sp>
      <p:sp>
        <p:nvSpPr>
          <p:cNvPr id="11" name="Taco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Taco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acotron part 3 name"/>
          <p:cNvSpPr txBox="1"/>
          <p:nvPr/>
        </p:nvSpPr>
        <p:spPr>
          <a:xfrm>
            <a:off x="1005840" y="2779776"/>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Tacotron part 3 body"/>
          <p:cNvSpPr txBox="1"/>
          <p:nvPr/>
        </p:nvSpPr>
        <p:spPr>
          <a:xfrm>
            <a:off x="1005840" y="3099816"/>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LSTMs predict one mel frame at a time, plus a stop signal</a:t>
            </a:r>
            <a:endParaRPr lang="en-US" sz="1300" dirty="0"/>
          </a:p>
        </p:txBody>
      </p:sp>
      <p:sp>
        <p:nvSpPr>
          <p:cNvPr id="15" name="Taco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Taco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acotron part 4 name"/>
          <p:cNvSpPr txBox="1"/>
          <p:nvPr/>
        </p:nvSpPr>
        <p:spPr>
          <a:xfrm>
            <a:off x="1005840" y="3621024"/>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Tacotron part 4 body"/>
          <p:cNvSpPr txBox="1"/>
          <p:nvPr/>
        </p:nvSpPr>
        <p:spPr>
          <a:xfrm>
            <a:off x="1005840" y="3941064"/>
            <a:ext cx="365760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refine the whole spectrogram</a:t>
            </a:r>
            <a:endParaRPr lang="en-US" sz="1300" dirty="0"/>
          </a:p>
        </p:txBody>
      </p:sp>
      <p:sp>
        <p:nvSpPr>
          <p:cNvPr id="19" name="Wrapper card"/>
          <p:cNvSpPr/>
          <p:nvPr/>
        </p:nvSpPr>
        <p:spPr>
          <a:xfrm>
            <a:off x="5120640" y="1097280"/>
            <a:ext cx="3566160" cy="2743200"/>
          </a:xfrm>
          <a:prstGeom prst="roundRect">
            <a:avLst>
              <a:gd name="adj" fmla="val 2667"/>
            </a:avLst>
          </a:prstGeom>
          <a:solidFill>
            <a:schemeClr val="bg2"/>
          </a:solidFill>
          <a:ln w="12700">
            <a:solidFill>
              <a:schemeClr val="bg2"/>
            </a:solidFill>
            <a:prstDash val="solid"/>
          </a:ln>
        </p:spPr>
      </p:sp>
      <p:sp>
        <p:nvSpPr>
          <p:cNvPr id="20" name="Wrapper text"/>
          <p:cNvSpPr txBox="1"/>
          <p:nvPr/>
        </p:nvSpPr>
        <p:spPr>
          <a:xfrm>
            <a:off x="5303520" y="1234440"/>
            <a:ext cx="3200400" cy="2514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What we did with it</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Loaded torchaudio's LJ Speech checkpoint</a:t>
            </a:r>
            <a:endParaRPr lang="en-US" sz="1300" dirty="0"/>
          </a:p>
          <a:p>
            <a:pPr marL="342900" indent="-342900">
              <a:spcAft>
                <a:spcPts val="600"/>
              </a:spcAft>
              <a:buSzPct val="100000"/>
              <a:buChar char="•"/>
            </a:pPr>
            <a:r>
              <a:rPr lang="en-US" sz="1300" dirty="0">
                <a:solidFill>
                  <a:schemeClr val="tx1"/>
                </a:solidFill>
              </a:rPr>
              <a:t>Chose the standard mel format so Griffin-Lim and HiFi-GAN read the same mel</a:t>
            </a:r>
            <a:endParaRPr lang="en-US" sz="1300" dirty="0"/>
          </a:p>
          <a:p>
            <a:pPr marL="342900" indent="-342900">
              <a:spcAft>
                <a:spcPts val="600"/>
              </a:spcAft>
              <a:buSzPct val="100000"/>
              <a:buChar char="•"/>
            </a:pPr>
            <a:r>
              <a:rPr lang="en-US" sz="1300" dirty="0">
                <a:solidFill>
                  <a:schemeClr val="tx1"/>
                </a:solidFill>
              </a:rPr>
              <a:t>Exposed mel + alignment for analysis</a:t>
            </a:r>
            <a:endParaRPr lang="en-US" sz="1300" dirty="0"/>
          </a:p>
          <a:p>
            <a:pPr marL="342900" indent="-342900">
              <a:spcAft>
                <a:spcPts val="600"/>
              </a:spcAft>
              <a:buSzPct val="100000"/>
              <a:buChar char="•"/>
            </a:pPr>
            <a:r>
              <a:rPr lang="en-US" sz="1300" dirty="0">
                <a:solidFill>
                  <a:schemeClr val="tx1"/>
                </a:solidFill>
              </a:rPr>
              <a:t>Fixed seeds so samples are reproducible (its prenet keeps dropout on)</a:t>
            </a:r>
            <a:endParaRPr lang="en-US" sz="1300" dirty="0"/>
          </a:p>
        </p:txBody>
      </p:sp>
      <p:sp>
        <p:nvSpPr>
          <p:cNvPr id="21"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2615184" cy="2880360"/>
          </a:xfrm>
          <a:prstGeom prst="roundRect">
            <a:avLst>
              <a:gd name="adj" fmla="val 2797"/>
            </a:avLst>
          </a:prstGeom>
          <a:solidFill>
            <a:schemeClr val="bg2"/>
          </a:solidFill>
          <a:ln w="12700">
            <a:solidFill>
              <a:schemeClr val="bg2"/>
            </a:solidFill>
            <a:prstDash val="solid"/>
          </a:ln>
        </p:spPr>
      </p:sp>
      <p:sp>
        <p:nvSpPr>
          <p:cNvPr id="4" name="Vocoder 1 name"/>
          <p:cNvSpPr txBox="1"/>
          <p:nvPr/>
        </p:nvSpPr>
        <p:spPr>
          <a:xfrm>
            <a:off x="640080"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WaveRNN</a:t>
            </a:r>
            <a:endParaRPr lang="en-US" sz="1800" dirty="0"/>
          </a:p>
        </p:txBody>
      </p:sp>
      <p:sp>
        <p:nvSpPr>
          <p:cNvPr id="5" name="Vocoder 1 how"/>
          <p:cNvSpPr txBox="1"/>
          <p:nvPr/>
        </p:nvSpPr>
        <p:spPr>
          <a:xfrm>
            <a:off x="640080"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one sample at a time</a:t>
            </a:r>
            <a:endParaRPr lang="en-US" sz="1200" dirty="0"/>
          </a:p>
        </p:txBody>
      </p:sp>
      <p:sp>
        <p:nvSpPr>
          <p:cNvPr id="6" name="Vocoder 1 time"/>
          <p:cNvSpPr txBox="1"/>
          <p:nvPr/>
        </p:nvSpPr>
        <p:spPr>
          <a:xfrm>
            <a:off x="640080" y="2011680"/>
            <a:ext cx="2286000" cy="731520"/>
          </a:xfrm>
          <a:prstGeom prst="rect">
            <a:avLst/>
          </a:prstGeom>
          <a:noFill/>
          <a:ln/>
        </p:spPr>
        <p:txBody>
          <a:bodyPr wrap="square" lIns="0" tIns="0" rIns="0" bIns="0" rtlCol="0" anchor="ctr"/>
          <a:lstStyle/>
          <a:p>
            <a:pPr indent="0" marL="0">
              <a:buNone/>
            </a:pPr>
            <a:r>
              <a:rPr lang="en-US" sz="4000" b="1" dirty="0">
                <a:solidFill>
                  <a:schemeClr val="accent6"/>
                </a:solidFill>
                <a:latin typeface="Arial" pitchFamily="34" charset="0"/>
                <a:ea typeface="Arial" pitchFamily="34" charset="-122"/>
                <a:cs typeface="Arial" pitchFamily="34" charset="-120"/>
              </a:rPr>
              <a:t>48.7 s</a:t>
            </a:r>
            <a:endParaRPr lang="en-US" sz="4000" dirty="0"/>
          </a:p>
        </p:txBody>
      </p:sp>
      <p:sp>
        <p:nvSpPr>
          <p:cNvPr id="7" name="Vocoder 1 unit"/>
          <p:cNvSpPr txBox="1"/>
          <p:nvPr/>
        </p:nvSpPr>
        <p:spPr>
          <a:xfrm>
            <a:off x="640080"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640080"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Tried and removed: too slow for a live demo</a:t>
            </a:r>
            <a:endParaRPr lang="en-US" sz="1300" dirty="0"/>
          </a:p>
        </p:txBody>
      </p:sp>
      <p:sp>
        <p:nvSpPr>
          <p:cNvPr id="9" name="Vocoder card 2"/>
          <p:cNvSpPr/>
          <p:nvPr/>
        </p:nvSpPr>
        <p:spPr>
          <a:xfrm>
            <a:off x="3264408" y="1097280"/>
            <a:ext cx="2615184" cy="2880360"/>
          </a:xfrm>
          <a:prstGeom prst="roundRect">
            <a:avLst>
              <a:gd name="adj" fmla="val 2797"/>
            </a:avLst>
          </a:prstGeom>
          <a:solidFill>
            <a:schemeClr val="bg2"/>
          </a:solidFill>
          <a:ln w="12700">
            <a:solidFill>
              <a:schemeClr val="bg2"/>
            </a:solidFill>
            <a:prstDash val="solid"/>
          </a:ln>
        </p:spPr>
      </p:sp>
      <p:sp>
        <p:nvSpPr>
          <p:cNvPr id="10" name="Vocoder 2 name"/>
          <p:cNvSpPr txBox="1"/>
          <p:nvPr/>
        </p:nvSpPr>
        <p:spPr>
          <a:xfrm>
            <a:off x="3447288"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Griffin-Lim</a:t>
            </a:r>
            <a:endParaRPr lang="en-US" sz="1800" dirty="0"/>
          </a:p>
        </p:txBody>
      </p:sp>
      <p:sp>
        <p:nvSpPr>
          <p:cNvPr id="11" name="Vocoder 2 how"/>
          <p:cNvSpPr txBox="1"/>
          <p:nvPr/>
        </p:nvSpPr>
        <p:spPr>
          <a:xfrm>
            <a:off x="3447288"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signal processing, no learning</a:t>
            </a:r>
            <a:endParaRPr lang="en-US" sz="1200" dirty="0"/>
          </a:p>
        </p:txBody>
      </p:sp>
      <p:sp>
        <p:nvSpPr>
          <p:cNvPr id="12" name="Vocoder 2 time"/>
          <p:cNvSpPr txBox="1"/>
          <p:nvPr/>
        </p:nvSpPr>
        <p:spPr>
          <a:xfrm>
            <a:off x="3447288" y="2011680"/>
            <a:ext cx="2286000" cy="73152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0.08 s</a:t>
            </a:r>
            <a:endParaRPr lang="en-US" sz="4000" dirty="0"/>
          </a:p>
        </p:txBody>
      </p:sp>
      <p:sp>
        <p:nvSpPr>
          <p:cNvPr id="13" name="Vocoder 2 unit"/>
          <p:cNvSpPr txBox="1"/>
          <p:nvPr/>
        </p:nvSpPr>
        <p:spPr>
          <a:xfrm>
            <a:off x="3447288"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3447288"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Fast, intelligible, slightly metallic</a:t>
            </a:r>
            <a:endParaRPr lang="en-US" sz="1300" dirty="0"/>
          </a:p>
        </p:txBody>
      </p:sp>
      <p:sp>
        <p:nvSpPr>
          <p:cNvPr id="15" name="Vocoder card 3"/>
          <p:cNvSpPr/>
          <p:nvPr/>
        </p:nvSpPr>
        <p:spPr>
          <a:xfrm>
            <a:off x="6071616" y="1097280"/>
            <a:ext cx="2615184" cy="2880360"/>
          </a:xfrm>
          <a:prstGeom prst="roundRect">
            <a:avLst>
              <a:gd name="adj" fmla="val 2797"/>
            </a:avLst>
          </a:prstGeom>
          <a:solidFill>
            <a:schemeClr val="bg2"/>
          </a:solidFill>
          <a:ln w="12700">
            <a:solidFill>
              <a:schemeClr val="bg2"/>
            </a:solidFill>
            <a:prstDash val="solid"/>
          </a:ln>
        </p:spPr>
      </p:sp>
      <p:sp>
        <p:nvSpPr>
          <p:cNvPr id="16" name="Vocoder 3 name"/>
          <p:cNvSpPr txBox="1"/>
          <p:nvPr/>
        </p:nvSpPr>
        <p:spPr>
          <a:xfrm>
            <a:off x="6254496"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HiFi-GAN</a:t>
            </a:r>
            <a:endParaRPr lang="en-US" sz="1800" dirty="0"/>
          </a:p>
        </p:txBody>
      </p:sp>
      <p:sp>
        <p:nvSpPr>
          <p:cNvPr id="17" name="Vocoder 3 how"/>
          <p:cNvSpPr txBox="1"/>
          <p:nvPr/>
        </p:nvSpPr>
        <p:spPr>
          <a:xfrm>
            <a:off x="6254496"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GAN, all frames in parallel</a:t>
            </a:r>
            <a:endParaRPr lang="en-US" sz="1200" dirty="0"/>
          </a:p>
        </p:txBody>
      </p:sp>
      <p:sp>
        <p:nvSpPr>
          <p:cNvPr id="18" name="Vocoder 3 time"/>
          <p:cNvSpPr txBox="1"/>
          <p:nvPr/>
        </p:nvSpPr>
        <p:spPr>
          <a:xfrm>
            <a:off x="6254496" y="2011680"/>
            <a:ext cx="2286000" cy="73152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0.65 s</a:t>
            </a:r>
            <a:endParaRPr lang="en-US" sz="4000" dirty="0"/>
          </a:p>
        </p:txBody>
      </p:sp>
      <p:sp>
        <p:nvSpPr>
          <p:cNvPr id="19" name="Vocoder 3 unit"/>
          <p:cNvSpPr txBox="1"/>
          <p:nvPr/>
        </p:nvSpPr>
        <p:spPr>
          <a:xfrm>
            <a:off x="6254496"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20" name="Vocoder 3 verdict"/>
          <p:cNvSpPr txBox="1"/>
          <p:nvPr/>
        </p:nvSpPr>
        <p:spPr>
          <a:xfrm>
            <a:off x="6254496"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Natural sounding, about 5× faster than real time</a:t>
            </a:r>
            <a:endParaRPr lang="en-US" sz="1300" dirty="0"/>
          </a:p>
        </p:txBody>
      </p:sp>
      <p:sp>
        <p:nvSpPr>
          <p:cNvPr id="21"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laptop CPU. Griffin-Lim and HiFi-GAN get the identical mel, so only the vocoder differs (WaveRNN time includes Tacotron 2, about 1 s). Audio: samples/main_griffinlim/, samples/main_hifigan/.</a:t>
            </a:r>
            <a:endParaRPr lang="en-US" sz="1200" dirty="0"/>
          </a:p>
        </p:txBody>
      </p:sp>
      <p:sp>
        <p:nvSpPr>
          <p:cNvPr id="22"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reads text in order</a:t>
            </a:r>
            <a:endParaRPr lang="en-US" sz="3000" dirty="0"/>
          </a:p>
        </p:txBody>
      </p:sp>
      <p:pic>
        <p:nvPicPr>
          <p:cNvPr id="3" name="Alignment plot" descr="Tacotron 2 mel spectrogram and attention alignment for a 111-character sentence; the alignment forms a clean diagonal.">    </p:cNvPr>
          <p:cNvPicPr>
            <a:picLocks noChangeAspect="1"/>
          </p:cNvPicPr>
          <p:nvPr/>
        </p:nvPicPr>
        <p:blipFill>
          <a:blip r:embed="rId1"/>
          <a:stretch>
            <a:fillRect/>
          </a:stretch>
        </p:blipFill>
        <p:spPr>
          <a:xfrm>
            <a:off x="457200" y="1005840"/>
            <a:ext cx="5120640" cy="3584448"/>
          </a:xfrm>
          <a:prstGeom prst="rect">
            <a:avLst/>
          </a:prstGeom>
        </p:spPr>
      </p:pic>
      <p:sp>
        <p:nvSpPr>
          <p:cNvPr id="4" name="Monotonic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95–97%</a:t>
            </a:r>
            <a:endParaRPr lang="en-US" sz="4000" dirty="0"/>
          </a:p>
        </p:txBody>
      </p:sp>
      <p:sp>
        <p:nvSpPr>
          <p:cNvPr id="5" name="Monotonic label"/>
          <p:cNvSpPr txBox="1"/>
          <p:nvPr/>
        </p:nvSpPr>
        <p:spPr>
          <a:xfrm>
            <a:off x="5852160" y="1737360"/>
            <a:ext cx="2834640" cy="502920"/>
          </a:xfrm>
          <a:prstGeom prst="rect">
            <a:avLst/>
          </a:prstGeom>
          <a:noFill/>
          <a:ln/>
        </p:spPr>
        <p:txBody>
          <a:bodyPr wrap="square" lIns="0" tIns="0" rIns="0" bIns="0" rtlCol="0" anchor="ctr"/>
          <a:lstStyle/>
          <a:p>
            <a:pPr indent="0" marL="0">
              <a:buNone/>
            </a:pPr>
            <a:r>
              <a:rPr lang="en-US" sz="1300" dirty="0">
                <a:solidFill>
                  <a:schemeClr val="accent6"/>
                </a:solidFill>
              </a:rPr>
              <a:t>of decoder steps never move backwards in the text</a:t>
            </a:r>
            <a:endParaRPr lang="en-US" sz="1300" dirty="0"/>
          </a:p>
        </p:txBody>
      </p:sp>
      <p:sp>
        <p:nvSpPr>
          <p:cNvPr id="6" name="Coverage value"/>
          <p:cNvSpPr txBox="1"/>
          <p:nvPr/>
        </p:nvSpPr>
        <p:spPr>
          <a:xfrm>
            <a:off x="5852160" y="237744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84–88%</a:t>
            </a:r>
            <a:endParaRPr lang="en-US" sz="4000" dirty="0"/>
          </a:p>
        </p:txBody>
      </p:sp>
      <p:sp>
        <p:nvSpPr>
          <p:cNvPr id="7" name="Coverage label"/>
          <p:cNvSpPr txBox="1"/>
          <p:nvPr/>
        </p:nvSpPr>
        <p:spPr>
          <a:xfrm>
            <a:off x="5852160" y="301752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of characters become the main focus (spaces and punctuation are passed quickly)</a:t>
            </a:r>
            <a:endParaRPr lang="en-US" sz="1300" dirty="0"/>
          </a:p>
        </p:txBody>
      </p:sp>
      <p:sp>
        <p:nvSpPr>
          <p:cNvPr id="8" name="Attention takeaway"/>
          <p:cNvSpPr txBox="1"/>
          <p:nvPr/>
        </p:nvSpPr>
        <p:spPr>
          <a:xfrm>
            <a:off x="5852160" y="3749040"/>
            <a:ext cx="2834640" cy="822960"/>
          </a:xfrm>
          <a:prstGeom prst="rect">
            <a:avLst/>
          </a:prstGeom>
          <a:noFill/>
          <a:ln/>
        </p:spPr>
        <p:txBody>
          <a:bodyPr wrap="square" lIns="0" tIns="0" rIns="0" bIns="0" rtlCol="0" anchor="t"/>
          <a:lstStyle/>
          <a:p>
            <a:pPr indent="0" marL="0">
              <a:buNone/>
            </a:pPr>
            <a:r>
              <a:rPr lang="en-US" sz="1400" b="1" dirty="0">
                <a:solidFill>
                  <a:schemeClr val="tx1"/>
                </a:solidFill>
              </a:rPr>
              <a:t>A clean diagonal means no repeated or skipped words, which is exactly what the 2018 model got wrong.</a:t>
            </a:r>
            <a:endParaRPr lang="en-US" sz="1400" dirty="0"/>
          </a:p>
        </p:txBody>
      </p:sp>
      <p:sp>
        <p:nvSpPr>
          <p:cNvPr id="9"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Objective score: mel distance</a:t>
            </a:r>
            <a:endParaRPr lang="en-US" sz="3000" dirty="0"/>
          </a:p>
        </p:txBody>
      </p:sp>
      <p:graphicFrame>
        <p:nvGraphicFramePr>
          <p:cNvPr id="3" name="Mel distance chart"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669280" y="1097280"/>
            <a:ext cx="301752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 lower</a:t>
            </a:r>
            <a:endParaRPr lang="en-US" sz="3600" dirty="0"/>
          </a:p>
        </p:txBody>
      </p:sp>
      <p:sp>
        <p:nvSpPr>
          <p:cNvPr id="5" name="Improvement label"/>
          <p:cNvSpPr txBox="1"/>
          <p:nvPr/>
        </p:nvSpPr>
        <p:spPr>
          <a:xfrm>
            <a:off x="5669280" y="1691640"/>
            <a:ext cx="3017520" cy="320040"/>
          </a:xfrm>
          <a:prstGeom prst="rect">
            <a:avLst/>
          </a:prstGeom>
          <a:noFill/>
          <a:ln/>
        </p:spPr>
        <p:txBody>
          <a:bodyPr wrap="square" lIns="0" tIns="0" rIns="0" bIns="0" rtlCol="0" anchor="ctr"/>
          <a:lstStyle/>
          <a:p>
            <a:pPr indent="0" marL="0">
              <a:buNone/>
            </a:pPr>
            <a:r>
              <a:rPr lang="en-US" sz="1300" dirty="0">
                <a:solidFill>
                  <a:schemeClr val="accent6"/>
                </a:solidFill>
              </a:rPr>
              <a:t>mel L1 distance than our baseline</a:t>
            </a:r>
            <a:endParaRPr lang="en-US" sz="1300" dirty="0"/>
          </a:p>
        </p:txBody>
      </p:sp>
      <p:sp>
        <p:nvSpPr>
          <p:cNvPr id="6" name="Method list"/>
          <p:cNvSpPr txBox="1"/>
          <p:nvPr/>
        </p:nvSpPr>
        <p:spPr>
          <a:xfrm>
            <a:off x="5669280" y="2194560"/>
            <a:ext cx="3017520" cy="1280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20 held-out test clips</a:t>
            </a:r>
            <a:endParaRPr lang="en-US" sz="1300" dirty="0"/>
          </a:p>
          <a:p>
            <a:pPr marL="342900" indent="-342900">
              <a:spcAft>
                <a:spcPts val="400"/>
              </a:spcAft>
              <a:buSzPct val="100000"/>
              <a:buChar char="•"/>
            </a:pPr>
            <a:r>
              <a:rPr lang="en-US" sz="1300" dirty="0">
                <a:solidFill>
                  <a:schemeClr val="tx1"/>
                </a:solidFill>
              </a:rPr>
              <a:t>Generated audio → mel with the same settings</a:t>
            </a:r>
            <a:endParaRPr lang="en-US" sz="1300" dirty="0"/>
          </a:p>
          <a:p>
            <a:pPr marL="342900" indent="-342900">
              <a:spcAft>
                <a:spcPts val="400"/>
              </a:spcAft>
              <a:buSzPct val="100000"/>
              <a:buChar char="•"/>
            </a:pPr>
            <a:r>
              <a:rPr lang="en-US" sz="1300" dirty="0">
                <a:solidFill>
                  <a:schemeClr val="tx1"/>
                </a:solidFill>
              </a:rPr>
              <a:t>DTW lines up the two mels in time before comparing</a:t>
            </a:r>
            <a:endParaRPr lang="en-US" sz="1300" dirty="0"/>
          </a:p>
        </p:txBody>
      </p:sp>
      <p:sp>
        <p:nvSpPr>
          <p:cNvPr id="7" name="Caveat"/>
          <p:cNvSpPr txBox="1"/>
          <p:nvPr/>
        </p:nvSpPr>
        <p:spPr>
          <a:xfrm>
            <a:off x="5669280" y="3566160"/>
            <a:ext cx="3017520" cy="100584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The gap favours it.</a:t>
            </a:r>
            <a:endParaRPr lang="en-US" sz="1200" dirty="0"/>
          </a:p>
        </p:txBody>
      </p:sp>
      <p:sp>
        <p:nvSpPr>
          <p:cNvPr id="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Listening test (MOS)</a:t>
            </a:r>
            <a:endParaRPr lang="en-US" sz="3000" dirty="0"/>
          </a:p>
        </p:txBody>
      </p:sp>
      <p:graphicFrame>
        <p:nvGraphicFramePr>
          <p:cNvPr id="13" name="MOS table"/>
          <p:cNvGraphicFramePr>
            <a:graphicFrameLocks noGrp="1"/>
          </p:cNvGraphicFramePr>
          <p:nvPr>
            <p:extLst>
              <p:ext uri="{D42A27DB-BD31-4B8C-83A1-F6EECF244321}">
                <p14:modId xmlns:p14="http://schemas.microsoft.com/office/powerpoint/2010/main" val="1579011935"/>
              </p:ext>
            </p:extLst>
          </p:nvPr>
        </p:nvGraphicFramePr>
        <p:xfrm>
          <a:off x="457200" y="1051560"/>
          <a:ext cx="4754880" cy="914400"/>
        </p:xfrm>
        <a:graphic>
          <a:graphicData uri="http://schemas.openxmlformats.org/drawingml/2006/table">
            <a:tbl>
              <a:tblPr/>
              <a:tblGrid>
                <a:gridCol w="3291840"/>
                <a:gridCol w="146304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System</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251E5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MOS (1–5)</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251E52"/>
                    </a:solidFill>
                  </a:tcPr>
                </a:tc>
              </a:tr>
              <a:tr h="402336">
                <a:tc>
                  <a:txBody>
                    <a:bodyPr/>
                    <a:lstStyle/>
                    <a:p>
                      <a:pPr indent="0" marL="0">
                        <a:buNone/>
                      </a:pPr>
                      <a:r>
                        <a:rPr lang="en-US" sz="1300" dirty="0">
                          <a:solidFill>
                            <a:srgbClr val="1C1A2E"/>
                          </a:solidFill>
                          <a:latin typeface="Calibri" pitchFamily="34" charset="0"/>
                          <a:ea typeface="Calibri" pitchFamily="34" charset="-122"/>
                          <a:cs typeface="Calibri" pitchFamily="34" charset="-120"/>
                        </a:rPr>
                        <a:t>2018: SVR</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1A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C1A2E"/>
                          </a:solidFill>
                          <a:latin typeface="Calibri" pitchFamily="34" charset="0"/>
                          <a:ea typeface="Calibri" pitchFamily="34" charset="-122"/>
                          <a:cs typeface="Calibri" pitchFamily="34" charset="-120"/>
                        </a:rPr>
                        <a:t>2018: simple NN</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1A2E"/>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C1A2E"/>
                          </a:solidFill>
                          <a:latin typeface="Calibri" pitchFamily="34" charset="0"/>
                          <a:ea typeface="Calibri" pitchFamily="34" charset="-122"/>
                          <a:cs typeface="Calibri" pitchFamily="34" charset="-120"/>
                        </a:rPr>
                        <a:t>2018: seq2seq + attention</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1A2E"/>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C1A2E"/>
                          </a:solidFill>
                          <a:latin typeface="Calibri" pitchFamily="34" charset="0"/>
                          <a:ea typeface="Calibri" pitchFamily="34" charset="-122"/>
                          <a:cs typeface="Calibri" pitchFamily="34" charset="-120"/>
                        </a:rPr>
                        <a:t>Tacotron (Google, reported)</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1A2E"/>
                          </a:solidFill>
                          <a:latin typeface="Calibri" pitchFamily="34" charset="0"/>
                          <a:ea typeface="Calibri" pitchFamily="34" charset="-122"/>
                          <a:cs typeface="Calibri" pitchFamily="34" charset="-120"/>
                        </a:rPr>
                        <a:t>3.82</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5B3FD9"/>
                          </a:solidFill>
                          <a:latin typeface="Calibri" pitchFamily="34" charset="0"/>
                          <a:ea typeface="Calibri" pitchFamily="34" charset="-122"/>
                          <a:cs typeface="Calibri" pitchFamily="34" charset="-120"/>
                        </a:rPr>
                        <a:t>Ours: baseline + Griffin-Lim</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6E6A85"/>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5B3FD9"/>
                          </a:solidFill>
                          <a:latin typeface="Calibri" pitchFamily="34" charset="0"/>
                          <a:ea typeface="Calibri" pitchFamily="34" charset="-122"/>
                          <a:cs typeface="Calibri" pitchFamily="34" charset="-120"/>
                        </a:rPr>
                        <a:t>Ours: Tacotron 2 + HiFi-GAN</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6E6A85"/>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5B3FD9"/>
                          </a:solidFill>
                          <a:latin typeface="Calibri" pitchFamily="34" charset="0"/>
                          <a:ea typeface="Calibri" pitchFamily="34" charset="-122"/>
                          <a:cs typeface="Calibri" pitchFamily="34" charset="-120"/>
                        </a:rPr>
                        <a:t>Real recording</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6E6A85"/>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r>
            </a:tbl>
          </a:graphicData>
        </a:graphic>
      </p:graphicFrame>
      <p:sp>
        <p:nvSpPr>
          <p:cNvPr id="4" name="MOS method heading"/>
          <p:cNvSpPr txBox="1"/>
          <p:nvPr/>
        </p:nvSpPr>
        <p:spPr>
          <a:xfrm>
            <a:off x="5486400" y="1051560"/>
            <a:ext cx="3200400" cy="365760"/>
          </a:xfrm>
          <a:prstGeom prst="rect">
            <a:avLst/>
          </a:prstGeom>
          <a:noFill/>
          <a:ln/>
        </p:spPr>
        <p:txBody>
          <a:bodyPr wrap="square" lIns="0" tIns="0" rIns="0" bIns="0" rtlCol="0" anchor="ctr"/>
          <a:lstStyle/>
          <a:p>
            <a:pPr indent="0" marL="0">
              <a:buNone/>
            </a:pPr>
            <a:r>
              <a:rPr lang="en-US" sz="1800" b="1" dirty="0">
                <a:solidFill>
                  <a:schemeClr val="accent1"/>
                </a:solidFill>
              </a:rPr>
              <a:t>How we run it</a:t>
            </a:r>
            <a:endParaRPr lang="en-US" sz="1800" dirty="0"/>
          </a:p>
        </p:txBody>
      </p:sp>
      <p:sp>
        <p:nvSpPr>
          <p:cNvPr id="5" name="MOS method"/>
          <p:cNvSpPr txBox="1"/>
          <p:nvPr/>
        </p:nvSpPr>
        <p:spPr>
          <a:xfrm>
            <a:off x="5486400" y="1463040"/>
            <a:ext cx="320040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6 held-out sentences × 3 systems = 18 clips</a:t>
            </a:r>
            <a:endParaRPr lang="en-US" sz="1400" dirty="0"/>
          </a:p>
          <a:p>
            <a:pPr marL="342900" indent="-342900">
              <a:spcAft>
                <a:spcPts val="400"/>
              </a:spcAft>
              <a:buSzPct val="100000"/>
              <a:buChar char="•"/>
            </a:pPr>
            <a:r>
              <a:rPr lang="en-US" sz="1400" dirty="0">
                <a:solidFill>
                  <a:schemeClr val="tx1"/>
                </a:solidFill>
              </a:rPr>
              <a:t>Shuffled, unlabelled, loudness-matched</a:t>
            </a:r>
            <a:endParaRPr lang="en-US" sz="1400" dirty="0"/>
          </a:p>
          <a:p>
            <a:pPr marL="342900" indent="-342900">
              <a:spcAft>
                <a:spcPts val="400"/>
              </a:spcAft>
              <a:buSzPct val="100000"/>
              <a:buChar char="•"/>
            </a:pPr>
            <a:r>
              <a:rPr lang="en-US" sz="1400" dirty="0">
                <a:solidFill>
                  <a:schemeClr val="tx1"/>
                </a:solidFill>
              </a:rPr>
              <a:t>Google Form, 10+ listeners, 1–5 scale</a:t>
            </a:r>
            <a:endParaRPr lang="en-US" sz="1400" dirty="0"/>
          </a:p>
          <a:p>
            <a:pPr marL="342900" indent="-342900">
              <a:spcAft>
                <a:spcPts val="400"/>
              </a:spcAft>
              <a:buSzPct val="100000"/>
              <a:buChar char="•"/>
            </a:pPr>
            <a:r>
              <a:rPr lang="en-US" sz="1400" dirty="0">
                <a:solidFill>
                  <a:schemeClr val="tx1"/>
                </a:solidFill>
              </a:rPr>
              <a:t>Same protocol as the 2018 paper</a:t>
            </a:r>
            <a:endParaRPr lang="en-US" sz="1400" dirty="0"/>
          </a:p>
        </p:txBody>
      </p:sp>
      <p:sp>
        <p:nvSpPr>
          <p:cNvPr id="6" name="MOS status"/>
          <p:cNvSpPr txBox="1"/>
          <p:nvPr/>
        </p:nvSpPr>
        <p:spPr>
          <a:xfrm>
            <a:off x="5486400" y="3291840"/>
            <a:ext cx="3200400" cy="1097280"/>
          </a:xfrm>
          <a:prstGeom prst="rect">
            <a:avLst/>
          </a:prstGeom>
          <a:noFill/>
          <a:ln/>
        </p:spPr>
        <p:txBody>
          <a:bodyPr wrap="square" lIns="0" tIns="0" rIns="0" bIns="0" rtlCol="0" anchor="t"/>
          <a:lstStyle/>
          <a:p>
            <a:pPr indent="0" marL="0">
              <a:buNone/>
            </a:pPr>
            <a:r>
              <a:rPr lang="en-US" sz="1300" i="1" dirty="0">
                <a:solidFill>
                  <a:schemeClr val="accent6"/>
                </a:solidFill>
              </a:rPr>
              <a:t>Clips and answer key are generated (eval/mos/). Scores will be filled in from the form responses.</a:t>
            </a:r>
            <a:endParaRPr lang="en-US" sz="1300" dirty="0"/>
          </a:p>
        </p:txBody>
      </p:sp>
      <p:sp>
        <p:nvSpPr>
          <p:cNvPr id="7"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Data and depth matter most</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baseline (~400 clips) has a 37% higher mel distance to real speech than Tacotron 2.</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Alignment is the key</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2's attention forms a clean diagonal (95–97% monotonic), so no repeated words.</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Vocoder sets the sound quality</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On identical mels, HiFi-GAN avoids Griffin-Lim's metallic phase artefacts.</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It runs live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 + HiFi-GAN is faster than real time on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Main models are pretrained, not trained by us</a:t>
            </a:r>
            <a:endParaRPr lang="en-US" sz="1300" dirty="0"/>
          </a:p>
          <a:p>
            <a:pPr marL="342900" indent="-342900">
              <a:spcAft>
                <a:spcPts val="400"/>
              </a:spcAft>
              <a:buSzPct val="100000"/>
              <a:buChar char="•"/>
            </a:pPr>
            <a:r>
              <a:rPr lang="en-US" sz="1300" dirty="0">
                <a:solidFill>
                  <a:schemeClr val="tx1"/>
                </a:solidFill>
              </a:rPr>
              <a:t>Pretrained model may have seen test clips</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Small listening test</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fine-tune Tacotron 2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Who did what</a:t>
            </a:r>
            <a:endParaRPr lang="en-US" sz="3000" dirty="0"/>
          </a:p>
        </p:txBody>
      </p:sp>
      <p:sp>
        <p:nvSpPr>
          <p:cNvPr id="3" name="Member card 1"/>
          <p:cNvSpPr/>
          <p:nvPr/>
        </p:nvSpPr>
        <p:spPr>
          <a:xfrm>
            <a:off x="457200" y="1051560"/>
            <a:ext cx="4023360" cy="3017520"/>
          </a:xfrm>
          <a:prstGeom prst="roundRect">
            <a:avLst>
              <a:gd name="adj" fmla="val 2424"/>
            </a:avLst>
          </a:prstGeom>
          <a:solidFill>
            <a:schemeClr val="bg2"/>
          </a:solidFill>
          <a:ln w="12700">
            <a:solidFill>
              <a:schemeClr val="bg2"/>
            </a:solidFill>
            <a:prstDash val="solid"/>
          </a:ln>
        </p:spPr>
      </p:sp>
      <p:sp>
        <p:nvSpPr>
          <p:cNvPr id="4" name="Member 1 name"/>
          <p:cNvSpPr txBox="1"/>
          <p:nvPr/>
        </p:nvSpPr>
        <p:spPr>
          <a:xfrm>
            <a:off x="68580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Mann Mehta</a:t>
            </a:r>
            <a:endParaRPr lang="en-US" sz="1800" dirty="0"/>
          </a:p>
        </p:txBody>
      </p:sp>
      <p:sp>
        <p:nvSpPr>
          <p:cNvPr id="5" name="Member 1 work"/>
          <p:cNvSpPr txBox="1"/>
          <p:nvPr/>
        </p:nvSpPr>
        <p:spPr>
          <a:xfrm>
            <a:off x="68580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Repo, environment, shared audio settings</a:t>
            </a:r>
            <a:endParaRPr lang="en-US" sz="1400" dirty="0"/>
          </a:p>
          <a:p>
            <a:pPr marL="342900" indent="-342900">
              <a:spcAft>
                <a:spcPts val="300"/>
              </a:spcAft>
              <a:buSzPct val="100000"/>
              <a:buChar char="•"/>
            </a:pPr>
            <a:r>
              <a:rPr lang="en-US" sz="1400" dirty="0">
                <a:solidFill>
                  <a:schemeClr val="tx1"/>
                </a:solidFill>
              </a:rPr>
              <a:t>Tacotron 2 integration</a:t>
            </a:r>
            <a:endParaRPr lang="en-US" sz="1400" dirty="0"/>
          </a:p>
          <a:p>
            <a:pPr marL="342900" indent="-342900">
              <a:spcAft>
                <a:spcPts val="300"/>
              </a:spcAft>
              <a:buSzPct val="100000"/>
              <a:buChar char="•"/>
            </a:pPr>
            <a:r>
              <a:rPr lang="en-US" sz="1400" dirty="0">
                <a:solidFill>
                  <a:schemeClr val="tx1"/>
                </a:solidFill>
              </a:rPr>
              <a:t>Griffin-Lim and HiFi-GAN vocoders</a:t>
            </a:r>
            <a:endParaRPr lang="en-US" sz="1400" dirty="0"/>
          </a:p>
          <a:p>
            <a:pPr marL="342900" indent="-342900">
              <a:spcAft>
                <a:spcPts val="300"/>
              </a:spcAft>
              <a:buSzPct val="100000"/>
              <a:buChar char="•"/>
            </a:pPr>
            <a:r>
              <a:rPr lang="en-US" sz="1400" dirty="0">
                <a:solidFill>
                  <a:schemeClr val="tx1"/>
                </a:solidFill>
              </a:rPr>
              <a:t>Attention plots and alignment stats</a:t>
            </a:r>
            <a:endParaRPr lang="en-US" sz="1400" dirty="0"/>
          </a:p>
          <a:p>
            <a:pPr marL="342900" indent="-342900">
              <a:spcAft>
                <a:spcPts val="300"/>
              </a:spcAft>
              <a:buSzPct val="100000"/>
              <a:buChar char="•"/>
            </a:pPr>
            <a:r>
              <a:rPr lang="en-US" sz="1400" dirty="0">
                <a:solidFill>
                  <a:schemeClr val="tx1"/>
                </a:solidFill>
              </a:rPr>
              <a:t>Fixed comparison samples</a:t>
            </a:r>
            <a:endParaRPr lang="en-US" sz="1400" dirty="0"/>
          </a:p>
          <a:p>
            <a:pPr marL="342900" indent="-342900">
              <a:spcAft>
                <a:spcPts val="300"/>
              </a:spcAft>
              <a:buSzPct val="100000"/>
              <a:buChar char="•"/>
            </a:pPr>
            <a:r>
              <a:rPr lang="en-US" sz="1400" dirty="0">
                <a:solidFill>
                  <a:schemeClr val="tx1"/>
                </a:solidFill>
              </a:rPr>
              <a:t>Inference CLI, Gradio demo, README</a:t>
            </a:r>
            <a:endParaRPr lang="en-US" sz="1400" dirty="0"/>
          </a:p>
        </p:txBody>
      </p:sp>
      <p:sp>
        <p:nvSpPr>
          <p:cNvPr id="6" name="Member 1 files"/>
          <p:cNvSpPr txBox="1"/>
          <p:nvPr/>
        </p:nvSpPr>
        <p:spPr>
          <a:xfrm>
            <a:off x="68580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src/models/tacotron.py, src/vocoder/, src/infer.py, app/</a:t>
            </a:r>
            <a:endParaRPr lang="en-US" sz="1100" dirty="0"/>
          </a:p>
        </p:txBody>
      </p:sp>
      <p:sp>
        <p:nvSpPr>
          <p:cNvPr id="7" name="Member card 2"/>
          <p:cNvSpPr/>
          <p:nvPr/>
        </p:nvSpPr>
        <p:spPr>
          <a:xfrm>
            <a:off x="4663440" y="1051560"/>
            <a:ext cx="4023360" cy="3017520"/>
          </a:xfrm>
          <a:prstGeom prst="roundRect">
            <a:avLst>
              <a:gd name="adj" fmla="val 2424"/>
            </a:avLst>
          </a:prstGeom>
          <a:solidFill>
            <a:schemeClr val="bg2"/>
          </a:solidFill>
          <a:ln w="12700">
            <a:solidFill>
              <a:schemeClr val="bg2"/>
            </a:solidFill>
            <a:prstDash val="solid"/>
          </a:ln>
        </p:spPr>
      </p:sp>
      <p:sp>
        <p:nvSpPr>
          <p:cNvPr id="8" name="Member 2 name"/>
          <p:cNvSpPr txBox="1"/>
          <p:nvPr/>
        </p:nvSpPr>
        <p:spPr>
          <a:xfrm>
            <a:off x="489204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Marapareddy Deekshitha</a:t>
            </a:r>
            <a:endParaRPr lang="en-US" sz="1800" dirty="0"/>
          </a:p>
        </p:txBody>
      </p:sp>
      <p:sp>
        <p:nvSpPr>
          <p:cNvPr id="9" name="Member 2 work"/>
          <p:cNvSpPr txBox="1"/>
          <p:nvPr/>
        </p:nvSpPr>
        <p:spPr>
          <a:xfrm>
            <a:off x="489204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LJ Speech download and subset</a:t>
            </a:r>
            <a:endParaRPr lang="en-US" sz="1400" dirty="0"/>
          </a:p>
          <a:p>
            <a:pPr marL="342900" indent="-342900">
              <a:spcAft>
                <a:spcPts val="300"/>
              </a:spcAft>
              <a:buSzPct val="100000"/>
              <a:buChar char="•"/>
            </a:pPr>
            <a:r>
              <a:rPr lang="en-US" sz="1400" dirty="0">
                <a:solidFill>
                  <a:schemeClr val="tx1"/>
                </a:solidFill>
              </a:rPr>
              <a:t>Text cleaning and fixed vocabulary</a:t>
            </a:r>
            <a:endParaRPr lang="en-US" sz="1400" dirty="0"/>
          </a:p>
          <a:p>
            <a:pPr marL="342900" indent="-342900">
              <a:spcAft>
                <a:spcPts val="300"/>
              </a:spcAft>
              <a:buSzPct val="100000"/>
              <a:buChar char="•"/>
            </a:pPr>
            <a:r>
              <a:rPr lang="en-US" sz="1400" dirty="0">
                <a:solidFill>
                  <a:schemeClr val="tx1"/>
                </a:solidFill>
              </a:rPr>
              <a:t>Mel extraction, splits, sanity check</a:t>
            </a:r>
            <a:endParaRPr lang="en-US" sz="1400" dirty="0"/>
          </a:p>
          <a:p>
            <a:pPr marL="342900" indent="-342900">
              <a:spcAft>
                <a:spcPts val="300"/>
              </a:spcAft>
              <a:buSzPct val="100000"/>
              <a:buChar char="•"/>
            </a:pPr>
            <a:r>
              <a:rPr lang="en-US" sz="1400" dirty="0">
                <a:solidFill>
                  <a:schemeClr val="tx1"/>
                </a:solidFill>
              </a:rPr>
              <a:t>Baseline model and its training</a:t>
            </a:r>
            <a:endParaRPr lang="en-US" sz="1400" dirty="0"/>
          </a:p>
          <a:p>
            <a:pPr marL="342900" indent="-342900">
              <a:spcAft>
                <a:spcPts val="300"/>
              </a:spcAft>
              <a:buSzPct val="100000"/>
              <a:buChar char="•"/>
            </a:pPr>
            <a:r>
              <a:rPr lang="en-US" sz="1400" dirty="0">
                <a:solidFill>
                  <a:schemeClr val="tx1"/>
                </a:solidFill>
              </a:rPr>
              <a:t>Mel-distance evaluation</a:t>
            </a:r>
            <a:endParaRPr lang="en-US" sz="1400" dirty="0"/>
          </a:p>
          <a:p>
            <a:pPr marL="342900" indent="-342900">
              <a:spcAft>
                <a:spcPts val="300"/>
              </a:spcAft>
              <a:buSzPct val="100000"/>
              <a:buChar char="•"/>
            </a:pPr>
            <a:r>
              <a:rPr lang="en-US" sz="1400" dirty="0">
                <a:solidFill>
                  <a:schemeClr val="tx1"/>
                </a:solidFill>
              </a:rPr>
              <a:t>MOS listening-test material</a:t>
            </a:r>
            <a:endParaRPr lang="en-US" sz="1400" dirty="0"/>
          </a:p>
        </p:txBody>
      </p:sp>
      <p:sp>
        <p:nvSpPr>
          <p:cNvPr id="10" name="Member 2 files"/>
          <p:cNvSpPr txBox="1"/>
          <p:nvPr/>
        </p:nvSpPr>
        <p:spPr>
          <a:xfrm>
            <a:off x="489204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src/preprocess/, src/models/baseline.py, eval/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vocoder</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alignment</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2026-10-04T17:54:44Z</dcterms:created>
  <dcterms:modified xsi:type="dcterms:W3CDTF">2026-10-04T17:54:44Z</dcterms:modified>
</cp:coreProperties>
</file>