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e55057d-a18c-7343-0566-d34dc6575825}">
          <p14:sldIdLst>
            <p14:sldId id="256"/>
            <p14:sldId id="257"/>
            <p14:sldId id="258"/>
          </p14:sldIdLst>
        </p14:section>
        <p14:section name="Approach" id="{be3bcc86-bdfb-0bd0-5f7b-f7bcbe1e81e4}">
          <p14:sldIdLst>
            <p14:sldId id="259"/>
            <p14:sldId id="260"/>
            <p14:sldId id="261"/>
            <p14:sldId id="262"/>
            <p14:sldId id="263"/>
          </p14:sldIdLst>
        </p14:section>
        <p14:section name="Results" id="{a672baf8-3528-2090-72d1-1e88e185a60a}">
          <p14:sldIdLst>
            <p14:sldId id="264"/>
            <p14:sldId id="265"/>
            <p14:sldId id="266"/>
            <p14:sldId id="267"/>
          </p14:sldIdLst>
        </p14:section>
        <p14:section name="Wrap-up" id="{17868d99-aba7-0ad2-ef4f-088884d0f572}">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1A2E"/>
                </a:solidFill>
                <a:latin typeface="+mn-lt"/>
              </a:defRPr>
            </a:pPr>
            <a:r>
              <a:rPr sz="1300" b="0" i="0" u="none" strike="noStrike">
                <a:solidFill>
                  <a:srgbClr val="1C1A2E"/>
                </a:solidFill>
                <a:latin typeface="+mn-lt"/>
              </a:rPr>
              <a:t>Their listening scores (MOS, out of 5)</a:t>
            </a:r>
          </a:p>
        </c:rich>
      </c:tx>
      <c:layout/>
      <c:overlay val="0"/>
    </c:title>
    <c:autoTitleDeleted val="0"/>
    <c:plotArea>
      <c:layout/>
      <c:barChart>
        <c:barDir val="col"/>
        <c:grouping val="clustered"/>
        <c:varyColors val="0"/>
        <c:ser>
          <c:idx val="0"/>
          <c:order val="0"/>
          <c:tx>
            <c:strRef>
              <c:f>Sheet1!$B$1</c:f>
              <c:strCache>
                <c:ptCount val="1"/>
                <c:pt idx="0">
                  <c:v>MOS</c:v>
                </c:pt>
              </c:strCache>
            </c:strRef>
          </c:tx>
          <c:spPr>
            <a:solidFill>
              <a:srgbClr val="A8A2C2"/>
            </a:solidFill>
            <a:effectLst/>
          </c:spPr>
          <c:invertIfNegative val="0"/>
          <c:dLbls>
            <c:numFmt formatCode="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dPt>
            <c:idx val="0"/>
            <c:invertIfNegative val="0"/>
            <c:bubble3D val="0"/>
            <c:spPr>
              <a:solidFill>
                <a:srgbClr val="A8A2C2"/>
              </a:solidFill>
              <a:effectLst/>
            </c:spPr>
          </c:dPt>
          <c:dPt>
            <c:idx val="1"/>
            <c:invertIfNegative val="0"/>
            <c:bubble3D val="0"/>
            <c:spPr>
              <a:solidFill>
                <a:srgbClr val="A8A2C2"/>
              </a:solidFill>
              <a:effectLst/>
            </c:spPr>
          </c:dPt>
          <c:dPt>
            <c:idx val="2"/>
            <c:invertIfNegative val="0"/>
            <c:bubble3D val="0"/>
            <c:spPr>
              <a:solidFill>
                <a:srgbClr val="FF6B57"/>
              </a:solidFill>
              <a:effectLst/>
            </c:spPr>
          </c:dPt>
          <c:dPt>
            <c:idx val="3"/>
            <c:invertIfNegative val="0"/>
            <c:bubble3D val="0"/>
            <c:spPr>
              <a:solidFill>
                <a:srgbClr val="6E6A85"/>
              </a:solidFill>
              <a:effectLst/>
            </c:spPr>
          </c:dPt>
          <c:cat>
            <c:multiLvlStrRef>
              <c:f>Sheet1!$A$2:$A$5</c:f>
              <c:multiLvlStrCache>
                <c:ptCount val="4"/>
                <c:lvl>
                  <c:pt idx="0">
                    <c:v>SVR</c:v>
                  </c:pt>
                  <c:pt idx="1">
                    <c:v>Simple NN</c:v>
                  </c:pt>
                  <c:pt idx="2">
                    <c:v>Seq2seq</c:v>
                  </c:pt>
                  <c:pt idx="3">
                    <c:v>Tacotron*</c:v>
                  </c:pt>
                </c:lvl>
              </c:multiLvlStrCache>
            </c:multiLvlStrRef>
          </c:cat>
          <c:val>
            <c:numRef>
              <c:f>Sheet1!$B$2:$B$5</c:f>
              <c:numCache>
                <c:formatCode>General</c:formatCode>
                <c:ptCount val="4"/>
                <c:pt idx="0">
                  <c:v>1</c:v>
                </c:pt>
                <c:pt idx="1">
                  <c:v>1.7</c:v>
                </c:pt>
                <c:pt idx="2">
                  <c:v>2.5</c:v>
                </c:pt>
                <c:pt idx="3">
                  <c:v>3.82</c:v>
                </c:pt>
              </c:numCache>
            </c:numRef>
          </c:val>
        </c:ser>
        <c:dLbls>
          <c:numFmt formatCode="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E6A85"/>
                </a:solidFill>
                <a:latin typeface="+mn-lt"/>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9525" cap="flat">
              <a:solidFill>
                <a:srgbClr val="E6E3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E6A85"/>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1A2E"/>
                </a:solidFill>
                <a:latin typeface="+mn-lt"/>
              </a:defRPr>
            </a:pPr>
            <a:r>
              <a:rPr sz="1300" b="0" i="0" u="none" strike="noStrike">
                <a:solidFill>
                  <a:srgbClr val="1C1A2E"/>
                </a:solidFill>
                <a:latin typeface="+mn-lt"/>
              </a:rPr>
              <a:t>Distance to the real recording (lower is better)</a:t>
            </a:r>
          </a:p>
        </c:rich>
      </c:tx>
      <c:layout/>
      <c:overlay val="0"/>
    </c:title>
    <c:autoTitleDeleted val="0"/>
    <c:plotArea>
      <c:layout/>
      <c:barChart>
        <c:barDir val="col"/>
        <c:grouping val="clustered"/>
        <c:varyColors val="0"/>
        <c:ser>
          <c:idx val="0"/>
          <c:order val="0"/>
          <c:tx>
            <c:strRef>
              <c:f>Sheet1!$B$1</c:f>
              <c:strCache>
                <c:ptCount val="1"/>
                <c:pt idx="0">
                  <c:v>Baseline (ours, from scratch)</c:v>
                </c:pt>
              </c:strCache>
            </c:strRef>
          </c:tx>
          <c:spPr>
            <a:solidFill>
              <a:srgbClr val="FF6B57"/>
            </a:solidFill>
            <a:effectLst/>
          </c:spPr>
          <c:invertIfNegative val="0"/>
          <c:dLbls>
            <c:numFmt formatCode="0.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cat>
            <c:multiLvlStrRef>
              <c:f>Sheet1!$A$2:$A$3</c:f>
              <c:multiLvlStrCache>
                <c:ptCount val="2"/>
                <c:lvl>
                  <c:pt idx="0">
                    <c:v>Mel L1</c:v>
                  </c:pt>
                  <c:pt idx="1">
                    <c:v>Mel RMSE</c:v>
                  </c:pt>
                </c:lvl>
              </c:multiLvlStrCache>
            </c:multiLvlStrRef>
          </c:cat>
          <c:val>
            <c:numRef>
              <c:f>Sheet1!$B$2:$B$3</c:f>
              <c:numCache>
                <c:formatCode>General</c:formatCode>
                <c:ptCount val="2"/>
                <c:pt idx="0">
                  <c:v>1.218</c:v>
                </c:pt>
                <c:pt idx="1">
                  <c:v>1.527</c:v>
                </c:pt>
              </c:numCache>
            </c:numRef>
          </c:val>
        </c:ser>
        <c:ser>
          <c:idx val="1"/>
          <c:order val="1"/>
          <c:tx>
            <c:strRef>
              <c:f>Sheet1!$C$1</c:f>
              <c:strCache>
                <c:ptCount val="1"/>
                <c:pt idx="0">
                  <c:v>Tacotron 2 + HiFi-GAN</c:v>
                </c:pt>
              </c:strCache>
            </c:strRef>
          </c:tx>
          <c:spPr>
            <a:solidFill>
              <a:srgbClr val="5B3FD9"/>
            </a:solidFill>
            <a:effectLst/>
          </c:spPr>
          <c:invertIfNegative val="0"/>
          <c:dLbls>
            <c:numFmt formatCode="0.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cat>
            <c:multiLvlStrRef>
              <c:f>Sheet1!$A$2:$A$3</c:f>
              <c:multiLvlStrCache>
                <c:ptCount val="2"/>
                <c:lvl>
                  <c:pt idx="0">
                    <c:v>Mel L1</c:v>
                  </c:pt>
                  <c:pt idx="1">
                    <c:v>Mel RMSE</c:v>
                  </c:pt>
                </c:lvl>
              </c:multiLvlStrCache>
            </c:multiLvlStrRef>
          </c:cat>
          <c:val>
            <c:numRef>
              <c:f>Sheet1!$C$2:$C$3</c:f>
              <c:numCache>
                <c:formatCode>General</c:formatCode>
                <c:ptCount val="2"/>
                <c:pt idx="0">
                  <c:v>0.889</c:v>
                </c:pt>
                <c:pt idx="1">
                  <c:v>1.192</c:v>
                </c:pt>
              </c:numCache>
            </c:numRef>
          </c:val>
        </c:ser>
        <c:dLbls>
          <c:numFmt formatCode="0.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6E6A85"/>
                </a:solidFill>
                <a:latin typeface="+mn-lt"/>
              </a:defRPr>
            </a:pPr>
            <a:endParaRPr lang="en-US"/>
          </a:p>
        </c:txPr>
        <c:crossAx val="2094734552"/>
        <c:crosses val="autoZero"/>
        <c:auto val="1"/>
        <c:lblAlgn val="ctr"/>
        <c:noMultiLvlLbl val="1"/>
      </c:catAx>
      <c:valAx>
        <c:axId val="2094734552"/>
        <c:scaling>
          <c:orientation val="minMax"/>
          <c:max val="1.8"/>
          <c:min val="0"/>
        </c:scaling>
        <c:delete val="0"/>
        <c:axPos val="l"/>
        <c:majorGridlines>
          <c:spPr>
            <a:ln w="9525" cap="flat">
              <a:solidFill>
                <a:srgbClr val="E6E3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E6A85"/>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1200">
              <a:solidFill>
                <a:srgbClr val="1C1A2E"/>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Our problem statement (number 20) is Colatron, based on a 2018 Stanford CS229 project that tried end-to-end text to speech. We rebuild that pipeline properly and show, with numbers, that it works far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2018 team trained three models on about 200 sentences. Their best, a seq2seq LSTM with attention, scored 2.5 out of 5 from 10 listeners, well below Tacotron's 3.82. Its output repeated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itself lists these reasons. Each one maps to a specific change in our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swappable stages. The acoustic model turns text into a mel spectrogram, a picture of the sound. The vocoder turns that picture into audio. Because both share one mel format, we can swap Tacotron 2 for our baseline, or Griffin-Lim for HiFi-GAN, and compare fairly.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about this. The two heavy neural networks are pretrained. Everything else, including the only model we trained ourselves (the baseline), the vocoder comparison and all the evaluation, is our own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subset is picked by hashing file names, so everyone gets the same clips. The fixed vocabulary fixes the paper's random mapping. The mel settings match the pretrained models, so all systems speak the same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model we train ourselves. The highlighted step is the key weakness: instead of learning which character to read when, it stretches the character features evenly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Tacotron 2 is the architecture the paper wanted but could not train: seq2seq with attention, done properly. We did not train it either; we use a pretrained checkpoint. Our work is wiring it into a shared mel format so vocoders are interchangeable and the attention can be inspected.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samples/main_griffinlim/05.wav then samples/main_hifigan/05.wav here. Same mel, different vocoder: Griffin-Lim guesses the missing phase and sounds metallic, HiFi-GAN learned to generate realistic waveforms.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panel: each column is a moment of speech, the dark line shows which character the model is reading. It climbs steadily from first to last character. The flat steps are pauses at commas. Measured on three test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Mel distance compares each system's output with the real recording of the same sentence. DTW handles different speaking speeds. Mention the caveat yourselves before the panel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samples/baseline/05.wav, then samples/main_hifigan/05.wav. The picture explains the sound: the baseline has no syllable structure at all. With equal time per character, its predictions never line up with real audio, so L1 training pushes it to the average spectrum. That is exactly why attention, or some learned timing,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back to the paper: their conclusion was that they needed more data and deeper models. Our results confirm it from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us explains our own files in the Q&amp;A. The GitHub commit history matches this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the app before the review so models are already loaded. Try one sentence from the panel. If anything fails, play the files in samples/.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rtlCol="0"/>
          <a:lstStyle>
            <a:lvl1pPr algn="l" indent="0" marL="0">
              <a:buNone/>
              <a:defRPr lang="en-US" sz="4800" b="1" dirty="0">
                <a:solidFill>
                  <a:schemeClr val="bg1"/>
                </a:solidFill>
                <a:latin typeface="Arial" pitchFamily="34" charset="0"/>
                <a:ea typeface="Arial" pitchFamily="34" charset="-122"/>
                <a:cs typeface="Arial" pitchFamily="34" charset="-120"/>
              </a:defRPr>
            </a:lvl1pPr>
          </a:lstStyle>
          <a:p>
            <a:pPr algn="l" indent="0" marL="0">
              <a:buNone/>
            </a:pPr>
            <a:endParaRPr lang="en-US" sz="4800" dirty="0"/>
          </a:p>
        </p:txBody>
      </p:sp>
      <p:sp>
        <p:nvSpPr>
          <p:cNvPr id="3" name="Text 0"/>
          <p:cNvSpPr/>
          <p:nvPr>
            <p:ph idx="101" type="body" hasCustomPrompt="1"/>
          </p:nvPr>
        </p:nvSpPr>
        <p:spPr>
          <a:xfrm>
            <a:off x="548640" y="2514600"/>
            <a:ext cx="8046720" cy="54864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000" b="1" dirty="0">
                <a:solidFill>
                  <a:schemeClr val="tx2"/>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6"/>
                </a:solidFill>
              </a:rPr>
              <a:t>Colatron  ·  Team 25  ·  UE24CS352A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lIns="0" tIns="0" rIns="0" bIns="0" rtlCol="0" anchor="b"/>
          <a:lstStyle/>
          <a:p>
            <a:pPr algn="l" indent="0" marL="0">
              <a:buNone/>
            </a:pPr>
            <a:r>
              <a:rPr lang="en-US" sz="4800" b="1" dirty="0">
                <a:solidFill>
                  <a:schemeClr val="bg1"/>
                </a:solidFill>
                <a:latin typeface="Arial" pitchFamily="34" charset="0"/>
                <a:ea typeface="Arial" pitchFamily="34" charset="-122"/>
                <a:cs typeface="Arial" pitchFamily="34" charset="-120"/>
              </a:rPr>
              <a:t>Colatron</a:t>
            </a:r>
            <a:endParaRPr lang="en-US" sz="4800" dirty="0"/>
          </a:p>
        </p:txBody>
      </p:sp>
      <p:sp>
        <p:nvSpPr>
          <p:cNvPr id="3" name="Text 0"/>
          <p:cNvSpPr/>
          <p:nvPr>
            <p:ph idx="101" type="body" hasCustomPrompt="1"/>
          </p:nvPr>
        </p:nvSpPr>
        <p:spPr>
          <a:xfrm>
            <a:off x="548640" y="2514600"/>
            <a:ext cx="8046720" cy="548640"/>
          </a:xfrm>
          <a:prstGeom prst="rect">
            <a:avLst/>
          </a:prstGeom>
          <a:noFill/>
          <a:ln/>
        </p:spPr>
        <p:txBody>
          <a:bodyPr wrap="square" lIns="0" tIns="0" rIns="0" bIns="0" rtlCol="0" anchor="t"/>
          <a:lstStyle/>
          <a:p>
            <a:pPr indent="0" marL="0">
              <a:buNone/>
            </a:pPr>
            <a:r>
              <a:rPr lang="en-US" sz="2000" dirty="0">
                <a:solidFill>
                  <a:schemeClr val="bg2"/>
                </a:solidFill>
              </a:rPr>
              <a:t>End-to-end text-to-speech, rebuilt properly</a:t>
            </a:r>
            <a:endParaRPr lang="en-US" sz="2000" dirty="0"/>
          </a:p>
        </p:txBody>
      </p:sp>
      <p:sp>
        <p:nvSpPr>
          <p:cNvPr id="4" name="Waveform bar 1"/>
          <p:cNvSpPr/>
          <p:nvPr/>
        </p:nvSpPr>
        <p:spPr>
          <a:xfrm>
            <a:off x="548640" y="784098"/>
            <a:ext cx="139148" cy="123444"/>
          </a:xfrm>
          <a:prstGeom prst="roundRect">
            <a:avLst>
              <a:gd name="adj" fmla="val 56361"/>
            </a:avLst>
          </a:prstGeom>
          <a:solidFill>
            <a:srgbClr val="FF6B57"/>
          </a:solidFill>
          <a:ln w="12700">
            <a:solidFill>
              <a:srgbClr val="FF6B57"/>
            </a:solidFill>
            <a:prstDash val="solid"/>
          </a:ln>
        </p:spPr>
      </p:sp>
      <p:sp>
        <p:nvSpPr>
          <p:cNvPr id="5" name="Waveform bar 2"/>
          <p:cNvSpPr/>
          <p:nvPr/>
        </p:nvSpPr>
        <p:spPr>
          <a:xfrm>
            <a:off x="724364" y="747940"/>
            <a:ext cx="139148" cy="195760"/>
          </a:xfrm>
          <a:prstGeom prst="roundRect">
            <a:avLst>
              <a:gd name="adj" fmla="val 50000"/>
            </a:avLst>
          </a:prstGeom>
          <a:solidFill>
            <a:srgbClr val="FF6B57"/>
          </a:solidFill>
          <a:ln w="12700">
            <a:solidFill>
              <a:srgbClr val="FF6B57"/>
            </a:solidFill>
            <a:prstDash val="solid"/>
          </a:ln>
        </p:spPr>
      </p:sp>
      <p:sp>
        <p:nvSpPr>
          <p:cNvPr id="6" name="Waveform bar 3"/>
          <p:cNvSpPr/>
          <p:nvPr/>
        </p:nvSpPr>
        <p:spPr>
          <a:xfrm>
            <a:off x="900088" y="707361"/>
            <a:ext cx="139148" cy="276918"/>
          </a:xfrm>
          <a:prstGeom prst="roundRect">
            <a:avLst>
              <a:gd name="adj" fmla="val 50000"/>
            </a:avLst>
          </a:prstGeom>
          <a:solidFill>
            <a:srgbClr val="FF6B57"/>
          </a:solidFill>
          <a:ln w="12700">
            <a:solidFill>
              <a:srgbClr val="FF6B57"/>
            </a:solidFill>
            <a:prstDash val="solid"/>
          </a:ln>
        </p:spPr>
      </p:sp>
      <p:sp>
        <p:nvSpPr>
          <p:cNvPr id="7" name="Waveform bar 4"/>
          <p:cNvSpPr/>
          <p:nvPr/>
        </p:nvSpPr>
        <p:spPr>
          <a:xfrm>
            <a:off x="1075811" y="665045"/>
            <a:ext cx="139148" cy="361549"/>
          </a:xfrm>
          <a:prstGeom prst="roundRect">
            <a:avLst>
              <a:gd name="adj" fmla="val 50000"/>
            </a:avLst>
          </a:prstGeom>
          <a:solidFill>
            <a:srgbClr val="FF6B57"/>
          </a:solidFill>
          <a:ln w="12700">
            <a:solidFill>
              <a:srgbClr val="FF6B57"/>
            </a:solidFill>
            <a:prstDash val="solid"/>
          </a:ln>
        </p:spPr>
      </p:sp>
      <p:sp>
        <p:nvSpPr>
          <p:cNvPr id="8" name="Waveform bar 5"/>
          <p:cNvSpPr/>
          <p:nvPr/>
        </p:nvSpPr>
        <p:spPr>
          <a:xfrm>
            <a:off x="1251535" y="623959"/>
            <a:ext cx="139148" cy="443721"/>
          </a:xfrm>
          <a:prstGeom prst="roundRect">
            <a:avLst>
              <a:gd name="adj" fmla="val 50000"/>
            </a:avLst>
          </a:prstGeom>
          <a:solidFill>
            <a:srgbClr val="FF6B57"/>
          </a:solidFill>
          <a:ln w="12700">
            <a:solidFill>
              <a:srgbClr val="FF6B57"/>
            </a:solidFill>
            <a:prstDash val="solid"/>
          </a:ln>
        </p:spPr>
      </p:sp>
      <p:sp>
        <p:nvSpPr>
          <p:cNvPr id="9" name="Waveform bar 6"/>
          <p:cNvSpPr/>
          <p:nvPr/>
        </p:nvSpPr>
        <p:spPr>
          <a:xfrm>
            <a:off x="1427259" y="587130"/>
            <a:ext cx="139148" cy="517381"/>
          </a:xfrm>
          <a:prstGeom prst="roundRect">
            <a:avLst>
              <a:gd name="adj" fmla="val 50000"/>
            </a:avLst>
          </a:prstGeom>
          <a:solidFill>
            <a:srgbClr val="FF6B57"/>
          </a:solidFill>
          <a:ln w="12700">
            <a:solidFill>
              <a:srgbClr val="FF6B57"/>
            </a:solidFill>
            <a:prstDash val="solid"/>
          </a:ln>
        </p:spPr>
      </p:sp>
      <p:sp>
        <p:nvSpPr>
          <p:cNvPr id="10" name="Waveform bar 7"/>
          <p:cNvSpPr/>
          <p:nvPr/>
        </p:nvSpPr>
        <p:spPr>
          <a:xfrm>
            <a:off x="1602983" y="557413"/>
            <a:ext cx="139148" cy="576813"/>
          </a:xfrm>
          <a:prstGeom prst="roundRect">
            <a:avLst>
              <a:gd name="adj" fmla="val 50000"/>
            </a:avLst>
          </a:prstGeom>
          <a:solidFill>
            <a:srgbClr val="FF6B57"/>
          </a:solidFill>
          <a:ln w="12700">
            <a:solidFill>
              <a:srgbClr val="FF6B57"/>
            </a:solidFill>
            <a:prstDash val="solid"/>
          </a:ln>
        </p:spPr>
      </p:sp>
      <p:sp>
        <p:nvSpPr>
          <p:cNvPr id="11" name="Waveform bar 8"/>
          <p:cNvSpPr/>
          <p:nvPr/>
        </p:nvSpPr>
        <p:spPr>
          <a:xfrm>
            <a:off x="1778707" y="537279"/>
            <a:ext cx="139148" cy="617082"/>
          </a:xfrm>
          <a:prstGeom prst="roundRect">
            <a:avLst>
              <a:gd name="adj" fmla="val 50000"/>
            </a:avLst>
          </a:prstGeom>
          <a:solidFill>
            <a:srgbClr val="FF6B57"/>
          </a:solidFill>
          <a:ln w="12700">
            <a:solidFill>
              <a:srgbClr val="FF6B57"/>
            </a:solidFill>
            <a:prstDash val="solid"/>
          </a:ln>
        </p:spPr>
      </p:sp>
      <p:sp>
        <p:nvSpPr>
          <p:cNvPr id="12" name="Waveform bar 9"/>
          <p:cNvSpPr/>
          <p:nvPr/>
        </p:nvSpPr>
        <p:spPr>
          <a:xfrm>
            <a:off x="1954431" y="528612"/>
            <a:ext cx="139148" cy="634415"/>
          </a:xfrm>
          <a:prstGeom prst="roundRect">
            <a:avLst>
              <a:gd name="adj" fmla="val 50000"/>
            </a:avLst>
          </a:prstGeom>
          <a:solidFill>
            <a:srgbClr val="FF6B57"/>
          </a:solidFill>
          <a:ln w="12700">
            <a:solidFill>
              <a:srgbClr val="FF6B57"/>
            </a:solidFill>
            <a:prstDash val="solid"/>
          </a:ln>
        </p:spPr>
      </p:sp>
      <p:sp>
        <p:nvSpPr>
          <p:cNvPr id="13" name="Waveform bar 10"/>
          <p:cNvSpPr/>
          <p:nvPr/>
        </p:nvSpPr>
        <p:spPr>
          <a:xfrm>
            <a:off x="2130154" y="532566"/>
            <a:ext cx="139148" cy="626507"/>
          </a:xfrm>
          <a:prstGeom prst="roundRect">
            <a:avLst>
              <a:gd name="adj" fmla="val 50000"/>
            </a:avLst>
          </a:prstGeom>
          <a:solidFill>
            <a:srgbClr val="FF6B57"/>
          </a:solidFill>
          <a:ln w="12700">
            <a:solidFill>
              <a:srgbClr val="FF6B57"/>
            </a:solidFill>
            <a:prstDash val="solid"/>
          </a:ln>
        </p:spPr>
      </p:sp>
      <p:sp>
        <p:nvSpPr>
          <p:cNvPr id="14" name="Waveform bar 11"/>
          <p:cNvSpPr/>
          <p:nvPr/>
        </p:nvSpPr>
        <p:spPr>
          <a:xfrm>
            <a:off x="2305878" y="549463"/>
            <a:ext cx="139148" cy="592714"/>
          </a:xfrm>
          <a:prstGeom prst="roundRect">
            <a:avLst>
              <a:gd name="adj" fmla="val 50000"/>
            </a:avLst>
          </a:prstGeom>
          <a:solidFill>
            <a:srgbClr val="FF6B57"/>
          </a:solidFill>
          <a:ln w="12700">
            <a:solidFill>
              <a:srgbClr val="FF6B57"/>
            </a:solidFill>
            <a:prstDash val="solid"/>
          </a:ln>
        </p:spPr>
      </p:sp>
      <p:sp>
        <p:nvSpPr>
          <p:cNvPr id="15" name="Waveform bar 12"/>
          <p:cNvSpPr/>
          <p:nvPr/>
        </p:nvSpPr>
        <p:spPr>
          <a:xfrm>
            <a:off x="2481602" y="578755"/>
            <a:ext cx="139148" cy="534130"/>
          </a:xfrm>
          <a:prstGeom prst="roundRect">
            <a:avLst>
              <a:gd name="adj" fmla="val 50000"/>
            </a:avLst>
          </a:prstGeom>
          <a:solidFill>
            <a:srgbClr val="FF6B57"/>
          </a:solidFill>
          <a:ln w="12700">
            <a:solidFill>
              <a:srgbClr val="FF6B57"/>
            </a:solidFill>
            <a:prstDash val="solid"/>
          </a:ln>
        </p:spPr>
      </p:sp>
      <p:sp>
        <p:nvSpPr>
          <p:cNvPr id="16" name="Waveform bar 13"/>
          <p:cNvSpPr/>
          <p:nvPr/>
        </p:nvSpPr>
        <p:spPr>
          <a:xfrm>
            <a:off x="2657326" y="619055"/>
            <a:ext cx="139148" cy="453529"/>
          </a:xfrm>
          <a:prstGeom prst="roundRect">
            <a:avLst>
              <a:gd name="adj" fmla="val 50000"/>
            </a:avLst>
          </a:prstGeom>
          <a:solidFill>
            <a:srgbClr val="FF6B57"/>
          </a:solidFill>
          <a:ln w="12700">
            <a:solidFill>
              <a:srgbClr val="FF6B57"/>
            </a:solidFill>
            <a:prstDash val="solid"/>
          </a:ln>
        </p:spPr>
      </p:sp>
      <p:sp>
        <p:nvSpPr>
          <p:cNvPr id="17" name="Waveform bar 14"/>
          <p:cNvSpPr/>
          <p:nvPr/>
        </p:nvSpPr>
        <p:spPr>
          <a:xfrm>
            <a:off x="2833050" y="668226"/>
            <a:ext cx="139148" cy="355189"/>
          </a:xfrm>
          <a:prstGeom prst="roundRect">
            <a:avLst>
              <a:gd name="adj" fmla="val 50000"/>
            </a:avLst>
          </a:prstGeom>
          <a:solidFill>
            <a:srgbClr val="FF6B57"/>
          </a:solidFill>
          <a:ln w="12700">
            <a:solidFill>
              <a:srgbClr val="FF6B57"/>
            </a:solidFill>
            <a:prstDash val="solid"/>
          </a:ln>
        </p:spPr>
      </p:sp>
      <p:sp>
        <p:nvSpPr>
          <p:cNvPr id="18" name="Waveform bar 15"/>
          <p:cNvSpPr/>
          <p:nvPr/>
        </p:nvSpPr>
        <p:spPr>
          <a:xfrm>
            <a:off x="3008774" y="723521"/>
            <a:ext cx="139148" cy="244599"/>
          </a:xfrm>
          <a:prstGeom prst="roundRect">
            <a:avLst>
              <a:gd name="adj" fmla="val 50000"/>
            </a:avLst>
          </a:prstGeom>
          <a:solidFill>
            <a:srgbClr val="FF6B57"/>
          </a:solidFill>
          <a:ln w="12700">
            <a:solidFill>
              <a:srgbClr val="FF6B57"/>
            </a:solidFill>
            <a:prstDash val="solid"/>
          </a:ln>
        </p:spPr>
      </p:sp>
      <p:sp>
        <p:nvSpPr>
          <p:cNvPr id="19" name="Waveform bar 16"/>
          <p:cNvSpPr/>
          <p:nvPr/>
        </p:nvSpPr>
        <p:spPr>
          <a:xfrm>
            <a:off x="3184497" y="781780"/>
            <a:ext cx="139148" cy="128080"/>
          </a:xfrm>
          <a:prstGeom prst="roundRect">
            <a:avLst>
              <a:gd name="adj" fmla="val 54321"/>
            </a:avLst>
          </a:prstGeom>
          <a:solidFill>
            <a:srgbClr val="FF6B57"/>
          </a:solidFill>
          <a:ln w="12700">
            <a:solidFill>
              <a:srgbClr val="FF6B57"/>
            </a:solidFill>
            <a:prstDash val="solid"/>
          </a:ln>
        </p:spPr>
      </p:sp>
      <p:sp>
        <p:nvSpPr>
          <p:cNvPr id="20" name="Waveform bar 17"/>
          <p:cNvSpPr/>
          <p:nvPr/>
        </p:nvSpPr>
        <p:spPr>
          <a:xfrm>
            <a:off x="3360221" y="728546"/>
            <a:ext cx="139148" cy="234547"/>
          </a:xfrm>
          <a:prstGeom prst="roundRect">
            <a:avLst>
              <a:gd name="adj" fmla="val 50000"/>
            </a:avLst>
          </a:prstGeom>
          <a:solidFill>
            <a:srgbClr val="FF6B57"/>
          </a:solidFill>
          <a:ln w="12700">
            <a:solidFill>
              <a:srgbClr val="FF6B57"/>
            </a:solidFill>
            <a:prstDash val="solid"/>
          </a:ln>
        </p:spPr>
      </p:sp>
      <p:sp>
        <p:nvSpPr>
          <p:cNvPr id="21" name="Waveform bar 18"/>
          <p:cNvSpPr/>
          <p:nvPr/>
        </p:nvSpPr>
        <p:spPr>
          <a:xfrm>
            <a:off x="3535945" y="674381"/>
            <a:ext cx="139148" cy="342879"/>
          </a:xfrm>
          <a:prstGeom prst="roundRect">
            <a:avLst>
              <a:gd name="adj" fmla="val 50000"/>
            </a:avLst>
          </a:prstGeom>
          <a:solidFill>
            <a:srgbClr val="FF6B57"/>
          </a:solidFill>
          <a:ln w="12700">
            <a:solidFill>
              <a:srgbClr val="FF6B57"/>
            </a:solidFill>
            <a:prstDash val="solid"/>
          </a:ln>
        </p:spPr>
      </p:sp>
      <p:sp>
        <p:nvSpPr>
          <p:cNvPr id="22" name="Waveform bar 19"/>
          <p:cNvSpPr/>
          <p:nvPr/>
        </p:nvSpPr>
        <p:spPr>
          <a:xfrm>
            <a:off x="3711669" y="626959"/>
            <a:ext cx="139148" cy="437721"/>
          </a:xfrm>
          <a:prstGeom prst="roundRect">
            <a:avLst>
              <a:gd name="adj" fmla="val 50000"/>
            </a:avLst>
          </a:prstGeom>
          <a:solidFill>
            <a:srgbClr val="FF6B57"/>
          </a:solidFill>
          <a:ln w="12700">
            <a:solidFill>
              <a:srgbClr val="FF6B57"/>
            </a:solidFill>
            <a:prstDash val="solid"/>
          </a:ln>
        </p:spPr>
      </p:sp>
      <p:sp>
        <p:nvSpPr>
          <p:cNvPr id="23" name="Waveform bar 20"/>
          <p:cNvSpPr/>
          <p:nvPr/>
        </p:nvSpPr>
        <p:spPr>
          <a:xfrm>
            <a:off x="3887393" y="588839"/>
            <a:ext cx="139148" cy="513962"/>
          </a:xfrm>
          <a:prstGeom prst="roundRect">
            <a:avLst>
              <a:gd name="adj" fmla="val 50000"/>
            </a:avLst>
          </a:prstGeom>
          <a:solidFill>
            <a:srgbClr val="FF6B57"/>
          </a:solidFill>
          <a:ln w="12700">
            <a:solidFill>
              <a:srgbClr val="FF6B57"/>
            </a:solidFill>
            <a:prstDash val="solid"/>
          </a:ln>
        </p:spPr>
      </p:sp>
      <p:sp>
        <p:nvSpPr>
          <p:cNvPr id="24" name="Waveform bar 21"/>
          <p:cNvSpPr/>
          <p:nvPr/>
        </p:nvSpPr>
        <p:spPr>
          <a:xfrm>
            <a:off x="4063117" y="561916"/>
            <a:ext cx="139148" cy="567809"/>
          </a:xfrm>
          <a:prstGeom prst="roundRect">
            <a:avLst>
              <a:gd name="adj" fmla="val 50000"/>
            </a:avLst>
          </a:prstGeom>
          <a:solidFill>
            <a:srgbClr val="FF6B57"/>
          </a:solidFill>
          <a:ln w="12700">
            <a:solidFill>
              <a:srgbClr val="FF6B57"/>
            </a:solidFill>
            <a:prstDash val="solid"/>
          </a:ln>
        </p:spPr>
      </p:sp>
      <p:sp>
        <p:nvSpPr>
          <p:cNvPr id="25" name="Waveform bar 22"/>
          <p:cNvSpPr/>
          <p:nvPr/>
        </p:nvSpPr>
        <p:spPr>
          <a:xfrm>
            <a:off x="4238840" y="547302"/>
            <a:ext cx="139148" cy="597036"/>
          </a:xfrm>
          <a:prstGeom prst="roundRect">
            <a:avLst>
              <a:gd name="adj" fmla="val 50000"/>
            </a:avLst>
          </a:prstGeom>
          <a:solidFill>
            <a:srgbClr val="FF6B57"/>
          </a:solidFill>
          <a:ln w="12700">
            <a:solidFill>
              <a:srgbClr val="FF6B57"/>
            </a:solidFill>
            <a:prstDash val="solid"/>
          </a:ln>
        </p:spPr>
      </p:sp>
      <p:sp>
        <p:nvSpPr>
          <p:cNvPr id="26" name="Waveform bar 23"/>
          <p:cNvSpPr/>
          <p:nvPr/>
        </p:nvSpPr>
        <p:spPr>
          <a:xfrm>
            <a:off x="4414564" y="545259"/>
            <a:ext cx="139148" cy="601121"/>
          </a:xfrm>
          <a:prstGeom prst="roundRect">
            <a:avLst>
              <a:gd name="adj" fmla="val 50000"/>
            </a:avLst>
          </a:prstGeom>
          <a:solidFill>
            <a:srgbClr val="FF6B57"/>
          </a:solidFill>
          <a:ln w="12700">
            <a:solidFill>
              <a:srgbClr val="FF6B57"/>
            </a:solidFill>
            <a:prstDash val="solid"/>
          </a:ln>
        </p:spPr>
      </p:sp>
      <p:sp>
        <p:nvSpPr>
          <p:cNvPr id="27" name="Waveform bar 24"/>
          <p:cNvSpPr/>
          <p:nvPr/>
        </p:nvSpPr>
        <p:spPr>
          <a:xfrm>
            <a:off x="4590288" y="555194"/>
            <a:ext cx="139148" cy="581253"/>
          </a:xfrm>
          <a:prstGeom prst="roundRect">
            <a:avLst>
              <a:gd name="adj" fmla="val 50000"/>
            </a:avLst>
          </a:prstGeom>
          <a:solidFill>
            <a:srgbClr val="FF6B57"/>
          </a:solidFill>
          <a:ln w="12700">
            <a:solidFill>
              <a:srgbClr val="FF6B57"/>
            </a:solidFill>
            <a:prstDash val="solid"/>
          </a:ln>
        </p:spPr>
      </p:sp>
      <p:sp>
        <p:nvSpPr>
          <p:cNvPr id="28" name="Waveform bar 25"/>
          <p:cNvSpPr/>
          <p:nvPr/>
        </p:nvSpPr>
        <p:spPr>
          <a:xfrm>
            <a:off x="4766012" y="575717"/>
            <a:ext cx="139148" cy="540206"/>
          </a:xfrm>
          <a:prstGeom prst="roundRect">
            <a:avLst>
              <a:gd name="adj" fmla="val 50000"/>
            </a:avLst>
          </a:prstGeom>
          <a:solidFill>
            <a:srgbClr val="FF6B57"/>
          </a:solidFill>
          <a:ln w="12700">
            <a:solidFill>
              <a:srgbClr val="FF6B57"/>
            </a:solidFill>
            <a:prstDash val="solid"/>
          </a:ln>
        </p:spPr>
      </p:sp>
      <p:sp>
        <p:nvSpPr>
          <p:cNvPr id="29" name="Waveform bar 26"/>
          <p:cNvSpPr/>
          <p:nvPr/>
        </p:nvSpPr>
        <p:spPr>
          <a:xfrm>
            <a:off x="4941736" y="604766"/>
            <a:ext cx="139148" cy="482108"/>
          </a:xfrm>
          <a:prstGeom prst="roundRect">
            <a:avLst>
              <a:gd name="adj" fmla="val 50000"/>
            </a:avLst>
          </a:prstGeom>
          <a:solidFill>
            <a:srgbClr val="FF6B57"/>
          </a:solidFill>
          <a:ln w="12700">
            <a:solidFill>
              <a:srgbClr val="FF6B57"/>
            </a:solidFill>
            <a:prstDash val="solid"/>
          </a:ln>
        </p:spPr>
      </p:sp>
      <p:sp>
        <p:nvSpPr>
          <p:cNvPr id="30" name="Waveform bar 27"/>
          <p:cNvSpPr/>
          <p:nvPr/>
        </p:nvSpPr>
        <p:spPr>
          <a:xfrm>
            <a:off x="5117459" y="639770"/>
            <a:ext cx="139148" cy="412101"/>
          </a:xfrm>
          <a:prstGeom prst="roundRect">
            <a:avLst>
              <a:gd name="adj" fmla="val 50000"/>
            </a:avLst>
          </a:prstGeom>
          <a:solidFill>
            <a:srgbClr val="FF6B57"/>
          </a:solidFill>
          <a:ln w="12700">
            <a:solidFill>
              <a:srgbClr val="FF6B57"/>
            </a:solidFill>
            <a:prstDash val="solid"/>
          </a:ln>
        </p:spPr>
      </p:sp>
      <p:sp>
        <p:nvSpPr>
          <p:cNvPr id="31" name="Waveform bar 28"/>
          <p:cNvSpPr/>
          <p:nvPr/>
        </p:nvSpPr>
        <p:spPr>
          <a:xfrm>
            <a:off x="5293183" y="677852"/>
            <a:ext cx="139148" cy="335935"/>
          </a:xfrm>
          <a:prstGeom prst="roundRect">
            <a:avLst>
              <a:gd name="adj" fmla="val 50000"/>
            </a:avLst>
          </a:prstGeom>
          <a:solidFill>
            <a:srgbClr val="FF6B57"/>
          </a:solidFill>
          <a:ln w="12700">
            <a:solidFill>
              <a:srgbClr val="FF6B57"/>
            </a:solidFill>
            <a:prstDash val="solid"/>
          </a:ln>
        </p:spPr>
      </p:sp>
      <p:sp>
        <p:nvSpPr>
          <p:cNvPr id="32" name="Waveform bar 29"/>
          <p:cNvSpPr/>
          <p:nvPr/>
        </p:nvSpPr>
        <p:spPr>
          <a:xfrm>
            <a:off x="5468907" y="716059"/>
            <a:ext cx="139148" cy="259522"/>
          </a:xfrm>
          <a:prstGeom prst="roundRect">
            <a:avLst>
              <a:gd name="adj" fmla="val 50000"/>
            </a:avLst>
          </a:prstGeom>
          <a:solidFill>
            <a:srgbClr val="FF6B57"/>
          </a:solidFill>
          <a:ln w="12700">
            <a:solidFill>
              <a:srgbClr val="FF6B57"/>
            </a:solidFill>
            <a:prstDash val="solid"/>
          </a:ln>
        </p:spPr>
      </p:sp>
      <p:sp>
        <p:nvSpPr>
          <p:cNvPr id="33" name="Waveform bar 30"/>
          <p:cNvSpPr/>
          <p:nvPr/>
        </p:nvSpPr>
        <p:spPr>
          <a:xfrm>
            <a:off x="5644631" y="751582"/>
            <a:ext cx="139148" cy="188476"/>
          </a:xfrm>
          <a:prstGeom prst="roundRect">
            <a:avLst>
              <a:gd name="adj" fmla="val 50000"/>
            </a:avLst>
          </a:prstGeom>
          <a:solidFill>
            <a:srgbClr val="FF6B57"/>
          </a:solidFill>
          <a:ln w="12700">
            <a:solidFill>
              <a:srgbClr val="FF6B57"/>
            </a:solidFill>
            <a:prstDash val="solid"/>
          </a:ln>
        </p:spPr>
      </p:sp>
      <p:sp>
        <p:nvSpPr>
          <p:cNvPr id="34" name="Waveform bar 31"/>
          <p:cNvSpPr/>
          <p:nvPr/>
        </p:nvSpPr>
        <p:spPr>
          <a:xfrm>
            <a:off x="5820355" y="781974"/>
            <a:ext cx="139148" cy="127692"/>
          </a:xfrm>
          <a:prstGeom prst="roundRect">
            <a:avLst>
              <a:gd name="adj" fmla="val 54486"/>
            </a:avLst>
          </a:prstGeom>
          <a:solidFill>
            <a:srgbClr val="FF6B57"/>
          </a:solidFill>
          <a:ln w="12700">
            <a:solidFill>
              <a:srgbClr val="FF6B57"/>
            </a:solidFill>
            <a:prstDash val="solid"/>
          </a:ln>
        </p:spPr>
      </p:sp>
      <p:sp>
        <p:nvSpPr>
          <p:cNvPr id="35" name="Waveform bar 32"/>
          <p:cNvSpPr/>
          <p:nvPr/>
        </p:nvSpPr>
        <p:spPr>
          <a:xfrm>
            <a:off x="5996079" y="762865"/>
            <a:ext cx="139148" cy="165909"/>
          </a:xfrm>
          <a:prstGeom prst="roundRect">
            <a:avLst>
              <a:gd name="adj" fmla="val 50000"/>
            </a:avLst>
          </a:prstGeom>
          <a:solidFill>
            <a:srgbClr val="FF6B57"/>
          </a:solidFill>
          <a:ln w="12700">
            <a:solidFill>
              <a:srgbClr val="FF6B57"/>
            </a:solidFill>
            <a:prstDash val="solid"/>
          </a:ln>
        </p:spPr>
      </p:sp>
      <p:sp>
        <p:nvSpPr>
          <p:cNvPr id="36" name="Waveform bar 33"/>
          <p:cNvSpPr/>
          <p:nvPr/>
        </p:nvSpPr>
        <p:spPr>
          <a:xfrm>
            <a:off x="6171802" y="747769"/>
            <a:ext cx="139148" cy="196102"/>
          </a:xfrm>
          <a:prstGeom prst="roundRect">
            <a:avLst>
              <a:gd name="adj" fmla="val 50000"/>
            </a:avLst>
          </a:prstGeom>
          <a:solidFill>
            <a:srgbClr val="FF6B57"/>
          </a:solidFill>
          <a:ln w="12700">
            <a:solidFill>
              <a:srgbClr val="FF6B57"/>
            </a:solidFill>
            <a:prstDash val="solid"/>
          </a:ln>
        </p:spPr>
      </p:sp>
      <p:sp>
        <p:nvSpPr>
          <p:cNvPr id="37" name="Waveform bar 34"/>
          <p:cNvSpPr/>
          <p:nvPr/>
        </p:nvSpPr>
        <p:spPr>
          <a:xfrm>
            <a:off x="6347526" y="741395"/>
            <a:ext cx="139148" cy="208850"/>
          </a:xfrm>
          <a:prstGeom prst="roundRect">
            <a:avLst>
              <a:gd name="adj" fmla="val 50000"/>
            </a:avLst>
          </a:prstGeom>
          <a:solidFill>
            <a:srgbClr val="FF6B57"/>
          </a:solidFill>
          <a:ln w="12700">
            <a:solidFill>
              <a:srgbClr val="FF6B57"/>
            </a:solidFill>
            <a:prstDash val="solid"/>
          </a:ln>
        </p:spPr>
      </p:sp>
      <p:sp>
        <p:nvSpPr>
          <p:cNvPr id="38" name="Waveform bar 35"/>
          <p:cNvSpPr/>
          <p:nvPr/>
        </p:nvSpPr>
        <p:spPr>
          <a:xfrm>
            <a:off x="6523250" y="743419"/>
            <a:ext cx="139148" cy="204803"/>
          </a:xfrm>
          <a:prstGeom prst="roundRect">
            <a:avLst>
              <a:gd name="adj" fmla="val 50000"/>
            </a:avLst>
          </a:prstGeom>
          <a:solidFill>
            <a:srgbClr val="FF6B57"/>
          </a:solidFill>
          <a:ln w="12700">
            <a:solidFill>
              <a:srgbClr val="FF6B57"/>
            </a:solidFill>
            <a:prstDash val="solid"/>
          </a:ln>
        </p:spPr>
      </p:sp>
      <p:sp>
        <p:nvSpPr>
          <p:cNvPr id="39" name="Waveform bar 36"/>
          <p:cNvSpPr/>
          <p:nvPr/>
        </p:nvSpPr>
        <p:spPr>
          <a:xfrm>
            <a:off x="6698974" y="752773"/>
            <a:ext cx="139148" cy="186093"/>
          </a:xfrm>
          <a:prstGeom prst="roundRect">
            <a:avLst>
              <a:gd name="adj" fmla="val 50000"/>
            </a:avLst>
          </a:prstGeom>
          <a:solidFill>
            <a:srgbClr val="FF6B57"/>
          </a:solidFill>
          <a:ln w="12700">
            <a:solidFill>
              <a:srgbClr val="FF6B57"/>
            </a:solidFill>
            <a:prstDash val="solid"/>
          </a:ln>
        </p:spPr>
      </p:sp>
      <p:sp>
        <p:nvSpPr>
          <p:cNvPr id="40" name="Waveform bar 37"/>
          <p:cNvSpPr/>
          <p:nvPr/>
        </p:nvSpPr>
        <p:spPr>
          <a:xfrm>
            <a:off x="6874698" y="767747"/>
            <a:ext cx="139148" cy="156146"/>
          </a:xfrm>
          <a:prstGeom prst="roundRect">
            <a:avLst>
              <a:gd name="adj" fmla="val 50000"/>
            </a:avLst>
          </a:prstGeom>
          <a:solidFill>
            <a:srgbClr val="FF6B57"/>
          </a:solidFill>
          <a:ln w="12700">
            <a:solidFill>
              <a:srgbClr val="FF6B57"/>
            </a:solidFill>
            <a:prstDash val="solid"/>
          </a:ln>
        </p:spPr>
      </p:sp>
      <p:sp>
        <p:nvSpPr>
          <p:cNvPr id="41" name="Waveform bar 38"/>
          <p:cNvSpPr/>
          <p:nvPr/>
        </p:nvSpPr>
        <p:spPr>
          <a:xfrm>
            <a:off x="7050422" y="782063"/>
            <a:ext cx="139148" cy="127515"/>
          </a:xfrm>
          <a:prstGeom prst="roundRect">
            <a:avLst>
              <a:gd name="adj" fmla="val 54561"/>
            </a:avLst>
          </a:prstGeom>
          <a:solidFill>
            <a:srgbClr val="FF6B57"/>
          </a:solidFill>
          <a:ln w="12700">
            <a:solidFill>
              <a:srgbClr val="FF6B57"/>
            </a:solidFill>
            <a:prstDash val="solid"/>
          </a:ln>
        </p:spPr>
      </p:sp>
      <p:sp>
        <p:nvSpPr>
          <p:cNvPr id="42" name="Waveform bar 39"/>
          <p:cNvSpPr/>
          <p:nvPr/>
        </p:nvSpPr>
        <p:spPr>
          <a:xfrm>
            <a:off x="7226145" y="762772"/>
            <a:ext cx="139148" cy="166096"/>
          </a:xfrm>
          <a:prstGeom prst="roundRect">
            <a:avLst>
              <a:gd name="adj" fmla="val 50000"/>
            </a:avLst>
          </a:prstGeom>
          <a:solidFill>
            <a:srgbClr val="FF6B57"/>
          </a:solidFill>
          <a:ln w="12700">
            <a:solidFill>
              <a:srgbClr val="FF6B57"/>
            </a:solidFill>
            <a:prstDash val="solid"/>
          </a:ln>
        </p:spPr>
      </p:sp>
      <p:sp>
        <p:nvSpPr>
          <p:cNvPr id="43" name="Waveform bar 40"/>
          <p:cNvSpPr/>
          <p:nvPr/>
        </p:nvSpPr>
        <p:spPr>
          <a:xfrm>
            <a:off x="7401869" y="745178"/>
            <a:ext cx="139148" cy="201284"/>
          </a:xfrm>
          <a:prstGeom prst="roundRect">
            <a:avLst>
              <a:gd name="adj" fmla="val 50000"/>
            </a:avLst>
          </a:prstGeom>
          <a:solidFill>
            <a:srgbClr val="FF6B57"/>
          </a:solidFill>
          <a:ln w="12700">
            <a:solidFill>
              <a:srgbClr val="FF6B57"/>
            </a:solidFill>
            <a:prstDash val="solid"/>
          </a:ln>
        </p:spPr>
      </p:sp>
      <p:sp>
        <p:nvSpPr>
          <p:cNvPr id="44" name="Waveform bar 41"/>
          <p:cNvSpPr/>
          <p:nvPr/>
        </p:nvSpPr>
        <p:spPr>
          <a:xfrm>
            <a:off x="7577593" y="731748"/>
            <a:ext cx="139148" cy="228144"/>
          </a:xfrm>
          <a:prstGeom prst="roundRect">
            <a:avLst>
              <a:gd name="adj" fmla="val 50000"/>
            </a:avLst>
          </a:prstGeom>
          <a:solidFill>
            <a:srgbClr val="FF6B57"/>
          </a:solidFill>
          <a:ln w="12700">
            <a:solidFill>
              <a:srgbClr val="FF6B57"/>
            </a:solidFill>
            <a:prstDash val="solid"/>
          </a:ln>
        </p:spPr>
      </p:sp>
      <p:sp>
        <p:nvSpPr>
          <p:cNvPr id="45" name="Waveform bar 42"/>
          <p:cNvSpPr/>
          <p:nvPr/>
        </p:nvSpPr>
        <p:spPr>
          <a:xfrm>
            <a:off x="7753317" y="724609"/>
            <a:ext cx="139148" cy="242422"/>
          </a:xfrm>
          <a:prstGeom prst="roundRect">
            <a:avLst>
              <a:gd name="adj" fmla="val 50000"/>
            </a:avLst>
          </a:prstGeom>
          <a:solidFill>
            <a:srgbClr val="FF6B57"/>
          </a:solidFill>
          <a:ln w="12700">
            <a:solidFill>
              <a:srgbClr val="FF6B57"/>
            </a:solidFill>
            <a:prstDash val="solid"/>
          </a:ln>
        </p:spPr>
      </p:sp>
      <p:sp>
        <p:nvSpPr>
          <p:cNvPr id="46" name="Waveform bar 43"/>
          <p:cNvSpPr/>
          <p:nvPr/>
        </p:nvSpPr>
        <p:spPr>
          <a:xfrm>
            <a:off x="7929041" y="725359"/>
            <a:ext cx="139148" cy="240921"/>
          </a:xfrm>
          <a:prstGeom prst="roundRect">
            <a:avLst>
              <a:gd name="adj" fmla="val 50000"/>
            </a:avLst>
          </a:prstGeom>
          <a:solidFill>
            <a:srgbClr val="FF6B57"/>
          </a:solidFill>
          <a:ln w="12700">
            <a:solidFill>
              <a:srgbClr val="FF6B57"/>
            </a:solidFill>
            <a:prstDash val="solid"/>
          </a:ln>
        </p:spPr>
      </p:sp>
      <p:sp>
        <p:nvSpPr>
          <p:cNvPr id="47" name="Waveform bar 44"/>
          <p:cNvSpPr/>
          <p:nvPr/>
        </p:nvSpPr>
        <p:spPr>
          <a:xfrm>
            <a:off x="8104765" y="734928"/>
            <a:ext cx="139148" cy="221783"/>
          </a:xfrm>
          <a:prstGeom prst="roundRect">
            <a:avLst>
              <a:gd name="adj" fmla="val 50000"/>
            </a:avLst>
          </a:prstGeom>
          <a:solidFill>
            <a:srgbClr val="FF6B57"/>
          </a:solidFill>
          <a:ln w="12700">
            <a:solidFill>
              <a:srgbClr val="FF6B57"/>
            </a:solidFill>
            <a:prstDash val="solid"/>
          </a:ln>
        </p:spPr>
      </p:sp>
      <p:sp>
        <p:nvSpPr>
          <p:cNvPr id="48" name="Waveform bar 45"/>
          <p:cNvSpPr/>
          <p:nvPr/>
        </p:nvSpPr>
        <p:spPr>
          <a:xfrm>
            <a:off x="8280488" y="753485"/>
            <a:ext cx="139148" cy="184670"/>
          </a:xfrm>
          <a:prstGeom prst="roundRect">
            <a:avLst>
              <a:gd name="adj" fmla="val 50000"/>
            </a:avLst>
          </a:prstGeom>
          <a:solidFill>
            <a:srgbClr val="FF6B57"/>
          </a:solidFill>
          <a:ln w="12700">
            <a:solidFill>
              <a:srgbClr val="FF6B57"/>
            </a:solidFill>
            <a:prstDash val="solid"/>
          </a:ln>
        </p:spPr>
      </p:sp>
      <p:sp>
        <p:nvSpPr>
          <p:cNvPr id="49" name="Waveform bar 46"/>
          <p:cNvSpPr/>
          <p:nvPr/>
        </p:nvSpPr>
        <p:spPr>
          <a:xfrm>
            <a:off x="8456212" y="780407"/>
            <a:ext cx="139148" cy="130826"/>
          </a:xfrm>
          <a:prstGeom prst="roundRect">
            <a:avLst>
              <a:gd name="adj" fmla="val 53180"/>
            </a:avLst>
          </a:prstGeom>
          <a:solidFill>
            <a:srgbClr val="FF6B57"/>
          </a:solidFill>
          <a:ln w="12700">
            <a:solidFill>
              <a:srgbClr val="FF6B57"/>
            </a:solidFill>
            <a:prstDash val="solid"/>
          </a:ln>
        </p:spPr>
      </p:sp>
      <p:sp>
        <p:nvSpPr>
          <p:cNvPr id="50" name="Team names"/>
          <p:cNvSpPr txBox="1"/>
          <p:nvPr/>
        </p:nvSpPr>
        <p:spPr>
          <a:xfrm>
            <a:off x="548640" y="3429000"/>
            <a:ext cx="5486400" cy="640080"/>
          </a:xfrm>
          <a:prstGeom prst="rect">
            <a:avLst/>
          </a:prstGeom>
          <a:noFill/>
          <a:ln/>
        </p:spPr>
        <p:txBody>
          <a:bodyPr wrap="square" lIns="0" tIns="0" rIns="0" bIns="0" rtlCol="0" anchor="ctr"/>
          <a:lstStyle/>
          <a:p>
            <a:pPr indent="0" marL="0">
              <a:buNone/>
            </a:pPr>
            <a:r>
              <a:rPr lang="en-US" sz="1600" dirty="0">
                <a:solidFill>
                  <a:schemeClr val="bg1"/>
                </a:solidFill>
              </a:rPr>
              <a:t>Mann Mehta  (PES2UG24CS266)</a:t>
            </a:r>
            <a:endParaRPr lang="en-US" sz="1600" dirty="0"/>
          </a:p>
          <a:p>
            <a:pPr indent="0" marL="0">
              <a:buNone/>
            </a:pPr>
            <a:r>
              <a:rPr lang="en-US" sz="1600" dirty="0">
                <a:solidFill>
                  <a:schemeClr val="bg1"/>
                </a:solidFill>
              </a:rPr>
              <a:t>Marapareddy Deekshitha  (PES2UG24CS268)</a:t>
            </a:r>
            <a:endParaRPr lang="en-US" sz="1600" dirty="0"/>
          </a:p>
        </p:txBody>
      </p:sp>
      <p:sp>
        <p:nvSpPr>
          <p:cNvPr id="51" name="Course line"/>
          <p:cNvSpPr txBox="1"/>
          <p:nvPr/>
        </p:nvSpPr>
        <p:spPr>
          <a:xfrm>
            <a:off x="548640" y="4343400"/>
            <a:ext cx="8046720" cy="320040"/>
          </a:xfrm>
          <a:prstGeom prst="rect">
            <a:avLst/>
          </a:prstGeom>
          <a:noFill/>
          <a:ln/>
        </p:spPr>
        <p:txBody>
          <a:bodyPr wrap="square" lIns="0" tIns="0" rIns="0" bIns="0" rtlCol="0" anchor="ctr"/>
          <a:lstStyle/>
          <a:p>
            <a:pPr indent="0" marL="0">
              <a:buNone/>
            </a:pPr>
            <a:r>
              <a:rPr lang="en-US" sz="1200" dirty="0">
                <a:solidFill>
                  <a:schemeClr val="accent3"/>
                </a:solidFill>
              </a:rPr>
              <a:t>UE24CS352A Machine Learning  ·  Team 25  ·  Problem 20  ·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The 2018 Stanford attempt</a:t>
            </a:r>
            <a:endParaRPr lang="en-US" sz="3000" dirty="0"/>
          </a:p>
        </p:txBody>
      </p:sp>
      <p:sp>
        <p:nvSpPr>
          <p:cNvPr id="3" name="What they did"/>
          <p:cNvSpPr txBox="1"/>
          <p:nvPr/>
        </p:nvSpPr>
        <p:spPr>
          <a:xfrm>
            <a:off x="457200" y="1188720"/>
            <a:ext cx="3931920" cy="26517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Text in, speech out, trained on LJ Speech</a:t>
            </a:r>
            <a:endParaRPr lang="en-US" sz="1600" dirty="0"/>
          </a:p>
          <a:p>
            <a:pPr marL="342900" indent="-342900">
              <a:spcAft>
                <a:spcPts val="800"/>
              </a:spcAft>
              <a:buSzPct val="100000"/>
              <a:buChar char="•"/>
            </a:pPr>
            <a:r>
              <a:rPr lang="en-US" sz="1600" dirty="0">
                <a:solidFill>
                  <a:schemeClr val="tx1"/>
                </a:solidFill>
              </a:rPr>
              <a:t>Only about 200 sentences used for training</a:t>
            </a:r>
            <a:endParaRPr lang="en-US" sz="1600" dirty="0"/>
          </a:p>
          <a:p>
            <a:pPr marL="342900" indent="-342900">
              <a:spcAft>
                <a:spcPts val="800"/>
              </a:spcAft>
              <a:buSzPct val="100000"/>
              <a:buChar char="•"/>
            </a:pPr>
            <a:r>
              <a:rPr lang="en-US" sz="1600" dirty="0">
                <a:solidFill>
                  <a:schemeClr val="tx1"/>
                </a:solidFill>
              </a:rPr>
              <a:t>Words randomly mapped to phonemes or letters</a:t>
            </a:r>
            <a:endParaRPr lang="en-US" sz="1600" dirty="0"/>
          </a:p>
          <a:p>
            <a:pPr marL="342900" indent="-342900">
              <a:spcAft>
                <a:spcPts val="800"/>
              </a:spcAft>
              <a:buSzPct val="100000"/>
              <a:buChar char="•"/>
            </a:pPr>
            <a:r>
              <a:rPr lang="en-US" sz="1600" dirty="0">
                <a:solidFill>
                  <a:schemeClr val="tx1"/>
                </a:solidFill>
              </a:rPr>
              <a:t>Three models: SVR, a 4-layer neural net, seq2seq LSTM with attention</a:t>
            </a:r>
            <a:endParaRPr lang="en-US" sz="1600" dirty="0"/>
          </a:p>
          <a:p>
            <a:pPr marL="342900" indent="-342900">
              <a:spcAft>
                <a:spcPts val="800"/>
              </a:spcAft>
              <a:buSzPct val="100000"/>
              <a:buChar char="•"/>
            </a:pPr>
            <a:r>
              <a:rPr lang="en-US" sz="1600" dirty="0">
                <a:solidFill>
                  <a:schemeClr val="tx1"/>
                </a:solidFill>
              </a:rPr>
              <a:t>Inverse STFT to turn spectrograms into audio</a:t>
            </a:r>
            <a:endParaRPr lang="en-US" sz="1600" dirty="0"/>
          </a:p>
        </p:txBody>
      </p:sp>
      <p:sp>
        <p:nvSpPr>
          <p:cNvPr id="4" name="MOS explainer"/>
          <p:cNvSpPr txBox="1"/>
          <p:nvPr/>
        </p:nvSpPr>
        <p:spPr>
          <a:xfrm>
            <a:off x="457200" y="3977640"/>
            <a:ext cx="3931920" cy="548640"/>
          </a:xfrm>
          <a:prstGeom prst="rect">
            <a:avLst/>
          </a:prstGeom>
          <a:noFill/>
          <a:ln/>
        </p:spPr>
        <p:txBody>
          <a:bodyPr wrap="square" lIns="0" tIns="0" rIns="0" bIns="0" rtlCol="0" anchor="ctr"/>
          <a:lstStyle/>
          <a:p>
            <a:pPr indent="0" marL="0">
              <a:buNone/>
            </a:pPr>
            <a:r>
              <a:rPr lang="en-US" sz="1200" i="1" dirty="0">
                <a:solidFill>
                  <a:schemeClr val="accent6"/>
                </a:solidFill>
              </a:rPr>
              <a:t>MOS = mean opinion score: listeners rate each clip from 1 (bad) to 5 (excellent).</a:t>
            </a:r>
            <a:endParaRPr lang="en-US" sz="1200" dirty="0"/>
          </a:p>
        </p:txBody>
      </p:sp>
      <p:graphicFrame>
        <p:nvGraphicFramePr>
          <p:cNvPr id="5" name="Paper MOS chart" descr=""/>
          <p:cNvGraphicFramePr/>
          <p:nvPr/>
        </p:nvGraphicFramePr>
        <p:xfrm>
          <a:off x="4663440" y="1051560"/>
          <a:ext cx="4023360" cy="3429000"/>
        </p:xfrm>
        <a:graphic xmlns:a="http://schemas.openxmlformats.org/drawingml/2006/main">
          <a:graphicData uri="http://schemas.openxmlformats.org/drawingml/2006/chart">
            <c:chart xmlns:c="http://schemas.openxmlformats.org/drawingml/2006/chart" r:id="rId1"/>
          </a:graphicData>
        </a:graphic>
      </p:graphicFrame>
      <p:sp>
        <p:nvSpPr>
          <p:cNvPr id="6" name="Chart footnote"/>
          <p:cNvSpPr txBox="1"/>
          <p:nvPr/>
        </p:nvSpPr>
        <p:spPr>
          <a:xfrm>
            <a:off x="4663440" y="4480560"/>
            <a:ext cx="4023360" cy="228600"/>
          </a:xfrm>
          <a:prstGeom prst="rect">
            <a:avLst/>
          </a:prstGeom>
          <a:noFill/>
          <a:ln/>
        </p:spPr>
        <p:txBody>
          <a:bodyPr wrap="square" lIns="0" tIns="0" rIns="0" bIns="0" rtlCol="0" anchor="ctr"/>
          <a:lstStyle/>
          <a:p>
            <a:pPr indent="0" marL="0">
              <a:buNone/>
            </a:pPr>
            <a:r>
              <a:rPr lang="en-US" sz="1000" dirty="0">
                <a:solidFill>
                  <a:schemeClr val="accent6"/>
                </a:solidFill>
              </a:rPr>
              <a:t>*Tacotron score as reported by Google, for reference</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Why it failed, and our fix</a:t>
            </a:r>
            <a:endParaRPr lang="en-US" sz="3000" dirty="0"/>
          </a:p>
        </p:txBody>
      </p:sp>
      <p:sp>
        <p:nvSpPr>
          <p:cNvPr id="3" name="Cause card 1"/>
          <p:cNvSpPr/>
          <p:nvPr/>
        </p:nvSpPr>
        <p:spPr>
          <a:xfrm>
            <a:off x="457200" y="1143000"/>
            <a:ext cx="4023360" cy="1600200"/>
          </a:xfrm>
          <a:prstGeom prst="roundRect">
            <a:avLst>
              <a:gd name="adj" fmla="val 4571"/>
            </a:avLst>
          </a:prstGeom>
          <a:solidFill>
            <a:schemeClr val="bg2"/>
          </a:solidFill>
          <a:ln w="12700">
            <a:solidFill>
              <a:schemeClr val="bg2"/>
            </a:solidFill>
            <a:prstDash val="solid"/>
          </a:ln>
        </p:spPr>
      </p:sp>
      <p:sp>
        <p:nvSpPr>
          <p:cNvPr id="4" name="Cause 1 circle"/>
          <p:cNvSpPr/>
          <p:nvPr/>
        </p:nvSpPr>
        <p:spPr>
          <a:xfrm>
            <a:off x="640080" y="1325880"/>
            <a:ext cx="384048" cy="384048"/>
          </a:xfrm>
          <a:prstGeom prst="ellipse">
            <a:avLst/>
          </a:prstGeom>
          <a:solidFill>
            <a:schemeClr val="accent2"/>
          </a:solidFill>
          <a:ln w="12700">
            <a:solidFill>
              <a:schemeClr val="accent2"/>
            </a:solidFill>
            <a:prstDash val="solid"/>
          </a:ln>
        </p:spPr>
      </p:sp>
      <p:sp>
        <p:nvSpPr>
          <p:cNvPr id="5" name="Cause 1 label"/>
          <p:cNvSpPr txBox="1"/>
          <p:nvPr/>
        </p:nvSpPr>
        <p:spPr>
          <a:xfrm>
            <a:off x="640080" y="13258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Cause 1 title"/>
          <p:cNvSpPr txBox="1"/>
          <p:nvPr/>
        </p:nvSpPr>
        <p:spPr>
          <a:xfrm>
            <a:off x="1143000" y="132588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Tiny data</a:t>
            </a:r>
            <a:endParaRPr lang="en-US" sz="1600" dirty="0"/>
          </a:p>
        </p:txBody>
      </p:sp>
      <p:sp>
        <p:nvSpPr>
          <p:cNvPr id="7" name="Cause 1 problem"/>
          <p:cNvSpPr txBox="1"/>
          <p:nvPr/>
        </p:nvSpPr>
        <p:spPr>
          <a:xfrm>
            <a:off x="640080" y="1801368"/>
            <a:ext cx="3657600" cy="411480"/>
          </a:xfrm>
          <a:prstGeom prst="rect">
            <a:avLst/>
          </a:prstGeom>
          <a:noFill/>
          <a:ln/>
        </p:spPr>
        <p:txBody>
          <a:bodyPr wrap="square" lIns="0" tIns="0" rIns="0" bIns="0" rtlCol="0" anchor="t"/>
          <a:lstStyle/>
          <a:p>
            <a:pPr indent="0" marL="0">
              <a:buNone/>
            </a:pPr>
            <a:r>
              <a:rPr lang="en-US" sz="1200" dirty="0">
                <a:solidFill>
                  <a:schemeClr val="accent6"/>
                </a:solidFill>
              </a:rPr>
              <a:t>200 sentences, versus 13,100 clips for a real TTS model</a:t>
            </a:r>
            <a:endParaRPr lang="en-US" sz="1200" dirty="0"/>
          </a:p>
        </p:txBody>
      </p:sp>
      <p:sp>
        <p:nvSpPr>
          <p:cNvPr id="8" name="Cause 1 fix"/>
          <p:cNvSpPr txBox="1"/>
          <p:nvPr/>
        </p:nvSpPr>
        <p:spPr>
          <a:xfrm>
            <a:off x="640080" y="2240280"/>
            <a:ext cx="3657600" cy="411480"/>
          </a:xfrm>
          <a:prstGeom prst="rect">
            <a:avLst/>
          </a:prstGeom>
          <a:noFill/>
          <a:ln/>
        </p:spPr>
        <p:txBody>
          <a:bodyPr wrap="square" lIns="0" tIns="0" rIns="0" bIns="0" rtlCol="0" anchor="t"/>
          <a:lstStyle/>
          <a:p>
            <a:pPr indent="0" marL="0">
              <a:buNone/>
            </a:pPr>
            <a:r>
              <a:rPr lang="en-US" sz="1300" b="1" dirty="0">
                <a:solidFill>
                  <a:schemeClr val="accent1"/>
                </a:solidFill>
              </a:rPr>
              <a:t>Our fix: </a:t>
            </a:r>
            <a:pPr indent="0" marL="0">
              <a:buNone/>
            </a:pPr>
            <a:r>
              <a:rPr lang="en-US" sz="1300" dirty="0">
                <a:solidFill>
                  <a:schemeClr val="tx1"/>
                </a:solidFill>
              </a:rPr>
              <a:t>Use a Tacotron 2 trained on all of LJ Speech</a:t>
            </a:r>
            <a:endParaRPr lang="en-US" sz="1300" dirty="0"/>
          </a:p>
        </p:txBody>
      </p:sp>
      <p:sp>
        <p:nvSpPr>
          <p:cNvPr id="9" name="Cause card 2"/>
          <p:cNvSpPr/>
          <p:nvPr/>
        </p:nvSpPr>
        <p:spPr>
          <a:xfrm>
            <a:off x="4663440" y="1143000"/>
            <a:ext cx="4023360" cy="1600200"/>
          </a:xfrm>
          <a:prstGeom prst="roundRect">
            <a:avLst>
              <a:gd name="adj" fmla="val 4571"/>
            </a:avLst>
          </a:prstGeom>
          <a:solidFill>
            <a:schemeClr val="bg2"/>
          </a:solidFill>
          <a:ln w="12700">
            <a:solidFill>
              <a:schemeClr val="bg2"/>
            </a:solidFill>
            <a:prstDash val="solid"/>
          </a:ln>
        </p:spPr>
      </p:sp>
      <p:sp>
        <p:nvSpPr>
          <p:cNvPr id="10" name="Cause 2 circle"/>
          <p:cNvSpPr/>
          <p:nvPr/>
        </p:nvSpPr>
        <p:spPr>
          <a:xfrm>
            <a:off x="4846320" y="1325880"/>
            <a:ext cx="384048" cy="384048"/>
          </a:xfrm>
          <a:prstGeom prst="ellipse">
            <a:avLst/>
          </a:prstGeom>
          <a:solidFill>
            <a:schemeClr val="accent2"/>
          </a:solidFill>
          <a:ln w="12700">
            <a:solidFill>
              <a:schemeClr val="accent2"/>
            </a:solidFill>
            <a:prstDash val="solid"/>
          </a:ln>
        </p:spPr>
      </p:sp>
      <p:sp>
        <p:nvSpPr>
          <p:cNvPr id="11" name="Cause 2 label"/>
          <p:cNvSpPr txBox="1"/>
          <p:nvPr/>
        </p:nvSpPr>
        <p:spPr>
          <a:xfrm>
            <a:off x="4846320" y="13258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ause 2 title"/>
          <p:cNvSpPr txBox="1"/>
          <p:nvPr/>
        </p:nvSpPr>
        <p:spPr>
          <a:xfrm>
            <a:off x="5349240" y="132588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Shallow models</a:t>
            </a:r>
            <a:endParaRPr lang="en-US" sz="1600" dirty="0"/>
          </a:p>
        </p:txBody>
      </p:sp>
      <p:sp>
        <p:nvSpPr>
          <p:cNvPr id="13" name="Cause 2 problem"/>
          <p:cNvSpPr txBox="1"/>
          <p:nvPr/>
        </p:nvSpPr>
        <p:spPr>
          <a:xfrm>
            <a:off x="4846320" y="1801368"/>
            <a:ext cx="3657600" cy="411480"/>
          </a:xfrm>
          <a:prstGeom prst="rect">
            <a:avLst/>
          </a:prstGeom>
          <a:noFill/>
          <a:ln/>
        </p:spPr>
        <p:txBody>
          <a:bodyPr wrap="square" lIns="0" tIns="0" rIns="0" bIns="0" rtlCol="0" anchor="t"/>
          <a:lstStyle/>
          <a:p>
            <a:pPr indent="0" marL="0">
              <a:buNone/>
            </a:pPr>
            <a:r>
              <a:rPr lang="en-US" sz="1200" dirty="0">
                <a:solidFill>
                  <a:schemeClr val="accent6"/>
                </a:solidFill>
              </a:rPr>
              <a:t>SVR and a 4-layer net cannot map text to a large spectrogram</a:t>
            </a:r>
            <a:endParaRPr lang="en-US" sz="1200" dirty="0"/>
          </a:p>
        </p:txBody>
      </p:sp>
      <p:sp>
        <p:nvSpPr>
          <p:cNvPr id="14" name="Cause 2 fix"/>
          <p:cNvSpPr txBox="1"/>
          <p:nvPr/>
        </p:nvSpPr>
        <p:spPr>
          <a:xfrm>
            <a:off x="4846320" y="2240280"/>
            <a:ext cx="3657600" cy="411480"/>
          </a:xfrm>
          <a:prstGeom prst="rect">
            <a:avLst/>
          </a:prstGeom>
          <a:noFill/>
          <a:ln/>
        </p:spPr>
        <p:txBody>
          <a:bodyPr wrap="square" lIns="0" tIns="0" rIns="0" bIns="0" rtlCol="0" anchor="t"/>
          <a:lstStyle/>
          <a:p>
            <a:pPr indent="0" marL="0">
              <a:buNone/>
            </a:pPr>
            <a:r>
              <a:rPr lang="en-US" sz="1300" b="1" dirty="0">
                <a:solidFill>
                  <a:schemeClr val="accent1"/>
                </a:solidFill>
              </a:rPr>
              <a:t>Our fix: </a:t>
            </a:r>
            <a:pPr indent="0" marL="0">
              <a:buNone/>
            </a:pPr>
            <a:r>
              <a:rPr lang="en-US" sz="1300" dirty="0">
                <a:solidFill>
                  <a:schemeClr val="tx1"/>
                </a:solidFill>
              </a:rPr>
              <a:t>Deep encoder, attention decoder and post-net</a:t>
            </a:r>
            <a:endParaRPr lang="en-US" sz="1300" dirty="0"/>
          </a:p>
        </p:txBody>
      </p:sp>
      <p:sp>
        <p:nvSpPr>
          <p:cNvPr id="15" name="Cause card 3"/>
          <p:cNvSpPr/>
          <p:nvPr/>
        </p:nvSpPr>
        <p:spPr>
          <a:xfrm>
            <a:off x="457200" y="2926080"/>
            <a:ext cx="4023360" cy="1600200"/>
          </a:xfrm>
          <a:prstGeom prst="roundRect">
            <a:avLst>
              <a:gd name="adj" fmla="val 4571"/>
            </a:avLst>
          </a:prstGeom>
          <a:solidFill>
            <a:schemeClr val="bg2"/>
          </a:solidFill>
          <a:ln w="12700">
            <a:solidFill>
              <a:schemeClr val="bg2"/>
            </a:solidFill>
            <a:prstDash val="solid"/>
          </a:ln>
        </p:spPr>
      </p:sp>
      <p:sp>
        <p:nvSpPr>
          <p:cNvPr id="16" name="Cause 3 circle"/>
          <p:cNvSpPr/>
          <p:nvPr/>
        </p:nvSpPr>
        <p:spPr>
          <a:xfrm>
            <a:off x="640080" y="3108960"/>
            <a:ext cx="384048" cy="384048"/>
          </a:xfrm>
          <a:prstGeom prst="ellipse">
            <a:avLst/>
          </a:prstGeom>
          <a:solidFill>
            <a:schemeClr val="accent2"/>
          </a:solidFill>
          <a:ln w="12700">
            <a:solidFill>
              <a:schemeClr val="accent2"/>
            </a:solidFill>
            <a:prstDash val="solid"/>
          </a:ln>
        </p:spPr>
      </p:sp>
      <p:sp>
        <p:nvSpPr>
          <p:cNvPr id="17" name="Cause 3 label"/>
          <p:cNvSpPr txBox="1"/>
          <p:nvPr/>
        </p:nvSpPr>
        <p:spPr>
          <a:xfrm>
            <a:off x="640080" y="31089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Cause 3 title"/>
          <p:cNvSpPr txBox="1"/>
          <p:nvPr/>
        </p:nvSpPr>
        <p:spPr>
          <a:xfrm>
            <a:off x="1143000" y="310896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Random text mapping</a:t>
            </a:r>
            <a:endParaRPr lang="en-US" sz="1600" dirty="0"/>
          </a:p>
        </p:txBody>
      </p:sp>
      <p:sp>
        <p:nvSpPr>
          <p:cNvPr id="19" name="Cause 3 problem"/>
          <p:cNvSpPr txBox="1"/>
          <p:nvPr/>
        </p:nvSpPr>
        <p:spPr>
          <a:xfrm>
            <a:off x="640080" y="3584448"/>
            <a:ext cx="3657600" cy="411480"/>
          </a:xfrm>
          <a:prstGeom prst="rect">
            <a:avLst/>
          </a:prstGeom>
          <a:noFill/>
          <a:ln/>
        </p:spPr>
        <p:txBody>
          <a:bodyPr wrap="square" lIns="0" tIns="0" rIns="0" bIns="0" rtlCol="0" anchor="t"/>
          <a:lstStyle/>
          <a:p>
            <a:pPr indent="0" marL="0">
              <a:buNone/>
            </a:pPr>
            <a:r>
              <a:rPr lang="en-US" sz="1200" dirty="0">
                <a:solidFill>
                  <a:schemeClr val="accent6"/>
                </a:solidFill>
              </a:rPr>
              <a:t>The same word got different inputs each run, and nothing could be cached</a:t>
            </a:r>
            <a:endParaRPr lang="en-US" sz="1200" dirty="0"/>
          </a:p>
        </p:txBody>
      </p:sp>
      <p:sp>
        <p:nvSpPr>
          <p:cNvPr id="20" name="Cause 3 fix"/>
          <p:cNvSpPr txBox="1"/>
          <p:nvPr/>
        </p:nvSpPr>
        <p:spPr>
          <a:xfrm>
            <a:off x="640080" y="4023360"/>
            <a:ext cx="3657600" cy="411480"/>
          </a:xfrm>
          <a:prstGeom prst="rect">
            <a:avLst/>
          </a:prstGeom>
          <a:noFill/>
          <a:ln/>
        </p:spPr>
        <p:txBody>
          <a:bodyPr wrap="square" lIns="0" tIns="0" rIns="0" bIns="0" rtlCol="0" anchor="t"/>
          <a:lstStyle/>
          <a:p>
            <a:pPr indent="0" marL="0">
              <a:buNone/>
            </a:pPr>
            <a:r>
              <a:rPr lang="en-US" sz="1300" b="1" dirty="0">
                <a:solidFill>
                  <a:schemeClr val="accent1"/>
                </a:solidFill>
              </a:rPr>
              <a:t>Our fix: </a:t>
            </a:r>
            <a:pPr indent="0" marL="0">
              <a:buNone/>
            </a:pPr>
            <a:r>
              <a:rPr lang="en-US" sz="1300" dirty="0">
                <a:solidFill>
                  <a:schemeClr val="tx1"/>
                </a:solidFill>
              </a:rPr>
              <a:t>Text cleaning plus a fixed character vocabulary</a:t>
            </a:r>
            <a:endParaRPr lang="en-US" sz="1300" dirty="0"/>
          </a:p>
        </p:txBody>
      </p:sp>
      <p:sp>
        <p:nvSpPr>
          <p:cNvPr id="21" name="Cause card 4"/>
          <p:cNvSpPr/>
          <p:nvPr/>
        </p:nvSpPr>
        <p:spPr>
          <a:xfrm>
            <a:off x="4663440" y="2926080"/>
            <a:ext cx="4023360" cy="1600200"/>
          </a:xfrm>
          <a:prstGeom prst="roundRect">
            <a:avLst>
              <a:gd name="adj" fmla="val 4571"/>
            </a:avLst>
          </a:prstGeom>
          <a:solidFill>
            <a:schemeClr val="bg2"/>
          </a:solidFill>
          <a:ln w="12700">
            <a:solidFill>
              <a:schemeClr val="bg2"/>
            </a:solidFill>
            <a:prstDash val="solid"/>
          </a:ln>
        </p:spPr>
      </p:sp>
      <p:sp>
        <p:nvSpPr>
          <p:cNvPr id="22" name="Cause 4 circle"/>
          <p:cNvSpPr/>
          <p:nvPr/>
        </p:nvSpPr>
        <p:spPr>
          <a:xfrm>
            <a:off x="4846320" y="3108960"/>
            <a:ext cx="384048" cy="384048"/>
          </a:xfrm>
          <a:prstGeom prst="ellipse">
            <a:avLst/>
          </a:prstGeom>
          <a:solidFill>
            <a:schemeClr val="accent2"/>
          </a:solidFill>
          <a:ln w="12700">
            <a:solidFill>
              <a:schemeClr val="accent2"/>
            </a:solidFill>
            <a:prstDash val="solid"/>
          </a:ln>
        </p:spPr>
      </p:sp>
      <p:sp>
        <p:nvSpPr>
          <p:cNvPr id="23" name="Cause 4 label"/>
          <p:cNvSpPr txBox="1"/>
          <p:nvPr/>
        </p:nvSpPr>
        <p:spPr>
          <a:xfrm>
            <a:off x="4846320" y="31089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Cause 4 title"/>
          <p:cNvSpPr txBox="1"/>
          <p:nvPr/>
        </p:nvSpPr>
        <p:spPr>
          <a:xfrm>
            <a:off x="5349240" y="310896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Attention never aligned</a:t>
            </a:r>
            <a:endParaRPr lang="en-US" sz="1600" dirty="0"/>
          </a:p>
        </p:txBody>
      </p:sp>
      <p:sp>
        <p:nvSpPr>
          <p:cNvPr id="25" name="Cause 4 problem"/>
          <p:cNvSpPr txBox="1"/>
          <p:nvPr/>
        </p:nvSpPr>
        <p:spPr>
          <a:xfrm>
            <a:off x="4846320" y="3584448"/>
            <a:ext cx="3657600" cy="411480"/>
          </a:xfrm>
          <a:prstGeom prst="rect">
            <a:avLst/>
          </a:prstGeom>
          <a:noFill/>
          <a:ln/>
        </p:spPr>
        <p:txBody>
          <a:bodyPr wrap="square" lIns="0" tIns="0" rIns="0" bIns="0" rtlCol="0" anchor="t"/>
          <a:lstStyle/>
          <a:p>
            <a:pPr indent="0" marL="0">
              <a:buNone/>
            </a:pPr>
            <a:r>
              <a:rPr lang="en-US" sz="1200" dirty="0">
                <a:solidFill>
                  <a:schemeClr val="accent6"/>
                </a:solidFill>
              </a:rPr>
              <a:t>The decoder lost its place, so words repeated</a:t>
            </a:r>
            <a:endParaRPr lang="en-US" sz="1200" dirty="0"/>
          </a:p>
        </p:txBody>
      </p:sp>
      <p:sp>
        <p:nvSpPr>
          <p:cNvPr id="26" name="Cause 4 fix"/>
          <p:cNvSpPr txBox="1"/>
          <p:nvPr/>
        </p:nvSpPr>
        <p:spPr>
          <a:xfrm>
            <a:off x="4846320" y="4023360"/>
            <a:ext cx="3657600" cy="411480"/>
          </a:xfrm>
          <a:prstGeom prst="rect">
            <a:avLst/>
          </a:prstGeom>
          <a:noFill/>
          <a:ln/>
        </p:spPr>
        <p:txBody>
          <a:bodyPr wrap="square" lIns="0" tIns="0" rIns="0" bIns="0" rtlCol="0" anchor="t"/>
          <a:lstStyle/>
          <a:p>
            <a:pPr indent="0" marL="0">
              <a:buNone/>
            </a:pPr>
            <a:r>
              <a:rPr lang="en-US" sz="1300" b="1" dirty="0">
                <a:solidFill>
                  <a:schemeClr val="accent1"/>
                </a:solidFill>
              </a:rPr>
              <a:t>Our fix: </a:t>
            </a:r>
            <a:pPr indent="0" marL="0">
              <a:buNone/>
            </a:pPr>
            <a:r>
              <a:rPr lang="en-US" sz="1300" dirty="0">
                <a:solidFill>
                  <a:schemeClr val="tx1"/>
                </a:solidFill>
              </a:rPr>
              <a:t>Location-sensitive attention; we measure the alignment</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Our pipeline</a:t>
            </a:r>
            <a:endParaRPr lang="en-US" sz="3000" dirty="0"/>
          </a:p>
        </p:txBody>
      </p:sp>
      <p:sp>
        <p:nvSpPr>
          <p:cNvPr id="3" name="Stage 1"/>
          <p:cNvSpPr/>
          <p:nvPr/>
        </p:nvSpPr>
        <p:spPr>
          <a:xfrm>
            <a:off x="457200" y="1463040"/>
            <a:ext cx="1234440" cy="914400"/>
          </a:xfrm>
          <a:prstGeom prst="roundRect">
            <a:avLst>
              <a:gd name="adj" fmla="val 8000"/>
            </a:avLst>
          </a:prstGeom>
          <a:solidFill>
            <a:schemeClr val="bg1"/>
          </a:solidFill>
          <a:ln w="15875">
            <a:solidFill>
              <a:srgbClr val="A8A2C2"/>
            </a:solidFill>
            <a:prstDash val="solid"/>
          </a:ln>
        </p:spPr>
      </p:sp>
      <p:sp>
        <p:nvSpPr>
          <p:cNvPr id="4" name="Stage 1 name"/>
          <p:cNvSpPr txBox="1"/>
          <p:nvPr/>
        </p:nvSpPr>
        <p:spPr>
          <a:xfrm>
            <a:off x="457200" y="1463040"/>
            <a:ext cx="1234440" cy="914400"/>
          </a:xfrm>
          <a:prstGeom prst="rect">
            <a:avLst/>
          </a:prstGeom>
          <a:noFill/>
          <a:ln/>
        </p:spPr>
        <p:txBody>
          <a:bodyPr wrap="square" lIns="0" tIns="0" rIns="0" bIns="0" rtlCol="0" anchor="ctr"/>
          <a:lstStyle/>
          <a:p>
            <a:pPr algn="ctr" indent="0" marL="0">
              <a:buNone/>
            </a:pPr>
            <a:r>
              <a:rPr lang="en-US" sz="1400" b="1" dirty="0">
                <a:solidFill>
                  <a:schemeClr val="tx1"/>
                </a:solidFill>
              </a:rPr>
              <a:t>Text</a:t>
            </a:r>
            <a:endParaRPr lang="en-US" sz="1400" dirty="0"/>
          </a:p>
        </p:txBody>
      </p:sp>
      <p:sp>
        <p:nvSpPr>
          <p:cNvPr id="5" name="Stage 1 detail"/>
          <p:cNvSpPr txBox="1"/>
          <p:nvPr/>
        </p:nvSpPr>
        <p:spPr>
          <a:xfrm>
            <a:off x="457200"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typed sentence</a:t>
            </a:r>
            <a:endParaRPr lang="en-US" sz="1100" dirty="0"/>
          </a:p>
        </p:txBody>
      </p:sp>
      <p:sp>
        <p:nvSpPr>
          <p:cNvPr id="6" name="Arrow 1"/>
          <p:cNvSpPr/>
          <p:nvPr/>
        </p:nvSpPr>
        <p:spPr>
          <a:xfrm>
            <a:off x="1728216" y="1810512"/>
            <a:ext cx="91440" cy="219456"/>
          </a:xfrm>
          <a:prstGeom prst="chevron">
            <a:avLst/>
          </a:prstGeom>
          <a:solidFill>
            <a:srgbClr val="6E6A85"/>
          </a:solidFill>
          <a:ln w="12700">
            <a:solidFill>
              <a:srgbClr val="6E6A85"/>
            </a:solidFill>
            <a:prstDash val="solid"/>
          </a:ln>
        </p:spPr>
      </p:sp>
      <p:sp>
        <p:nvSpPr>
          <p:cNvPr id="7" name="Stage 2"/>
          <p:cNvSpPr/>
          <p:nvPr/>
        </p:nvSpPr>
        <p:spPr>
          <a:xfrm>
            <a:off x="1856232" y="1463040"/>
            <a:ext cx="1234440" cy="914400"/>
          </a:xfrm>
          <a:prstGeom prst="roundRect">
            <a:avLst>
              <a:gd name="adj" fmla="val 8000"/>
            </a:avLst>
          </a:prstGeom>
          <a:solidFill>
            <a:schemeClr val="accent1"/>
          </a:solidFill>
          <a:ln w="12700">
            <a:solidFill>
              <a:schemeClr val="accent1"/>
            </a:solidFill>
            <a:prstDash val="solid"/>
          </a:ln>
        </p:spPr>
      </p:sp>
      <p:sp>
        <p:nvSpPr>
          <p:cNvPr id="8" name="Stage 2 name"/>
          <p:cNvSpPr txBox="1"/>
          <p:nvPr/>
        </p:nvSpPr>
        <p:spPr>
          <a:xfrm>
            <a:off x="1856232" y="1463040"/>
            <a:ext cx="1234440" cy="914400"/>
          </a:xfrm>
          <a:prstGeom prst="rect">
            <a:avLst/>
          </a:prstGeom>
          <a:noFill/>
          <a:ln/>
        </p:spPr>
        <p:txBody>
          <a:bodyPr wrap="square" lIns="0" tIns="0" rIns="0" bIns="0" rtlCol="0" anchor="ctr"/>
          <a:lstStyle/>
          <a:p>
            <a:pPr algn="ctr" indent="0" marL="0">
              <a:buNone/>
            </a:pPr>
            <a:r>
              <a:rPr lang="en-US" sz="1400" b="1" dirty="0">
                <a:solidFill>
                  <a:schemeClr val="bg1"/>
                </a:solidFill>
              </a:rPr>
              <a:t>Cleaning</a:t>
            </a:r>
            <a:endParaRPr lang="en-US" sz="1400" dirty="0"/>
          </a:p>
        </p:txBody>
      </p:sp>
      <p:sp>
        <p:nvSpPr>
          <p:cNvPr id="9" name="Stage 2 detail"/>
          <p:cNvSpPr txBox="1"/>
          <p:nvPr/>
        </p:nvSpPr>
        <p:spPr>
          <a:xfrm>
            <a:off x="1856232"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numbers, abbreviations, fixed character ids</a:t>
            </a:r>
            <a:endParaRPr lang="en-US" sz="1100" dirty="0"/>
          </a:p>
        </p:txBody>
      </p:sp>
      <p:sp>
        <p:nvSpPr>
          <p:cNvPr id="10" name="Arrow 2"/>
          <p:cNvSpPr/>
          <p:nvPr/>
        </p:nvSpPr>
        <p:spPr>
          <a:xfrm>
            <a:off x="3127248" y="1810512"/>
            <a:ext cx="91440" cy="219456"/>
          </a:xfrm>
          <a:prstGeom prst="chevron">
            <a:avLst/>
          </a:prstGeom>
          <a:solidFill>
            <a:srgbClr val="6E6A85"/>
          </a:solidFill>
          <a:ln w="12700">
            <a:solidFill>
              <a:srgbClr val="6E6A85"/>
            </a:solidFill>
            <a:prstDash val="solid"/>
          </a:ln>
        </p:spPr>
      </p:sp>
      <p:sp>
        <p:nvSpPr>
          <p:cNvPr id="11" name="Stage 3"/>
          <p:cNvSpPr/>
          <p:nvPr/>
        </p:nvSpPr>
        <p:spPr>
          <a:xfrm>
            <a:off x="3255264" y="1463040"/>
            <a:ext cx="1234440" cy="914400"/>
          </a:xfrm>
          <a:prstGeom prst="roundRect">
            <a:avLst>
              <a:gd name="adj" fmla="val 8000"/>
            </a:avLst>
          </a:prstGeom>
          <a:solidFill>
            <a:schemeClr val="accent4"/>
          </a:solidFill>
          <a:ln w="12700">
            <a:solidFill>
              <a:schemeClr val="accent4"/>
            </a:solidFill>
            <a:prstDash val="solid"/>
          </a:ln>
        </p:spPr>
      </p:sp>
      <p:sp>
        <p:nvSpPr>
          <p:cNvPr id="12" name="Stage 3 name"/>
          <p:cNvSpPr txBox="1"/>
          <p:nvPr/>
        </p:nvSpPr>
        <p:spPr>
          <a:xfrm>
            <a:off x="3255264" y="1463040"/>
            <a:ext cx="1234440" cy="914400"/>
          </a:xfrm>
          <a:prstGeom prst="rect">
            <a:avLst/>
          </a:prstGeom>
          <a:noFill/>
          <a:ln/>
        </p:spPr>
        <p:txBody>
          <a:bodyPr wrap="square" lIns="0" tIns="0" rIns="0" bIns="0" rtlCol="0" anchor="ctr"/>
          <a:lstStyle/>
          <a:p>
            <a:pPr algn="ctr" indent="0" marL="0">
              <a:buNone/>
            </a:pPr>
            <a:r>
              <a:rPr lang="en-US" sz="1400" b="1" dirty="0">
                <a:solidFill>
                  <a:schemeClr val="bg1"/>
                </a:solidFill>
              </a:rPr>
              <a:t>Acoustic model</a:t>
            </a:r>
            <a:endParaRPr lang="en-US" sz="1400" dirty="0"/>
          </a:p>
        </p:txBody>
      </p:sp>
      <p:sp>
        <p:nvSpPr>
          <p:cNvPr id="13" name="Stage 3 detail"/>
          <p:cNvSpPr txBox="1"/>
          <p:nvPr/>
        </p:nvSpPr>
        <p:spPr>
          <a:xfrm>
            <a:off x="3255264"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Tacotron 2 (pretrained) or our baseline</a:t>
            </a:r>
            <a:endParaRPr lang="en-US" sz="1100" dirty="0"/>
          </a:p>
        </p:txBody>
      </p:sp>
      <p:sp>
        <p:nvSpPr>
          <p:cNvPr id="14" name="Arrow 3"/>
          <p:cNvSpPr/>
          <p:nvPr/>
        </p:nvSpPr>
        <p:spPr>
          <a:xfrm>
            <a:off x="4526280" y="1810512"/>
            <a:ext cx="91440" cy="219456"/>
          </a:xfrm>
          <a:prstGeom prst="chevron">
            <a:avLst/>
          </a:prstGeom>
          <a:solidFill>
            <a:srgbClr val="6E6A85"/>
          </a:solidFill>
          <a:ln w="12700">
            <a:solidFill>
              <a:srgbClr val="6E6A85"/>
            </a:solidFill>
            <a:prstDash val="solid"/>
          </a:ln>
        </p:spPr>
      </p:sp>
      <p:sp>
        <p:nvSpPr>
          <p:cNvPr id="15" name="Stage 4"/>
          <p:cNvSpPr/>
          <p:nvPr/>
        </p:nvSpPr>
        <p:spPr>
          <a:xfrm>
            <a:off x="4654296" y="1463040"/>
            <a:ext cx="1234440" cy="914400"/>
          </a:xfrm>
          <a:prstGeom prst="roundRect">
            <a:avLst>
              <a:gd name="adj" fmla="val 8000"/>
            </a:avLst>
          </a:prstGeom>
          <a:solidFill>
            <a:schemeClr val="bg1"/>
          </a:solidFill>
          <a:ln w="15875">
            <a:solidFill>
              <a:srgbClr val="A8A2C2"/>
            </a:solidFill>
            <a:prstDash val="solid"/>
          </a:ln>
        </p:spPr>
      </p:sp>
      <p:sp>
        <p:nvSpPr>
          <p:cNvPr id="16" name="Stage 4 name"/>
          <p:cNvSpPr txBox="1"/>
          <p:nvPr/>
        </p:nvSpPr>
        <p:spPr>
          <a:xfrm>
            <a:off x="4654296" y="1463040"/>
            <a:ext cx="1234440" cy="914400"/>
          </a:xfrm>
          <a:prstGeom prst="rect">
            <a:avLst/>
          </a:prstGeom>
          <a:noFill/>
          <a:ln/>
        </p:spPr>
        <p:txBody>
          <a:bodyPr wrap="square" lIns="0" tIns="0" rIns="0" bIns="0" rtlCol="0" anchor="ctr"/>
          <a:lstStyle/>
          <a:p>
            <a:pPr algn="ctr" indent="0" marL="0">
              <a:buNone/>
            </a:pPr>
            <a:r>
              <a:rPr lang="en-US" sz="1400" b="1" dirty="0">
                <a:solidFill>
                  <a:schemeClr val="tx1"/>
                </a:solidFill>
              </a:rPr>
              <a:t>Mel spectrogram</a:t>
            </a:r>
            <a:endParaRPr lang="en-US" sz="1400" dirty="0"/>
          </a:p>
        </p:txBody>
      </p:sp>
      <p:sp>
        <p:nvSpPr>
          <p:cNvPr id="17" name="Stage 4 detail"/>
          <p:cNvSpPr txBox="1"/>
          <p:nvPr/>
        </p:nvSpPr>
        <p:spPr>
          <a:xfrm>
            <a:off x="4654296"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80 bands, 256-sample hop</a:t>
            </a:r>
            <a:endParaRPr lang="en-US" sz="1100" dirty="0"/>
          </a:p>
        </p:txBody>
      </p:sp>
      <p:sp>
        <p:nvSpPr>
          <p:cNvPr id="18" name="Arrow 4"/>
          <p:cNvSpPr/>
          <p:nvPr/>
        </p:nvSpPr>
        <p:spPr>
          <a:xfrm>
            <a:off x="5925312" y="1810512"/>
            <a:ext cx="91440" cy="219456"/>
          </a:xfrm>
          <a:prstGeom prst="chevron">
            <a:avLst/>
          </a:prstGeom>
          <a:solidFill>
            <a:srgbClr val="6E6A85"/>
          </a:solidFill>
          <a:ln w="12700">
            <a:solidFill>
              <a:srgbClr val="6E6A85"/>
            </a:solidFill>
            <a:prstDash val="solid"/>
          </a:ln>
        </p:spPr>
      </p:sp>
      <p:sp>
        <p:nvSpPr>
          <p:cNvPr id="19" name="Stage 5"/>
          <p:cNvSpPr/>
          <p:nvPr/>
        </p:nvSpPr>
        <p:spPr>
          <a:xfrm>
            <a:off x="6053328" y="1463040"/>
            <a:ext cx="1234440" cy="914400"/>
          </a:xfrm>
          <a:prstGeom prst="roundRect">
            <a:avLst>
              <a:gd name="adj" fmla="val 8000"/>
            </a:avLst>
          </a:prstGeom>
          <a:solidFill>
            <a:schemeClr val="accent4"/>
          </a:solidFill>
          <a:ln w="12700">
            <a:solidFill>
              <a:schemeClr val="accent4"/>
            </a:solidFill>
            <a:prstDash val="solid"/>
          </a:ln>
        </p:spPr>
      </p:sp>
      <p:sp>
        <p:nvSpPr>
          <p:cNvPr id="20" name="Stage 5 name"/>
          <p:cNvSpPr txBox="1"/>
          <p:nvPr/>
        </p:nvSpPr>
        <p:spPr>
          <a:xfrm>
            <a:off x="6053328" y="1463040"/>
            <a:ext cx="1234440" cy="914400"/>
          </a:xfrm>
          <a:prstGeom prst="rect">
            <a:avLst/>
          </a:prstGeom>
          <a:noFill/>
          <a:ln/>
        </p:spPr>
        <p:txBody>
          <a:bodyPr wrap="square" lIns="0" tIns="0" rIns="0" bIns="0" rtlCol="0" anchor="ctr"/>
          <a:lstStyle/>
          <a:p>
            <a:pPr algn="ctr" indent="0" marL="0">
              <a:buNone/>
            </a:pPr>
            <a:r>
              <a:rPr lang="en-US" sz="1400" b="1" dirty="0">
                <a:solidFill>
                  <a:schemeClr val="bg1"/>
                </a:solidFill>
              </a:rPr>
              <a:t>Vocoder</a:t>
            </a:r>
            <a:endParaRPr lang="en-US" sz="1400" dirty="0"/>
          </a:p>
        </p:txBody>
      </p:sp>
      <p:sp>
        <p:nvSpPr>
          <p:cNvPr id="21" name="Stage 5 detail"/>
          <p:cNvSpPr txBox="1"/>
          <p:nvPr/>
        </p:nvSpPr>
        <p:spPr>
          <a:xfrm>
            <a:off x="6053328"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Griffin-Lim (ours) or HiFi-GAN (pretrained)</a:t>
            </a:r>
            <a:endParaRPr lang="en-US" sz="1100" dirty="0"/>
          </a:p>
        </p:txBody>
      </p:sp>
      <p:sp>
        <p:nvSpPr>
          <p:cNvPr id="22" name="Arrow 5"/>
          <p:cNvSpPr/>
          <p:nvPr/>
        </p:nvSpPr>
        <p:spPr>
          <a:xfrm>
            <a:off x="7324344" y="1810512"/>
            <a:ext cx="91440" cy="219456"/>
          </a:xfrm>
          <a:prstGeom prst="chevron">
            <a:avLst/>
          </a:prstGeom>
          <a:solidFill>
            <a:srgbClr val="6E6A85"/>
          </a:solidFill>
          <a:ln w="12700">
            <a:solidFill>
              <a:srgbClr val="6E6A85"/>
            </a:solidFill>
            <a:prstDash val="solid"/>
          </a:ln>
        </p:spPr>
      </p:sp>
      <p:sp>
        <p:nvSpPr>
          <p:cNvPr id="23" name="Stage 6"/>
          <p:cNvSpPr/>
          <p:nvPr/>
        </p:nvSpPr>
        <p:spPr>
          <a:xfrm>
            <a:off x="7452360" y="1463040"/>
            <a:ext cx="1234440" cy="914400"/>
          </a:xfrm>
          <a:prstGeom prst="roundRect">
            <a:avLst>
              <a:gd name="adj" fmla="val 8000"/>
            </a:avLst>
          </a:prstGeom>
          <a:solidFill>
            <a:schemeClr val="bg1"/>
          </a:solidFill>
          <a:ln w="15875">
            <a:solidFill>
              <a:srgbClr val="A8A2C2"/>
            </a:solidFill>
            <a:prstDash val="solid"/>
          </a:ln>
        </p:spPr>
      </p:sp>
      <p:sp>
        <p:nvSpPr>
          <p:cNvPr id="24" name="Stage 6 name"/>
          <p:cNvSpPr txBox="1"/>
          <p:nvPr/>
        </p:nvSpPr>
        <p:spPr>
          <a:xfrm>
            <a:off x="7452360" y="1463040"/>
            <a:ext cx="1234440" cy="914400"/>
          </a:xfrm>
          <a:prstGeom prst="rect">
            <a:avLst/>
          </a:prstGeom>
          <a:noFill/>
          <a:ln/>
        </p:spPr>
        <p:txBody>
          <a:bodyPr wrap="square" lIns="0" tIns="0" rIns="0" bIns="0" rtlCol="0" anchor="ctr"/>
          <a:lstStyle/>
          <a:p>
            <a:pPr algn="ctr" indent="0" marL="0">
              <a:buNone/>
            </a:pPr>
            <a:r>
              <a:rPr lang="en-US" sz="1400" b="1" dirty="0">
                <a:solidFill>
                  <a:schemeClr val="tx1"/>
                </a:solidFill>
              </a:rPr>
              <a:t>.wav</a:t>
            </a:r>
            <a:endParaRPr lang="en-US" sz="1400" dirty="0"/>
          </a:p>
        </p:txBody>
      </p:sp>
      <p:sp>
        <p:nvSpPr>
          <p:cNvPr id="25" name="Stage 6 detail"/>
          <p:cNvSpPr txBox="1"/>
          <p:nvPr/>
        </p:nvSpPr>
        <p:spPr>
          <a:xfrm>
            <a:off x="7452360"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22,050 Hz audio</a:t>
            </a:r>
            <a:endParaRPr lang="en-US" sz="1100" dirty="0"/>
          </a:p>
        </p:txBody>
      </p:sp>
      <p:sp>
        <p:nvSpPr>
          <p:cNvPr id="26" name="Legend swatch 1"/>
          <p:cNvSpPr/>
          <p:nvPr/>
        </p:nvSpPr>
        <p:spPr>
          <a:xfrm>
            <a:off x="457200" y="3520440"/>
            <a:ext cx="274320" cy="201168"/>
          </a:xfrm>
          <a:prstGeom prst="roundRect">
            <a:avLst>
              <a:gd name="adj" fmla="val 22727"/>
            </a:avLst>
          </a:prstGeom>
          <a:solidFill>
            <a:schemeClr val="accent1"/>
          </a:solidFill>
          <a:ln w="12700">
            <a:solidFill>
              <a:schemeClr val="accent1"/>
            </a:solidFill>
            <a:prstDash val="solid"/>
          </a:ln>
        </p:spPr>
      </p:sp>
      <p:sp>
        <p:nvSpPr>
          <p:cNvPr id="27" name="Legend label 1"/>
          <p:cNvSpPr txBox="1"/>
          <p:nvPr/>
        </p:nvSpPr>
        <p:spPr>
          <a:xfrm>
            <a:off x="822960" y="3474720"/>
            <a:ext cx="2377440" cy="292608"/>
          </a:xfrm>
          <a:prstGeom prst="rect">
            <a:avLst/>
          </a:prstGeom>
          <a:noFill/>
          <a:ln/>
        </p:spPr>
        <p:txBody>
          <a:bodyPr wrap="square" lIns="0" tIns="0" rIns="0" bIns="0" rtlCol="0" anchor="ctr"/>
          <a:lstStyle/>
          <a:p>
            <a:pPr indent="0" marL="0">
              <a:buNone/>
            </a:pPr>
            <a:r>
              <a:rPr lang="en-US" sz="1300" dirty="0">
                <a:solidFill>
                  <a:schemeClr val="tx1"/>
                </a:solidFill>
              </a:rPr>
              <a:t>Written by us</a:t>
            </a:r>
            <a:endParaRPr lang="en-US" sz="1300" dirty="0"/>
          </a:p>
        </p:txBody>
      </p:sp>
      <p:sp>
        <p:nvSpPr>
          <p:cNvPr id="28" name="Legend swatch 2"/>
          <p:cNvSpPr/>
          <p:nvPr/>
        </p:nvSpPr>
        <p:spPr>
          <a:xfrm>
            <a:off x="2834640" y="3520440"/>
            <a:ext cx="274320" cy="201168"/>
          </a:xfrm>
          <a:prstGeom prst="roundRect">
            <a:avLst>
              <a:gd name="adj" fmla="val 22727"/>
            </a:avLst>
          </a:prstGeom>
          <a:solidFill>
            <a:schemeClr val="accent4"/>
          </a:solidFill>
          <a:ln w="12700">
            <a:solidFill>
              <a:schemeClr val="accent4"/>
            </a:solidFill>
            <a:prstDash val="solid"/>
          </a:ln>
        </p:spPr>
      </p:sp>
      <p:sp>
        <p:nvSpPr>
          <p:cNvPr id="29" name="Legend label 2"/>
          <p:cNvSpPr txBox="1"/>
          <p:nvPr/>
        </p:nvSpPr>
        <p:spPr>
          <a:xfrm>
            <a:off x="3200400" y="3474720"/>
            <a:ext cx="2377440" cy="292608"/>
          </a:xfrm>
          <a:prstGeom prst="rect">
            <a:avLst/>
          </a:prstGeom>
          <a:noFill/>
          <a:ln/>
        </p:spPr>
        <p:txBody>
          <a:bodyPr wrap="square" lIns="0" tIns="0" rIns="0" bIns="0" rtlCol="0" anchor="ctr"/>
          <a:lstStyle/>
          <a:p>
            <a:pPr indent="0" marL="0">
              <a:buNone/>
            </a:pPr>
            <a:r>
              <a:rPr lang="en-US" sz="1300" dirty="0">
                <a:solidFill>
                  <a:schemeClr val="tx1"/>
                </a:solidFill>
              </a:rPr>
              <a:t>Swappable: ours or pretrained</a:t>
            </a:r>
            <a:endParaRPr lang="en-US" sz="1300" dirty="0"/>
          </a:p>
        </p:txBody>
      </p:sp>
      <p:sp>
        <p:nvSpPr>
          <p:cNvPr id="30" name="Pipeline takeaway"/>
          <p:cNvSpPr txBox="1"/>
          <p:nvPr/>
        </p:nvSpPr>
        <p:spPr>
          <a:xfrm>
            <a:off x="457200" y="3931920"/>
            <a:ext cx="8229600" cy="548640"/>
          </a:xfrm>
          <a:prstGeom prst="rect">
            <a:avLst/>
          </a:prstGeom>
          <a:noFill/>
          <a:ln/>
        </p:spPr>
        <p:txBody>
          <a:bodyPr wrap="square" lIns="0" tIns="0" rIns="0" bIns="0" rtlCol="0" anchor="ctr"/>
          <a:lstStyle/>
          <a:p>
            <a:pPr indent="0" marL="0">
              <a:buNone/>
            </a:pPr>
            <a:r>
              <a:rPr lang="en-US" sz="1400" dirty="0">
                <a:solidFill>
                  <a:schemeClr val="tx1"/>
                </a:solidFill>
              </a:rPr>
              <a:t>Every part shares one mel format (src/audio_config.py), so any acoustic model can feed any vocoder. That makes fair comparisons possible.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What we built vs reused</a:t>
            </a:r>
            <a:endParaRPr lang="en-US" sz="3000" dirty="0"/>
          </a:p>
        </p:txBody>
      </p:sp>
      <p:sp>
        <p:nvSpPr>
          <p:cNvPr id="3" name="Ours card"/>
          <p:cNvSpPr/>
          <p:nvPr/>
        </p:nvSpPr>
        <p:spPr>
          <a:xfrm>
            <a:off x="457200" y="1097280"/>
            <a:ext cx="4846320" cy="3429000"/>
          </a:xfrm>
          <a:prstGeom prst="roundRect">
            <a:avLst>
              <a:gd name="adj" fmla="val 2133"/>
            </a:avLst>
          </a:prstGeom>
          <a:solidFill>
            <a:schemeClr val="bg2"/>
          </a:solidFill>
          <a:ln w="12700">
            <a:solidFill>
              <a:schemeClr val="bg2"/>
            </a:solidFill>
            <a:prstDash val="solid"/>
          </a:ln>
        </p:spPr>
      </p:sp>
      <p:sp>
        <p:nvSpPr>
          <p:cNvPr id="4" name="Ours heading"/>
          <p:cNvSpPr txBox="1"/>
          <p:nvPr/>
        </p:nvSpPr>
        <p:spPr>
          <a:xfrm>
            <a:off x="685800" y="1234440"/>
            <a:ext cx="4389120" cy="365760"/>
          </a:xfrm>
          <a:prstGeom prst="rect">
            <a:avLst/>
          </a:prstGeom>
          <a:noFill/>
          <a:ln/>
        </p:spPr>
        <p:txBody>
          <a:bodyPr wrap="square" lIns="0" tIns="0" rIns="0" bIns="0" rtlCol="0" anchor="ctr"/>
          <a:lstStyle/>
          <a:p>
            <a:pPr indent="0" marL="0">
              <a:buNone/>
            </a:pPr>
            <a:r>
              <a:rPr lang="en-US" sz="1800" b="1" dirty="0">
                <a:solidFill>
                  <a:schemeClr val="accent1"/>
                </a:solidFill>
              </a:rPr>
              <a:t>Built and trained by us</a:t>
            </a:r>
            <a:endParaRPr lang="en-US" sz="1800" dirty="0"/>
          </a:p>
        </p:txBody>
      </p:sp>
      <p:sp>
        <p:nvSpPr>
          <p:cNvPr id="5" name="Ours list"/>
          <p:cNvSpPr txBox="1"/>
          <p:nvPr/>
        </p:nvSpPr>
        <p:spPr>
          <a:xfrm>
            <a:off x="685800" y="1737360"/>
            <a:ext cx="4389120" cy="2697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Data download, text cleaning, fixed vocabulary</a:t>
            </a:r>
            <a:endParaRPr lang="en-US" sz="1500" dirty="0"/>
          </a:p>
          <a:p>
            <a:pPr marL="342900" indent="-342900">
              <a:spcAft>
                <a:spcPts val="1000"/>
              </a:spcAft>
              <a:buSzPct val="100000"/>
              <a:buChar char="•"/>
            </a:pPr>
            <a:r>
              <a:rPr lang="en-US" sz="1500" dirty="0">
                <a:solidFill>
                  <a:schemeClr val="tx1"/>
                </a:solidFill>
              </a:rPr>
              <a:t>Mel extraction and train / val / test split</a:t>
            </a:r>
            <a:endParaRPr lang="en-US" sz="1500" dirty="0"/>
          </a:p>
          <a:p>
            <a:pPr marL="342900" indent="-342900">
              <a:spcAft>
                <a:spcPts val="1000"/>
              </a:spcAft>
              <a:buSzPct val="100000"/>
              <a:buChar char="•"/>
            </a:pPr>
            <a:r>
              <a:rPr lang="en-US" sz="1500" dirty="0">
                <a:solidFill>
                  <a:schemeClr val="tx1"/>
                </a:solidFill>
              </a:rPr>
              <a:t>Baseline text-to-mel model, trained from scratch</a:t>
            </a:r>
            <a:endParaRPr lang="en-US" sz="1500" dirty="0"/>
          </a:p>
          <a:p>
            <a:pPr marL="342900" indent="-342900">
              <a:spcAft>
                <a:spcPts val="1000"/>
              </a:spcAft>
              <a:buSzPct val="100000"/>
              <a:buChar char="•"/>
            </a:pPr>
            <a:r>
              <a:rPr lang="en-US" sz="1500" dirty="0">
                <a:solidFill>
                  <a:schemeClr val="tx1"/>
                </a:solidFill>
              </a:rPr>
              <a:t>Griffin-Lim vocoder and shared audio settings</a:t>
            </a:r>
            <a:endParaRPr lang="en-US" sz="1500" dirty="0"/>
          </a:p>
          <a:p>
            <a:pPr marL="342900" indent="-342900">
              <a:spcAft>
                <a:spcPts val="1000"/>
              </a:spcAft>
              <a:buSzPct val="100000"/>
              <a:buChar char="•"/>
            </a:pPr>
            <a:r>
              <a:rPr lang="en-US" sz="1500" dirty="0">
                <a:solidFill>
                  <a:schemeClr val="tx1"/>
                </a:solidFill>
              </a:rPr>
              <a:t>Inference CLI and Gradio demo</a:t>
            </a:r>
            <a:endParaRPr lang="en-US" sz="1500" dirty="0"/>
          </a:p>
          <a:p>
            <a:pPr marL="342900" indent="-342900">
              <a:spcAft>
                <a:spcPts val="1000"/>
              </a:spcAft>
              <a:buSzPct val="100000"/>
              <a:buChar char="•"/>
            </a:pPr>
            <a:r>
              <a:rPr lang="en-US" sz="1500" dirty="0">
                <a:solidFill>
                  <a:schemeClr val="tx1"/>
                </a:solidFill>
              </a:rPr>
              <a:t>Alignment analysis and mel-distance evaluation</a:t>
            </a:r>
            <a:endParaRPr lang="en-US" sz="1500" dirty="0"/>
          </a:p>
        </p:txBody>
      </p:sp>
      <p:sp>
        <p:nvSpPr>
          <p:cNvPr id="6" name="Pretrained card"/>
          <p:cNvSpPr/>
          <p:nvPr/>
        </p:nvSpPr>
        <p:spPr>
          <a:xfrm>
            <a:off x="5577840" y="1097280"/>
            <a:ext cx="3108960" cy="2103120"/>
          </a:xfrm>
          <a:prstGeom prst="roundRect">
            <a:avLst>
              <a:gd name="adj" fmla="val 3478"/>
            </a:avLst>
          </a:prstGeom>
          <a:solidFill>
            <a:srgbClr val="EEEDF3"/>
          </a:solidFill>
          <a:ln w="12700">
            <a:solidFill>
              <a:srgbClr val="EEEDF3"/>
            </a:solidFill>
            <a:prstDash val="solid"/>
          </a:ln>
        </p:spPr>
      </p:sp>
      <p:sp>
        <p:nvSpPr>
          <p:cNvPr id="7" name="Pretrained heading"/>
          <p:cNvSpPr txBox="1"/>
          <p:nvPr/>
        </p:nvSpPr>
        <p:spPr>
          <a:xfrm>
            <a:off x="5760720" y="1234440"/>
            <a:ext cx="2743200" cy="365760"/>
          </a:xfrm>
          <a:prstGeom prst="rect">
            <a:avLst/>
          </a:prstGeom>
          <a:noFill/>
          <a:ln/>
        </p:spPr>
        <p:txBody>
          <a:bodyPr wrap="square" lIns="0" tIns="0" rIns="0" bIns="0" rtlCol="0" anchor="ctr"/>
          <a:lstStyle/>
          <a:p>
            <a:pPr indent="0" marL="0">
              <a:buNone/>
            </a:pPr>
            <a:r>
              <a:rPr lang="en-US" sz="1600" b="1" dirty="0">
                <a:solidFill>
                  <a:schemeClr val="accent6"/>
                </a:solidFill>
              </a:rPr>
              <a:t>Pretrained (not trained by us)</a:t>
            </a:r>
            <a:endParaRPr lang="en-US" sz="1600" dirty="0"/>
          </a:p>
        </p:txBody>
      </p:sp>
      <p:sp>
        <p:nvSpPr>
          <p:cNvPr id="8" name="Pretrained list"/>
          <p:cNvSpPr txBox="1"/>
          <p:nvPr/>
        </p:nvSpPr>
        <p:spPr>
          <a:xfrm>
            <a:off x="5760720" y="1691640"/>
            <a:ext cx="2743200" cy="1371600"/>
          </a:xfrm>
          <a:prstGeom prst="rect">
            <a:avLst/>
          </a:prstGeom>
          <a:noFill/>
          <a:ln/>
        </p:spPr>
        <p:txBody>
          <a:bodyPr wrap="square" lIns="0" tIns="0" rIns="0" bIns="0" rtlCol="0" anchor="t"/>
          <a:lstStyle/>
          <a:p>
            <a:pPr indent="0" marL="0">
              <a:buNone/>
            </a:pPr>
            <a:r>
              <a:rPr lang="en-US" sz="1300" b="1" dirty="0">
                <a:solidFill>
                  <a:schemeClr val="tx1"/>
                </a:solidFill>
              </a:rPr>
              <a:t>Tacotron 2</a:t>
            </a:r>
            <a:endParaRPr lang="en-US" sz="1300" dirty="0"/>
          </a:p>
          <a:p>
            <a:pPr indent="0" marL="0">
              <a:buNone/>
            </a:pPr>
            <a:r>
              <a:rPr lang="en-US" sz="1300" dirty="0">
                <a:solidFill>
                  <a:schemeClr val="tx1"/>
                </a:solidFill>
              </a:rPr>
              <a:t>torchaudio, trained on LJ Speech</a:t>
            </a:r>
            <a:endParaRPr lang="en-US" sz="1300" dirty="0"/>
          </a:p>
          <a:p>
            <a:pPr indent="0" marL="0">
              <a:buNone/>
            </a:pPr>
            <a:r>
              <a:rPr lang="en-US" sz="600" dirty="0">
                <a:solidFill>
                  <a:schemeClr val="tx1"/>
                </a:solidFill>
              </a:rPr>
              <a:t> </a:t>
            </a:r>
            <a:endParaRPr lang="en-US" sz="1300" dirty="0"/>
          </a:p>
          <a:p>
            <a:pPr indent="0" marL="0">
              <a:buNone/>
            </a:pPr>
            <a:r>
              <a:rPr lang="en-US" sz="1300" b="1" dirty="0">
                <a:solidFill>
                  <a:schemeClr val="tx1"/>
                </a:solidFill>
              </a:rPr>
              <a:t>HiFi-GAN vocoder</a:t>
            </a:r>
            <a:endParaRPr lang="en-US" sz="1300" dirty="0"/>
          </a:p>
          <a:p>
            <a:pPr indent="0" marL="0">
              <a:buNone/>
            </a:pPr>
            <a:r>
              <a:rPr lang="en-US" sz="1300" dirty="0">
                <a:solidFill>
                  <a:schemeClr val="tx1"/>
                </a:solidFill>
              </a:rPr>
              <a:t>SpeechBrain, trained on LJ Speech</a:t>
            </a:r>
            <a:endParaRPr lang="en-US" sz="1300" dirty="0"/>
          </a:p>
        </p:txBody>
      </p:sp>
      <p:sp>
        <p:nvSpPr>
          <p:cNvPr id="9" name="Why pretrained"/>
          <p:cNvSpPr txBox="1"/>
          <p:nvPr/>
        </p:nvSpPr>
        <p:spPr>
          <a:xfrm>
            <a:off x="5577840" y="3383280"/>
            <a:ext cx="3108960" cy="1097280"/>
          </a:xfrm>
          <a:prstGeom prst="rect">
            <a:avLst/>
          </a:prstGeom>
          <a:noFill/>
          <a:ln/>
        </p:spPr>
        <p:txBody>
          <a:bodyPr wrap="square" lIns="0" tIns="0" rIns="0" bIns="0" rtlCol="0" anchor="t"/>
          <a:lstStyle/>
          <a:p>
            <a:pPr indent="0" marL="0">
              <a:buNone/>
            </a:pPr>
            <a:r>
              <a:rPr lang="en-US" sz="1300" b="1" dirty="0">
                <a:solidFill>
                  <a:schemeClr val="tx1"/>
                </a:solidFill>
              </a:rPr>
              <a:t>Why: </a:t>
            </a:r>
            <a:pPr indent="0" marL="0">
              <a:buNone/>
            </a:pPr>
            <a:r>
              <a:rPr lang="en-US" sz="1300" dirty="0">
                <a:solidFill>
                  <a:schemeClr val="tx1"/>
                </a:solidFill>
              </a:rPr>
              <a:t>training Tacotron 2 takes days on GPUs. We had one week and laptop CPUs.</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Data and preprocessing</a:t>
            </a:r>
            <a:endParaRPr lang="en-US" sz="3000" dirty="0"/>
          </a:p>
        </p:txBody>
      </p:sp>
      <p:sp>
        <p:nvSpPr>
          <p:cNvPr id="3" name="Fact 1 value"/>
          <p:cNvSpPr txBox="1"/>
          <p:nvPr/>
        </p:nvSpPr>
        <p:spPr>
          <a:xfrm>
            <a:off x="457200" y="1097280"/>
            <a:ext cx="2468880"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13,100</a:t>
            </a:r>
            <a:endParaRPr lang="en-US" sz="2800" dirty="0"/>
          </a:p>
        </p:txBody>
      </p:sp>
      <p:sp>
        <p:nvSpPr>
          <p:cNvPr id="4" name="Fact 1 label"/>
          <p:cNvSpPr txBox="1"/>
          <p:nvPr/>
        </p:nvSpPr>
        <p:spPr>
          <a:xfrm>
            <a:off x="457200" y="1572768"/>
            <a:ext cx="2377440" cy="274320"/>
          </a:xfrm>
          <a:prstGeom prst="rect">
            <a:avLst/>
          </a:prstGeom>
          <a:noFill/>
          <a:ln/>
        </p:spPr>
        <p:txBody>
          <a:bodyPr wrap="square" lIns="0" tIns="0" rIns="0" bIns="0" rtlCol="0" anchor="ctr"/>
          <a:lstStyle/>
          <a:p>
            <a:pPr indent="0" marL="0">
              <a:buNone/>
            </a:pPr>
            <a:r>
              <a:rPr lang="en-US" sz="1200" dirty="0">
                <a:solidFill>
                  <a:schemeClr val="accent6"/>
                </a:solidFill>
              </a:rPr>
              <a:t>clips in LJ Speech 1.1</a:t>
            </a:r>
            <a:endParaRPr lang="en-US" sz="1200" dirty="0"/>
          </a:p>
        </p:txBody>
      </p:sp>
      <p:sp>
        <p:nvSpPr>
          <p:cNvPr id="5" name="Fact 2 value"/>
          <p:cNvSpPr txBox="1"/>
          <p:nvPr/>
        </p:nvSpPr>
        <p:spPr>
          <a:xfrm>
            <a:off x="457200" y="1965960"/>
            <a:ext cx="2468880"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~24 h</a:t>
            </a:r>
            <a:endParaRPr lang="en-US" sz="2800" dirty="0"/>
          </a:p>
        </p:txBody>
      </p:sp>
      <p:sp>
        <p:nvSpPr>
          <p:cNvPr id="6" name="Fact 2 label"/>
          <p:cNvSpPr txBox="1"/>
          <p:nvPr/>
        </p:nvSpPr>
        <p:spPr>
          <a:xfrm>
            <a:off x="457200" y="2441448"/>
            <a:ext cx="2377440" cy="274320"/>
          </a:xfrm>
          <a:prstGeom prst="rect">
            <a:avLst/>
          </a:prstGeom>
          <a:noFill/>
          <a:ln/>
        </p:spPr>
        <p:txBody>
          <a:bodyPr wrap="square" lIns="0" tIns="0" rIns="0" bIns="0" rtlCol="0" anchor="ctr"/>
          <a:lstStyle/>
          <a:p>
            <a:pPr indent="0" marL="0">
              <a:buNone/>
            </a:pPr>
            <a:r>
              <a:rPr lang="en-US" sz="1200" dirty="0">
                <a:solidFill>
                  <a:schemeClr val="accent6"/>
                </a:solidFill>
              </a:rPr>
              <a:t>one female speaker</a:t>
            </a:r>
            <a:endParaRPr lang="en-US" sz="1200" dirty="0"/>
          </a:p>
        </p:txBody>
      </p:sp>
      <p:sp>
        <p:nvSpPr>
          <p:cNvPr id="7" name="Fact 3 value"/>
          <p:cNvSpPr txBox="1"/>
          <p:nvPr/>
        </p:nvSpPr>
        <p:spPr>
          <a:xfrm>
            <a:off x="457200" y="2834640"/>
            <a:ext cx="2468880"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404</a:t>
            </a:r>
            <a:endParaRPr lang="en-US" sz="2800" dirty="0"/>
          </a:p>
        </p:txBody>
      </p:sp>
      <p:sp>
        <p:nvSpPr>
          <p:cNvPr id="8" name="Fact 3 label"/>
          <p:cNvSpPr txBox="1"/>
          <p:nvPr/>
        </p:nvSpPr>
        <p:spPr>
          <a:xfrm>
            <a:off x="457200" y="3310128"/>
            <a:ext cx="2377440" cy="274320"/>
          </a:xfrm>
          <a:prstGeom prst="rect">
            <a:avLst/>
          </a:prstGeom>
          <a:noFill/>
          <a:ln/>
        </p:spPr>
        <p:txBody>
          <a:bodyPr wrap="square" lIns="0" tIns="0" rIns="0" bIns="0" rtlCol="0" anchor="ctr"/>
          <a:lstStyle/>
          <a:p>
            <a:pPr indent="0" marL="0">
              <a:buNone/>
            </a:pPr>
            <a:r>
              <a:rPr lang="en-US" sz="1200" dirty="0">
                <a:solidFill>
                  <a:schemeClr val="accent6"/>
                </a:solidFill>
              </a:rPr>
              <a:t>clips in our subset</a:t>
            </a:r>
            <a:endParaRPr lang="en-US" sz="1200" dirty="0"/>
          </a:p>
        </p:txBody>
      </p:sp>
      <p:sp>
        <p:nvSpPr>
          <p:cNvPr id="9" name="Fact 4 value"/>
          <p:cNvSpPr txBox="1"/>
          <p:nvPr/>
        </p:nvSpPr>
        <p:spPr>
          <a:xfrm>
            <a:off x="457200" y="3703320"/>
            <a:ext cx="2468880"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324 / 40 / 40</a:t>
            </a:r>
            <a:endParaRPr lang="en-US" sz="2800" dirty="0"/>
          </a:p>
        </p:txBody>
      </p:sp>
      <p:sp>
        <p:nvSpPr>
          <p:cNvPr id="10" name="Fact 4 label"/>
          <p:cNvSpPr txBox="1"/>
          <p:nvPr/>
        </p:nvSpPr>
        <p:spPr>
          <a:xfrm>
            <a:off x="457200" y="4178808"/>
            <a:ext cx="2377440" cy="274320"/>
          </a:xfrm>
          <a:prstGeom prst="rect">
            <a:avLst/>
          </a:prstGeom>
          <a:noFill/>
          <a:ln/>
        </p:spPr>
        <p:txBody>
          <a:bodyPr wrap="square" lIns="0" tIns="0" rIns="0" bIns="0" rtlCol="0" anchor="ctr"/>
          <a:lstStyle/>
          <a:p>
            <a:pPr indent="0" marL="0">
              <a:buNone/>
            </a:pPr>
            <a:r>
              <a:rPr lang="en-US" sz="1200" dirty="0">
                <a:solidFill>
                  <a:schemeClr val="accent6"/>
                </a:solidFill>
              </a:rPr>
              <a:t>train / val / test clips</a:t>
            </a:r>
            <a:endParaRPr lang="en-US" sz="1200" dirty="0"/>
          </a:p>
        </p:txBody>
      </p:sp>
      <p:sp>
        <p:nvSpPr>
          <p:cNvPr id="11" name="Cleaning example card"/>
          <p:cNvSpPr/>
          <p:nvPr/>
        </p:nvSpPr>
        <p:spPr>
          <a:xfrm>
            <a:off x="3108960" y="1097280"/>
            <a:ext cx="5577840" cy="1965960"/>
          </a:xfrm>
          <a:prstGeom prst="roundRect">
            <a:avLst>
              <a:gd name="adj" fmla="val 3721"/>
            </a:avLst>
          </a:prstGeom>
          <a:solidFill>
            <a:schemeClr val="bg2"/>
          </a:solidFill>
          <a:ln w="12700">
            <a:solidFill>
              <a:schemeClr val="bg2"/>
            </a:solidFill>
            <a:prstDash val="solid"/>
          </a:ln>
        </p:spPr>
      </p:sp>
      <p:sp>
        <p:nvSpPr>
          <p:cNvPr id="12" name="Cleaning example"/>
          <p:cNvSpPr txBox="1"/>
          <p:nvPr/>
        </p:nvSpPr>
        <p:spPr>
          <a:xfrm>
            <a:off x="3291840" y="1188720"/>
            <a:ext cx="5212080" cy="1783080"/>
          </a:xfrm>
          <a:prstGeom prst="rect">
            <a:avLst/>
          </a:prstGeom>
          <a:noFill/>
          <a:ln/>
        </p:spPr>
        <p:txBody>
          <a:bodyPr wrap="square" lIns="0" tIns="0" rIns="0" bIns="0" rtlCol="0" anchor="t"/>
          <a:lstStyle/>
          <a:p>
            <a:pPr indent="0" marL="0">
              <a:buNone/>
            </a:pPr>
            <a:r>
              <a:rPr lang="en-US" sz="1200" b="1" dirty="0">
                <a:solidFill>
                  <a:schemeClr val="accent6"/>
                </a:solidFill>
              </a:rPr>
              <a:t>Raw text</a:t>
            </a:r>
            <a:endParaRPr lang="en-US" sz="1400" dirty="0"/>
          </a:p>
          <a:p>
            <a:pPr indent="0" marL="0">
              <a:buNone/>
            </a:pPr>
            <a:r>
              <a:rPr lang="en-US" sz="1400" dirty="0">
                <a:solidFill>
                  <a:schemeClr val="tx1"/>
                </a:solidFill>
              </a:rPr>
              <a:t>Dr. Smith paid $42.50 in 1984.</a:t>
            </a:r>
            <a:endParaRPr lang="en-US" sz="1400" dirty="0"/>
          </a:p>
          <a:p>
            <a:pPr indent="0" marL="0">
              <a:buNone/>
            </a:pPr>
            <a:r>
              <a:rPr lang="en-US" sz="1200" b="1" dirty="0">
                <a:solidFill>
                  <a:schemeClr val="accent6"/>
                </a:solidFill>
              </a:rPr>
              <a:t>Cleaned</a:t>
            </a:r>
            <a:endParaRPr lang="en-US" sz="1400" dirty="0"/>
          </a:p>
          <a:p>
            <a:pPr indent="0" marL="0">
              <a:buNone/>
            </a:pPr>
            <a:r>
              <a:rPr lang="en-US" sz="1400" dirty="0">
                <a:solidFill>
                  <a:schemeClr val="tx1"/>
                </a:solidFill>
              </a:rPr>
              <a:t>doctor smith paid forty two dollars and fifty cents in nineteen eighty four.</a:t>
            </a:r>
            <a:endParaRPr lang="en-US" sz="1400" dirty="0"/>
          </a:p>
          <a:p>
            <a:pPr indent="0" marL="0">
              <a:buNone/>
            </a:pPr>
            <a:r>
              <a:rPr lang="en-US" sz="1200" b="1" dirty="0">
                <a:solidFill>
                  <a:schemeClr val="accent6"/>
                </a:solidFill>
              </a:rPr>
              <a:t>Fixed ids (37 symbols)</a:t>
            </a:r>
            <a:endParaRPr lang="en-US" sz="1400" dirty="0"/>
          </a:p>
          <a:p>
            <a:pPr indent="0" marL="0">
              <a:buNone/>
            </a:pPr>
            <a:r>
              <a:rPr lang="en-US" sz="1300" dirty="0">
                <a:solidFill>
                  <a:schemeClr val="tx1"/>
                </a:solidFill>
                <a:latin typeface="Courier New" pitchFamily="34" charset="0"/>
                <a:ea typeface="Courier New" pitchFamily="34" charset="-122"/>
                <a:cs typeface="Courier New" pitchFamily="34" charset="-120"/>
              </a:rPr>
              <a:t>d→5  o→16  c→4  t→21  …  same mapping on every run</a:t>
            </a:r>
            <a:endParaRPr lang="en-US" sz="1400" dirty="0"/>
          </a:p>
        </p:txBody>
      </p:sp>
      <p:sp>
        <p:nvSpPr>
          <p:cNvPr id="13" name="Audio steps"/>
          <p:cNvSpPr txBox="1"/>
          <p:nvPr/>
        </p:nvSpPr>
        <p:spPr>
          <a:xfrm>
            <a:off x="3108960" y="3246120"/>
            <a:ext cx="5577840" cy="12344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Audio → 80-band log-mel spectrogram (FFT 1024, hop 256, 0 to 8 kHz)</a:t>
            </a:r>
            <a:endParaRPr lang="en-US" sz="1400" dirty="0"/>
          </a:p>
          <a:p>
            <a:pPr marL="342900" indent="-342900">
              <a:spcAft>
                <a:spcPts val="400"/>
              </a:spcAft>
              <a:buSzPct val="100000"/>
              <a:buChar char="•"/>
            </a:pPr>
            <a:r>
              <a:rPr lang="en-US" sz="1400" dirty="0">
                <a:solidFill>
                  <a:schemeClr val="tx1"/>
                </a:solidFill>
              </a:rPr>
              <a:t>Cached to disk once, instead of recomputed every run</a:t>
            </a:r>
            <a:endParaRPr lang="en-US" sz="1400" dirty="0"/>
          </a:p>
          <a:p>
            <a:pPr marL="342900" indent="-342900">
              <a:spcAft>
                <a:spcPts val="400"/>
              </a:spcAft>
              <a:buSzPct val="100000"/>
              <a:buChar char="•"/>
            </a:pPr>
            <a:r>
              <a:rPr lang="en-US" sz="1400" dirty="0">
                <a:solidFill>
                  <a:schemeClr val="tx1"/>
                </a:solidFill>
              </a:rPr>
              <a:t>Sanity check: plot a real mel and turn it back into audio</a:t>
            </a:r>
            <a:endParaRPr lang="en-US" sz="1400" dirty="0"/>
          </a:p>
        </p:txBody>
      </p:sp>
      <p:sp>
        <p:nvSpPr>
          <p:cNvPr id="14" name="Owner tag"/>
          <p:cNvSpPr txBox="1"/>
          <p:nvPr/>
        </p:nvSpPr>
        <p:spPr>
          <a:xfrm>
            <a:off x="5943600" y="4754880"/>
            <a:ext cx="2194560" cy="274320"/>
          </a:xfrm>
          <a:prstGeom prst="rect">
            <a:avLst/>
          </a:prstGeom>
          <a:noFill/>
          <a:ln/>
        </p:spPr>
        <p:txBody>
          <a:bodyPr wrap="square" lIns="0" tIns="0" rIns="0" bIns="0" rtlCol="0" anchor="ctr"/>
          <a:lstStyle/>
          <a:p>
            <a:pPr algn="r" indent="0" marL="0">
              <a:buNone/>
            </a:pPr>
            <a:r>
              <a:rPr lang="en-US" sz="1000" i="1" dirty="0">
                <a:solidFill>
                  <a:schemeClr val="accent6"/>
                </a:solidFill>
              </a:rPr>
              <a:t>Deekshitha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Baseline: trained from scratch</a:t>
            </a:r>
            <a:endParaRPr lang="en-US" sz="3000" dirty="0"/>
          </a:p>
        </p:txBody>
      </p:sp>
      <p:sp>
        <p:nvSpPr>
          <p:cNvPr id="3" name="Layer 1"/>
          <p:cNvSpPr/>
          <p:nvPr/>
        </p:nvSpPr>
        <p:spPr>
          <a:xfrm>
            <a:off x="457200" y="1051560"/>
            <a:ext cx="3931920" cy="457200"/>
          </a:xfrm>
          <a:prstGeom prst="roundRect">
            <a:avLst>
              <a:gd name="adj" fmla="val 16000"/>
            </a:avLst>
          </a:prstGeom>
          <a:solidFill>
            <a:schemeClr val="bg2"/>
          </a:solidFill>
          <a:ln w="12700">
            <a:solidFill>
              <a:schemeClr val="bg2"/>
            </a:solidFill>
            <a:prstDash val="solid"/>
          </a:ln>
        </p:spPr>
      </p:sp>
      <p:sp>
        <p:nvSpPr>
          <p:cNvPr id="4" name="Layer 1 text"/>
          <p:cNvSpPr txBox="1"/>
          <p:nvPr/>
        </p:nvSpPr>
        <p:spPr>
          <a:xfrm>
            <a:off x="640080" y="1051560"/>
            <a:ext cx="3566160" cy="457200"/>
          </a:xfrm>
          <a:prstGeom prst="rect">
            <a:avLst/>
          </a:prstGeom>
          <a:noFill/>
          <a:ln/>
        </p:spPr>
        <p:txBody>
          <a:bodyPr wrap="square" lIns="0" tIns="0" rIns="0" bIns="0" rtlCol="0" anchor="ctr"/>
          <a:lstStyle/>
          <a:p>
            <a:pPr indent="0" marL="0">
              <a:buNone/>
            </a:pPr>
            <a:r>
              <a:rPr lang="en-US" sz="1400" dirty="0">
                <a:solidFill>
                  <a:schemeClr val="tx1"/>
                </a:solidFill>
              </a:rPr>
              <a:t>Characters (fixed ids)</a:t>
            </a:r>
            <a:endParaRPr lang="en-US" sz="1400" dirty="0"/>
          </a:p>
        </p:txBody>
      </p:sp>
      <p:sp>
        <p:nvSpPr>
          <p:cNvPr id="5" name="Layer 2"/>
          <p:cNvSpPr/>
          <p:nvPr/>
        </p:nvSpPr>
        <p:spPr>
          <a:xfrm>
            <a:off x="457200" y="1627632"/>
            <a:ext cx="3931920" cy="457200"/>
          </a:xfrm>
          <a:prstGeom prst="roundRect">
            <a:avLst>
              <a:gd name="adj" fmla="val 16000"/>
            </a:avLst>
          </a:prstGeom>
          <a:solidFill>
            <a:schemeClr val="bg2"/>
          </a:solidFill>
          <a:ln w="12700">
            <a:solidFill>
              <a:schemeClr val="bg2"/>
            </a:solidFill>
            <a:prstDash val="solid"/>
          </a:ln>
        </p:spPr>
      </p:sp>
      <p:sp>
        <p:nvSpPr>
          <p:cNvPr id="6" name="Layer 2 text"/>
          <p:cNvSpPr txBox="1"/>
          <p:nvPr/>
        </p:nvSpPr>
        <p:spPr>
          <a:xfrm>
            <a:off x="640080" y="1627632"/>
            <a:ext cx="3566160" cy="457200"/>
          </a:xfrm>
          <a:prstGeom prst="rect">
            <a:avLst/>
          </a:prstGeom>
          <a:noFill/>
          <a:ln/>
        </p:spPr>
        <p:txBody>
          <a:bodyPr wrap="square" lIns="0" tIns="0" rIns="0" bIns="0" rtlCol="0" anchor="ctr"/>
          <a:lstStyle/>
          <a:p>
            <a:pPr indent="0" marL="0">
              <a:buNone/>
            </a:pPr>
            <a:r>
              <a:rPr lang="en-US" sz="1400" dirty="0">
                <a:solidFill>
                  <a:schemeClr val="tx1"/>
                </a:solidFill>
              </a:rPr>
              <a:t>Embedding, 128-d</a:t>
            </a:r>
            <a:endParaRPr lang="en-US" sz="1400" dirty="0"/>
          </a:p>
        </p:txBody>
      </p:sp>
      <p:sp>
        <p:nvSpPr>
          <p:cNvPr id="7" name="Layer 3"/>
          <p:cNvSpPr/>
          <p:nvPr/>
        </p:nvSpPr>
        <p:spPr>
          <a:xfrm>
            <a:off x="457200" y="2203704"/>
            <a:ext cx="3931920" cy="457200"/>
          </a:xfrm>
          <a:prstGeom prst="roundRect">
            <a:avLst>
              <a:gd name="adj" fmla="val 16000"/>
            </a:avLst>
          </a:prstGeom>
          <a:solidFill>
            <a:schemeClr val="bg2"/>
          </a:solidFill>
          <a:ln w="12700">
            <a:solidFill>
              <a:schemeClr val="bg2"/>
            </a:solidFill>
            <a:prstDash val="solid"/>
          </a:ln>
        </p:spPr>
      </p:sp>
      <p:sp>
        <p:nvSpPr>
          <p:cNvPr id="8" name="Layer 3 text"/>
          <p:cNvSpPr txBox="1"/>
          <p:nvPr/>
        </p:nvSpPr>
        <p:spPr>
          <a:xfrm>
            <a:off x="640080" y="2203704"/>
            <a:ext cx="3566160" cy="457200"/>
          </a:xfrm>
          <a:prstGeom prst="rect">
            <a:avLst/>
          </a:prstGeom>
          <a:noFill/>
          <a:ln/>
        </p:spPr>
        <p:txBody>
          <a:bodyPr wrap="square" lIns="0" tIns="0" rIns="0" bIns="0" rtlCol="0" anchor="ctr"/>
          <a:lstStyle/>
          <a:p>
            <a:pPr indent="0" marL="0">
              <a:buNone/>
            </a:pPr>
            <a:r>
              <a:rPr lang="en-US" sz="1400" dirty="0">
                <a:solidFill>
                  <a:schemeClr val="tx1"/>
                </a:solidFill>
              </a:rPr>
              <a:t>3 × Conv1D, 256 channels, kernel 5</a:t>
            </a:r>
            <a:endParaRPr lang="en-US" sz="1400" dirty="0"/>
          </a:p>
        </p:txBody>
      </p:sp>
      <p:sp>
        <p:nvSpPr>
          <p:cNvPr id="9" name="Layer 4"/>
          <p:cNvSpPr/>
          <p:nvPr/>
        </p:nvSpPr>
        <p:spPr>
          <a:xfrm>
            <a:off x="457200" y="2779776"/>
            <a:ext cx="3931920" cy="457200"/>
          </a:xfrm>
          <a:prstGeom prst="roundRect">
            <a:avLst>
              <a:gd name="adj" fmla="val 16000"/>
            </a:avLst>
          </a:prstGeom>
          <a:solidFill>
            <a:schemeClr val="accent2"/>
          </a:solidFill>
          <a:ln w="12700">
            <a:solidFill>
              <a:schemeClr val="accent2"/>
            </a:solidFill>
            <a:prstDash val="solid"/>
          </a:ln>
        </p:spPr>
      </p:sp>
      <p:sp>
        <p:nvSpPr>
          <p:cNvPr id="10" name="Layer 4 text"/>
          <p:cNvSpPr txBox="1"/>
          <p:nvPr/>
        </p:nvSpPr>
        <p:spPr>
          <a:xfrm>
            <a:off x="640080" y="2779776"/>
            <a:ext cx="3566160" cy="457200"/>
          </a:xfrm>
          <a:prstGeom prst="rect">
            <a:avLst/>
          </a:prstGeom>
          <a:noFill/>
          <a:ln/>
        </p:spPr>
        <p:txBody>
          <a:bodyPr wrap="square" lIns="0" tIns="0" rIns="0" bIns="0" rtlCol="0" anchor="ctr"/>
          <a:lstStyle/>
          <a:p>
            <a:pPr indent="0" marL="0">
              <a:buNone/>
            </a:pPr>
            <a:r>
              <a:rPr lang="en-US" sz="1400" b="1" dirty="0">
                <a:solidFill>
                  <a:schemeClr val="bg1"/>
                </a:solidFill>
              </a:rPr>
              <a:t>Stretch to target length (no attention)</a:t>
            </a:r>
            <a:endParaRPr lang="en-US" sz="1400" dirty="0"/>
          </a:p>
        </p:txBody>
      </p:sp>
      <p:sp>
        <p:nvSpPr>
          <p:cNvPr id="11" name="Layer 5"/>
          <p:cNvSpPr/>
          <p:nvPr/>
        </p:nvSpPr>
        <p:spPr>
          <a:xfrm>
            <a:off x="457200" y="3355848"/>
            <a:ext cx="3931920" cy="457200"/>
          </a:xfrm>
          <a:prstGeom prst="roundRect">
            <a:avLst>
              <a:gd name="adj" fmla="val 16000"/>
            </a:avLst>
          </a:prstGeom>
          <a:solidFill>
            <a:schemeClr val="bg2"/>
          </a:solidFill>
          <a:ln w="12700">
            <a:solidFill>
              <a:schemeClr val="bg2"/>
            </a:solidFill>
            <a:prstDash val="solid"/>
          </a:ln>
        </p:spPr>
      </p:sp>
      <p:sp>
        <p:nvSpPr>
          <p:cNvPr id="12" name="Layer 5 text"/>
          <p:cNvSpPr txBox="1"/>
          <p:nvPr/>
        </p:nvSpPr>
        <p:spPr>
          <a:xfrm>
            <a:off x="640080" y="3355848"/>
            <a:ext cx="3566160" cy="457200"/>
          </a:xfrm>
          <a:prstGeom prst="rect">
            <a:avLst/>
          </a:prstGeom>
          <a:noFill/>
          <a:ln/>
        </p:spPr>
        <p:txBody>
          <a:bodyPr wrap="square" lIns="0" tIns="0" rIns="0" bIns="0" rtlCol="0" anchor="ctr"/>
          <a:lstStyle/>
          <a:p>
            <a:pPr indent="0" marL="0">
              <a:buNone/>
            </a:pPr>
            <a:r>
              <a:rPr lang="en-US" sz="1400" dirty="0">
                <a:solidFill>
                  <a:schemeClr val="tx1"/>
                </a:solidFill>
              </a:rPr>
              <a:t>MLP → 80-band mel frames</a:t>
            </a:r>
            <a:endParaRPr lang="en-US" sz="1400" dirty="0"/>
          </a:p>
        </p:txBody>
      </p:sp>
      <p:sp>
        <p:nvSpPr>
          <p:cNvPr id="13" name="Layer 6"/>
          <p:cNvSpPr/>
          <p:nvPr/>
        </p:nvSpPr>
        <p:spPr>
          <a:xfrm>
            <a:off x="457200" y="3931920"/>
            <a:ext cx="3931920" cy="457200"/>
          </a:xfrm>
          <a:prstGeom prst="roundRect">
            <a:avLst>
              <a:gd name="adj" fmla="val 16000"/>
            </a:avLst>
          </a:prstGeom>
          <a:solidFill>
            <a:schemeClr val="bg2"/>
          </a:solidFill>
          <a:ln w="12700">
            <a:solidFill>
              <a:schemeClr val="bg2"/>
            </a:solidFill>
            <a:prstDash val="solid"/>
          </a:ln>
        </p:spPr>
      </p:sp>
      <p:sp>
        <p:nvSpPr>
          <p:cNvPr id="14" name="Layer 6 text"/>
          <p:cNvSpPr txBox="1"/>
          <p:nvPr/>
        </p:nvSpPr>
        <p:spPr>
          <a:xfrm>
            <a:off x="640080" y="3931920"/>
            <a:ext cx="3566160" cy="457200"/>
          </a:xfrm>
          <a:prstGeom prst="rect">
            <a:avLst/>
          </a:prstGeom>
          <a:noFill/>
          <a:ln/>
        </p:spPr>
        <p:txBody>
          <a:bodyPr wrap="square" lIns="0" tIns="0" rIns="0" bIns="0" rtlCol="0" anchor="ctr"/>
          <a:lstStyle/>
          <a:p>
            <a:pPr indent="0" marL="0">
              <a:buNone/>
            </a:pPr>
            <a:r>
              <a:rPr lang="en-US" sz="1400" dirty="0">
                <a:solidFill>
                  <a:schemeClr val="tx1"/>
                </a:solidFill>
              </a:rPr>
              <a:t>Griffin-Lim → audio</a:t>
            </a:r>
            <a:endParaRPr lang="en-US" sz="1400" dirty="0"/>
          </a:p>
        </p:txBody>
      </p:sp>
      <p:sp>
        <p:nvSpPr>
          <p:cNvPr id="15" name="Training heading"/>
          <p:cNvSpPr txBox="1"/>
          <p:nvPr/>
        </p:nvSpPr>
        <p:spPr>
          <a:xfrm>
            <a:off x="4754880" y="1051560"/>
            <a:ext cx="3931920" cy="365760"/>
          </a:xfrm>
          <a:prstGeom prst="rect">
            <a:avLst/>
          </a:prstGeom>
          <a:noFill/>
          <a:ln/>
        </p:spPr>
        <p:txBody>
          <a:bodyPr wrap="square" lIns="0" tIns="0" rIns="0" bIns="0" rtlCol="0" anchor="ctr"/>
          <a:lstStyle/>
          <a:p>
            <a:pPr indent="0" marL="0">
              <a:buNone/>
            </a:pPr>
            <a:r>
              <a:rPr lang="en-US" sz="1800" b="1" dirty="0">
                <a:solidFill>
                  <a:schemeClr val="accent1"/>
                </a:solidFill>
              </a:rPr>
              <a:t>Training</a:t>
            </a:r>
            <a:endParaRPr lang="en-US" sz="1800" dirty="0"/>
          </a:p>
        </p:txBody>
      </p:sp>
      <p:sp>
        <p:nvSpPr>
          <p:cNvPr id="16" name="Training list"/>
          <p:cNvSpPr txBox="1"/>
          <p:nvPr/>
        </p:nvSpPr>
        <p:spPr>
          <a:xfrm>
            <a:off x="4754880" y="1463040"/>
            <a:ext cx="3931920" cy="15544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L1 loss on normalised mel frames</a:t>
            </a:r>
            <a:endParaRPr lang="en-US" sz="1400" dirty="0"/>
          </a:p>
          <a:p>
            <a:pPr marL="342900" indent="-342900">
              <a:spcAft>
                <a:spcPts val="400"/>
              </a:spcAft>
              <a:buSzPct val="100000"/>
              <a:buChar char="•"/>
            </a:pPr>
            <a:r>
              <a:rPr lang="en-US" sz="1400" dirty="0">
                <a:solidFill>
                  <a:schemeClr val="tx1"/>
                </a:solidFill>
              </a:rPr>
              <a:t>Adam, learning rate 1e-3, gradient clipping 1.0</a:t>
            </a:r>
            <a:endParaRPr lang="en-US" sz="1400" dirty="0"/>
          </a:p>
          <a:p>
            <a:pPr marL="342900" indent="-342900">
              <a:spcAft>
                <a:spcPts val="400"/>
              </a:spcAft>
              <a:buSzPct val="100000"/>
              <a:buChar char="•"/>
            </a:pPr>
            <a:r>
              <a:rPr lang="en-US" sz="1400" dirty="0">
                <a:solidFill>
                  <a:schemeClr val="tx1"/>
                </a:solidFill>
              </a:rPr>
              <a:t>60 epochs, batch 16, best validation checkpoint</a:t>
            </a:r>
            <a:endParaRPr lang="en-US" sz="1400" dirty="0"/>
          </a:p>
          <a:p>
            <a:pPr marL="342900" indent="-342900">
              <a:spcAft>
                <a:spcPts val="400"/>
              </a:spcAft>
              <a:buSzPct val="100000"/>
              <a:buChar char="•"/>
            </a:pPr>
            <a:r>
              <a:rPr lang="en-US" sz="1400" dirty="0">
                <a:solidFill>
                  <a:schemeClr val="tx1"/>
                </a:solidFill>
              </a:rPr>
              <a:t>Mels normalised per band (mean / std)</a:t>
            </a:r>
            <a:endParaRPr lang="en-US" sz="1400" dirty="0"/>
          </a:p>
        </p:txBody>
      </p:sp>
      <p:sp>
        <p:nvSpPr>
          <p:cNvPr id="17" name="Why weak"/>
          <p:cNvSpPr txBox="1"/>
          <p:nvPr/>
        </p:nvSpPr>
        <p:spPr>
          <a:xfrm>
            <a:off x="4754880" y="3154680"/>
            <a:ext cx="3931920" cy="1280160"/>
          </a:xfrm>
          <a:prstGeom prst="rect">
            <a:avLst/>
          </a:prstGeom>
          <a:noFill/>
          <a:ln/>
        </p:spPr>
        <p:txBody>
          <a:bodyPr wrap="square" lIns="0" tIns="0" rIns="0" bIns="0" rtlCol="0" anchor="t"/>
          <a:lstStyle/>
          <a:p>
            <a:pPr indent="0" marL="0">
              <a:buNone/>
            </a:pPr>
            <a:r>
              <a:rPr lang="en-US" sz="1400" b="1" dirty="0">
                <a:solidFill>
                  <a:schemeClr val="tx1"/>
                </a:solidFill>
              </a:rPr>
              <a:t>Deliberately weak. </a:t>
            </a:r>
            <a:pPr indent="0" marL="0">
              <a:buNone/>
            </a:pPr>
            <a:r>
              <a:rPr lang="en-US" sz="1400" dirty="0">
                <a:solidFill>
                  <a:schemeClr val="tx1"/>
                </a:solidFill>
              </a:rPr>
              <a:t>Like the paper's simple models, it has no learned alignment: each character just gets an equal share of time. It shows what happens without attention and data.</a:t>
            </a:r>
            <a:endParaRPr lang="en-US" sz="1400" dirty="0"/>
          </a:p>
        </p:txBody>
      </p:sp>
      <p:sp>
        <p:nvSpPr>
          <p:cNvPr id="18" name="Owner tag"/>
          <p:cNvSpPr txBox="1"/>
          <p:nvPr/>
        </p:nvSpPr>
        <p:spPr>
          <a:xfrm>
            <a:off x="5943600" y="4754880"/>
            <a:ext cx="2194560" cy="274320"/>
          </a:xfrm>
          <a:prstGeom prst="rect">
            <a:avLst/>
          </a:prstGeom>
          <a:noFill/>
          <a:ln/>
        </p:spPr>
        <p:txBody>
          <a:bodyPr wrap="square" lIns="0" tIns="0" rIns="0" bIns="0" rtlCol="0" anchor="ctr"/>
          <a:lstStyle/>
          <a:p>
            <a:pPr algn="r" indent="0" marL="0">
              <a:buNone/>
            </a:pPr>
            <a:r>
              <a:rPr lang="en-US" sz="1000" i="1" dirty="0">
                <a:solidFill>
                  <a:schemeClr val="accent6"/>
                </a:solidFill>
              </a:rPr>
              <a:t>Deekshitha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Main system: Tacotron 2</a:t>
            </a:r>
            <a:endParaRPr lang="en-US" sz="3000" dirty="0"/>
          </a:p>
        </p:txBody>
      </p:sp>
      <p:sp>
        <p:nvSpPr>
          <p:cNvPr id="3" name="Tacotron part 1 circle"/>
          <p:cNvSpPr/>
          <p:nvPr/>
        </p:nvSpPr>
        <p:spPr>
          <a:xfrm>
            <a:off x="457200" y="1143000"/>
            <a:ext cx="384048" cy="384048"/>
          </a:xfrm>
          <a:prstGeom prst="ellipse">
            <a:avLst/>
          </a:prstGeom>
          <a:solidFill>
            <a:schemeClr val="accent1"/>
          </a:solidFill>
          <a:ln w="12700">
            <a:solidFill>
              <a:schemeClr val="accent1"/>
            </a:solidFill>
            <a:prstDash val="solid"/>
          </a:ln>
        </p:spPr>
      </p:sp>
      <p:sp>
        <p:nvSpPr>
          <p:cNvPr id="4" name="Tacotron part 1 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acotron part 1 name"/>
          <p:cNvSpPr txBox="1"/>
          <p:nvPr/>
        </p:nvSpPr>
        <p:spPr>
          <a:xfrm>
            <a:off x="1005840" y="1097280"/>
            <a:ext cx="3657600" cy="320040"/>
          </a:xfrm>
          <a:prstGeom prst="rect">
            <a:avLst/>
          </a:prstGeom>
          <a:noFill/>
          <a:ln/>
        </p:spPr>
        <p:txBody>
          <a:bodyPr wrap="square" lIns="0" tIns="0" rIns="0" bIns="0" rtlCol="0" anchor="ctr"/>
          <a:lstStyle/>
          <a:p>
            <a:pPr indent="0" marL="0">
              <a:buNone/>
            </a:pPr>
            <a:r>
              <a:rPr lang="en-US" sz="1600" b="1" dirty="0">
                <a:solidFill>
                  <a:schemeClr val="tx1"/>
                </a:solidFill>
              </a:rPr>
              <a:t>Encoder</a:t>
            </a:r>
            <a:endParaRPr lang="en-US" sz="1600" dirty="0"/>
          </a:p>
        </p:txBody>
      </p:sp>
      <p:sp>
        <p:nvSpPr>
          <p:cNvPr id="6" name="Tacotron part 1 body"/>
          <p:cNvSpPr txBox="1"/>
          <p:nvPr/>
        </p:nvSpPr>
        <p:spPr>
          <a:xfrm>
            <a:off x="1005840" y="1417320"/>
            <a:ext cx="3657600" cy="457200"/>
          </a:xfrm>
          <a:prstGeom prst="rect">
            <a:avLst/>
          </a:prstGeom>
          <a:noFill/>
          <a:ln/>
        </p:spPr>
        <p:txBody>
          <a:bodyPr wrap="square" lIns="0" tIns="0" rIns="0" bIns="0" rtlCol="0" anchor="t"/>
          <a:lstStyle/>
          <a:p>
            <a:pPr indent="0" marL="0">
              <a:buNone/>
            </a:pPr>
            <a:r>
              <a:rPr lang="en-US" sz="1300" dirty="0">
                <a:solidFill>
                  <a:schemeClr val="accent6"/>
                </a:solidFill>
              </a:rPr>
              <a:t>character embedding, 3 convolutions, bidirectional LSTM</a:t>
            </a:r>
            <a:endParaRPr lang="en-US" sz="1300" dirty="0"/>
          </a:p>
        </p:txBody>
      </p:sp>
      <p:sp>
        <p:nvSpPr>
          <p:cNvPr id="7" name="Tacotron part 2 circle"/>
          <p:cNvSpPr/>
          <p:nvPr/>
        </p:nvSpPr>
        <p:spPr>
          <a:xfrm>
            <a:off x="457200" y="1984248"/>
            <a:ext cx="384048" cy="384048"/>
          </a:xfrm>
          <a:prstGeom prst="ellipse">
            <a:avLst/>
          </a:prstGeom>
          <a:solidFill>
            <a:schemeClr val="accent1"/>
          </a:solidFill>
          <a:ln w="12700">
            <a:solidFill>
              <a:schemeClr val="accent1"/>
            </a:solidFill>
            <a:prstDash val="solid"/>
          </a:ln>
        </p:spPr>
      </p:sp>
      <p:sp>
        <p:nvSpPr>
          <p:cNvPr id="8" name="Tacotron part 2 label"/>
          <p:cNvSpPr txBox="1"/>
          <p:nvPr/>
        </p:nvSpPr>
        <p:spPr>
          <a:xfrm>
            <a:off x="457200" y="19842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Tacotron part 2 name"/>
          <p:cNvSpPr txBox="1"/>
          <p:nvPr/>
        </p:nvSpPr>
        <p:spPr>
          <a:xfrm>
            <a:off x="1005840" y="1938528"/>
            <a:ext cx="3657600" cy="320040"/>
          </a:xfrm>
          <a:prstGeom prst="rect">
            <a:avLst/>
          </a:prstGeom>
          <a:noFill/>
          <a:ln/>
        </p:spPr>
        <p:txBody>
          <a:bodyPr wrap="square" lIns="0" tIns="0" rIns="0" bIns="0" rtlCol="0" anchor="ctr"/>
          <a:lstStyle/>
          <a:p>
            <a:pPr indent="0" marL="0">
              <a:buNone/>
            </a:pPr>
            <a:r>
              <a:rPr lang="en-US" sz="1600" b="1" dirty="0">
                <a:solidFill>
                  <a:schemeClr val="tx1"/>
                </a:solidFill>
              </a:rPr>
              <a:t>Attention</a:t>
            </a:r>
            <a:endParaRPr lang="en-US" sz="1600" dirty="0"/>
          </a:p>
        </p:txBody>
      </p:sp>
      <p:sp>
        <p:nvSpPr>
          <p:cNvPr id="10" name="Tacotron part 2 body"/>
          <p:cNvSpPr txBox="1"/>
          <p:nvPr/>
        </p:nvSpPr>
        <p:spPr>
          <a:xfrm>
            <a:off x="1005840" y="2258568"/>
            <a:ext cx="3657600" cy="457200"/>
          </a:xfrm>
          <a:prstGeom prst="rect">
            <a:avLst/>
          </a:prstGeom>
          <a:noFill/>
          <a:ln/>
        </p:spPr>
        <p:txBody>
          <a:bodyPr wrap="square" lIns="0" tIns="0" rIns="0" bIns="0" rtlCol="0" anchor="t"/>
          <a:lstStyle/>
          <a:p>
            <a:pPr indent="0" marL="0">
              <a:buNone/>
            </a:pPr>
            <a:r>
              <a:rPr lang="en-US" sz="1300" dirty="0">
                <a:solidFill>
                  <a:schemeClr val="accent6"/>
                </a:solidFill>
              </a:rPr>
              <a:t>location-sensitive: uses where it looked last step, so it moves forward</a:t>
            </a:r>
            <a:endParaRPr lang="en-US" sz="1300" dirty="0"/>
          </a:p>
        </p:txBody>
      </p:sp>
      <p:sp>
        <p:nvSpPr>
          <p:cNvPr id="11" name="Tacotron part 3 circle"/>
          <p:cNvSpPr/>
          <p:nvPr/>
        </p:nvSpPr>
        <p:spPr>
          <a:xfrm>
            <a:off x="457200" y="2825496"/>
            <a:ext cx="384048" cy="384048"/>
          </a:xfrm>
          <a:prstGeom prst="ellipse">
            <a:avLst/>
          </a:prstGeom>
          <a:solidFill>
            <a:schemeClr val="accent1"/>
          </a:solidFill>
          <a:ln w="12700">
            <a:solidFill>
              <a:schemeClr val="accent1"/>
            </a:solidFill>
            <a:prstDash val="solid"/>
          </a:ln>
        </p:spPr>
      </p:sp>
      <p:sp>
        <p:nvSpPr>
          <p:cNvPr id="12" name="Tacotron part 3 label"/>
          <p:cNvSpPr txBox="1"/>
          <p:nvPr/>
        </p:nvSpPr>
        <p:spPr>
          <a:xfrm>
            <a:off x="457200" y="28254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Tacotron part 3 name"/>
          <p:cNvSpPr txBox="1"/>
          <p:nvPr/>
        </p:nvSpPr>
        <p:spPr>
          <a:xfrm>
            <a:off x="1005840" y="2779776"/>
            <a:ext cx="3657600" cy="320040"/>
          </a:xfrm>
          <a:prstGeom prst="rect">
            <a:avLst/>
          </a:prstGeom>
          <a:noFill/>
          <a:ln/>
        </p:spPr>
        <p:txBody>
          <a:bodyPr wrap="square" lIns="0" tIns="0" rIns="0" bIns="0" rtlCol="0" anchor="ctr"/>
          <a:lstStyle/>
          <a:p>
            <a:pPr indent="0" marL="0">
              <a:buNone/>
            </a:pPr>
            <a:r>
              <a:rPr lang="en-US" sz="1600" b="1" dirty="0">
                <a:solidFill>
                  <a:schemeClr val="tx1"/>
                </a:solidFill>
              </a:rPr>
              <a:t>Decoder</a:t>
            </a:r>
            <a:endParaRPr lang="en-US" sz="1600" dirty="0"/>
          </a:p>
        </p:txBody>
      </p:sp>
      <p:sp>
        <p:nvSpPr>
          <p:cNvPr id="14" name="Tacotron part 3 body"/>
          <p:cNvSpPr txBox="1"/>
          <p:nvPr/>
        </p:nvSpPr>
        <p:spPr>
          <a:xfrm>
            <a:off x="1005840" y="3099816"/>
            <a:ext cx="3657600" cy="457200"/>
          </a:xfrm>
          <a:prstGeom prst="rect">
            <a:avLst/>
          </a:prstGeom>
          <a:noFill/>
          <a:ln/>
        </p:spPr>
        <p:txBody>
          <a:bodyPr wrap="square" lIns="0" tIns="0" rIns="0" bIns="0" rtlCol="0" anchor="t"/>
          <a:lstStyle/>
          <a:p>
            <a:pPr indent="0" marL="0">
              <a:buNone/>
            </a:pPr>
            <a:r>
              <a:rPr lang="en-US" sz="1300" dirty="0">
                <a:solidFill>
                  <a:schemeClr val="accent6"/>
                </a:solidFill>
              </a:rPr>
              <a:t>LSTMs predict one mel frame at a time, plus a stop signal</a:t>
            </a:r>
            <a:endParaRPr lang="en-US" sz="1300" dirty="0"/>
          </a:p>
        </p:txBody>
      </p:sp>
      <p:sp>
        <p:nvSpPr>
          <p:cNvPr id="15" name="Tacotron part 4 circle"/>
          <p:cNvSpPr/>
          <p:nvPr/>
        </p:nvSpPr>
        <p:spPr>
          <a:xfrm>
            <a:off x="457200" y="3666744"/>
            <a:ext cx="384048" cy="384048"/>
          </a:xfrm>
          <a:prstGeom prst="ellipse">
            <a:avLst/>
          </a:prstGeom>
          <a:solidFill>
            <a:schemeClr val="accent1"/>
          </a:solidFill>
          <a:ln w="12700">
            <a:solidFill>
              <a:schemeClr val="accent1"/>
            </a:solidFill>
            <a:prstDash val="solid"/>
          </a:ln>
        </p:spPr>
      </p:sp>
      <p:sp>
        <p:nvSpPr>
          <p:cNvPr id="16" name="Tacotron part 4 label"/>
          <p:cNvSpPr txBox="1"/>
          <p:nvPr/>
        </p:nvSpPr>
        <p:spPr>
          <a:xfrm>
            <a:off x="457200" y="366674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Tacotron part 4 name"/>
          <p:cNvSpPr txBox="1"/>
          <p:nvPr/>
        </p:nvSpPr>
        <p:spPr>
          <a:xfrm>
            <a:off x="1005840" y="3621024"/>
            <a:ext cx="3657600" cy="320040"/>
          </a:xfrm>
          <a:prstGeom prst="rect">
            <a:avLst/>
          </a:prstGeom>
          <a:noFill/>
          <a:ln/>
        </p:spPr>
        <p:txBody>
          <a:bodyPr wrap="square" lIns="0" tIns="0" rIns="0" bIns="0" rtlCol="0" anchor="ctr"/>
          <a:lstStyle/>
          <a:p>
            <a:pPr indent="0" marL="0">
              <a:buNone/>
            </a:pPr>
            <a:r>
              <a:rPr lang="en-US" sz="1600" b="1" dirty="0">
                <a:solidFill>
                  <a:schemeClr val="tx1"/>
                </a:solidFill>
              </a:rPr>
              <a:t>Post-net</a:t>
            </a:r>
            <a:endParaRPr lang="en-US" sz="1600" dirty="0"/>
          </a:p>
        </p:txBody>
      </p:sp>
      <p:sp>
        <p:nvSpPr>
          <p:cNvPr id="18" name="Tacotron part 4 body"/>
          <p:cNvSpPr txBox="1"/>
          <p:nvPr/>
        </p:nvSpPr>
        <p:spPr>
          <a:xfrm>
            <a:off x="1005840" y="3941064"/>
            <a:ext cx="3657600" cy="457200"/>
          </a:xfrm>
          <a:prstGeom prst="rect">
            <a:avLst/>
          </a:prstGeom>
          <a:noFill/>
          <a:ln/>
        </p:spPr>
        <p:txBody>
          <a:bodyPr wrap="square" lIns="0" tIns="0" rIns="0" bIns="0" rtlCol="0" anchor="t"/>
          <a:lstStyle/>
          <a:p>
            <a:pPr indent="0" marL="0">
              <a:buNone/>
            </a:pPr>
            <a:r>
              <a:rPr lang="en-US" sz="1300" dirty="0">
                <a:solidFill>
                  <a:schemeClr val="accent6"/>
                </a:solidFill>
              </a:rPr>
              <a:t>5 convolutions refine the whole spectrogram</a:t>
            </a:r>
            <a:endParaRPr lang="en-US" sz="1300" dirty="0"/>
          </a:p>
        </p:txBody>
      </p:sp>
      <p:sp>
        <p:nvSpPr>
          <p:cNvPr id="19" name="Wrapper card"/>
          <p:cNvSpPr/>
          <p:nvPr/>
        </p:nvSpPr>
        <p:spPr>
          <a:xfrm>
            <a:off x="5120640" y="1097280"/>
            <a:ext cx="3566160" cy="2743200"/>
          </a:xfrm>
          <a:prstGeom prst="roundRect">
            <a:avLst>
              <a:gd name="adj" fmla="val 2667"/>
            </a:avLst>
          </a:prstGeom>
          <a:solidFill>
            <a:schemeClr val="bg2"/>
          </a:solidFill>
          <a:ln w="12700">
            <a:solidFill>
              <a:schemeClr val="bg2"/>
            </a:solidFill>
            <a:prstDash val="solid"/>
          </a:ln>
        </p:spPr>
      </p:sp>
      <p:sp>
        <p:nvSpPr>
          <p:cNvPr id="20" name="Wrapper text"/>
          <p:cNvSpPr txBox="1"/>
          <p:nvPr/>
        </p:nvSpPr>
        <p:spPr>
          <a:xfrm>
            <a:off x="5303520" y="1234440"/>
            <a:ext cx="3200400" cy="251460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What we did with it</a:t>
            </a:r>
            <a:endParaRPr lang="en-US" sz="1300" dirty="0"/>
          </a:p>
          <a:p>
            <a:pPr indent="0" marL="0">
              <a:spcAft>
                <a:spcPts val="600"/>
              </a:spcAft>
              <a:buNone/>
            </a:pPr>
            <a:r>
              <a:rPr lang="en-US" sz="600" dirty="0">
                <a:solidFill>
                  <a:schemeClr val="tx1"/>
                </a:solidFill>
              </a:rPr>
              <a:t> </a:t>
            </a:r>
            <a:endParaRPr lang="en-US" sz="1300" dirty="0"/>
          </a:p>
          <a:p>
            <a:pPr marL="342900" indent="-342900">
              <a:spcAft>
                <a:spcPts val="600"/>
              </a:spcAft>
              <a:buSzPct val="100000"/>
              <a:buChar char="•"/>
            </a:pPr>
            <a:r>
              <a:rPr lang="en-US" sz="1300" dirty="0">
                <a:solidFill>
                  <a:schemeClr val="tx1"/>
                </a:solidFill>
              </a:rPr>
              <a:t>Loaded torchaudio's LJ Speech checkpoint</a:t>
            </a:r>
            <a:endParaRPr lang="en-US" sz="1300" dirty="0"/>
          </a:p>
          <a:p>
            <a:pPr marL="342900" indent="-342900">
              <a:spcAft>
                <a:spcPts val="600"/>
              </a:spcAft>
              <a:buSzPct val="100000"/>
              <a:buChar char="•"/>
            </a:pPr>
            <a:r>
              <a:rPr lang="en-US" sz="1300" dirty="0">
                <a:solidFill>
                  <a:schemeClr val="tx1"/>
                </a:solidFill>
              </a:rPr>
              <a:t>Chose the standard mel format so Griffin-Lim and HiFi-GAN read the same mel</a:t>
            </a:r>
            <a:endParaRPr lang="en-US" sz="1300" dirty="0"/>
          </a:p>
          <a:p>
            <a:pPr marL="342900" indent="-342900">
              <a:spcAft>
                <a:spcPts val="600"/>
              </a:spcAft>
              <a:buSzPct val="100000"/>
              <a:buChar char="•"/>
            </a:pPr>
            <a:r>
              <a:rPr lang="en-US" sz="1300" dirty="0">
                <a:solidFill>
                  <a:schemeClr val="tx1"/>
                </a:solidFill>
              </a:rPr>
              <a:t>Exposed mel + alignment for analysis</a:t>
            </a:r>
            <a:endParaRPr lang="en-US" sz="1300" dirty="0"/>
          </a:p>
          <a:p>
            <a:pPr marL="342900" indent="-342900">
              <a:spcAft>
                <a:spcPts val="600"/>
              </a:spcAft>
              <a:buSzPct val="100000"/>
              <a:buChar char="•"/>
            </a:pPr>
            <a:r>
              <a:rPr lang="en-US" sz="1300" dirty="0">
                <a:solidFill>
                  <a:schemeClr val="tx1"/>
                </a:solidFill>
              </a:rPr>
              <a:t>Fixed seeds so samples are reproducible (its prenet keeps dropout on)</a:t>
            </a:r>
            <a:endParaRPr lang="en-US" sz="1300" dirty="0"/>
          </a:p>
        </p:txBody>
      </p:sp>
      <p:sp>
        <p:nvSpPr>
          <p:cNvPr id="21" name="Owner tag"/>
          <p:cNvSpPr txBox="1"/>
          <p:nvPr/>
        </p:nvSpPr>
        <p:spPr>
          <a:xfrm>
            <a:off x="5943600" y="4754880"/>
            <a:ext cx="2194560" cy="274320"/>
          </a:xfrm>
          <a:prstGeom prst="rect">
            <a:avLst/>
          </a:prstGeom>
          <a:noFill/>
          <a:ln/>
        </p:spPr>
        <p:txBody>
          <a:bodyPr wrap="square" lIns="0" tIns="0" rIns="0" bIns="0" rtlCol="0" anchor="ctr"/>
          <a:lstStyle/>
          <a:p>
            <a:pPr algn="r" indent="0" marL="0">
              <a:buNone/>
            </a:pPr>
            <a:r>
              <a:rPr lang="en-US" sz="1000" i="1" dirty="0">
                <a:solidFill>
                  <a:schemeClr val="accent6"/>
                </a:solidFill>
              </a:rPr>
              <a:t>Mann</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Vocoders: speed and quality</a:t>
            </a:r>
            <a:endParaRPr lang="en-US" sz="3000" dirty="0"/>
          </a:p>
        </p:txBody>
      </p:sp>
      <p:sp>
        <p:nvSpPr>
          <p:cNvPr id="3" name="Vocoder card 1"/>
          <p:cNvSpPr/>
          <p:nvPr/>
        </p:nvSpPr>
        <p:spPr>
          <a:xfrm>
            <a:off x="457200" y="1097280"/>
            <a:ext cx="2615184" cy="2880360"/>
          </a:xfrm>
          <a:prstGeom prst="roundRect">
            <a:avLst>
              <a:gd name="adj" fmla="val 2797"/>
            </a:avLst>
          </a:prstGeom>
          <a:solidFill>
            <a:schemeClr val="bg2"/>
          </a:solidFill>
          <a:ln w="12700">
            <a:solidFill>
              <a:schemeClr val="bg2"/>
            </a:solidFill>
            <a:prstDash val="solid"/>
          </a:ln>
        </p:spPr>
      </p:sp>
      <p:sp>
        <p:nvSpPr>
          <p:cNvPr id="4" name="Vocoder 1 name"/>
          <p:cNvSpPr txBox="1"/>
          <p:nvPr/>
        </p:nvSpPr>
        <p:spPr>
          <a:xfrm>
            <a:off x="640080" y="1234440"/>
            <a:ext cx="2286000" cy="365760"/>
          </a:xfrm>
          <a:prstGeom prst="rect">
            <a:avLst/>
          </a:prstGeom>
          <a:noFill/>
          <a:ln/>
        </p:spPr>
        <p:txBody>
          <a:bodyPr wrap="square" lIns="0" tIns="0" rIns="0" bIns="0" rtlCol="0" anchor="ctr"/>
          <a:lstStyle/>
          <a:p>
            <a:pPr indent="0" marL="0">
              <a:buNone/>
            </a:pPr>
            <a:r>
              <a:rPr lang="en-US" sz="1800" b="1" dirty="0">
                <a:solidFill>
                  <a:schemeClr val="tx1"/>
                </a:solidFill>
              </a:rPr>
              <a:t>WaveRNN</a:t>
            </a:r>
            <a:endParaRPr lang="en-US" sz="1800" dirty="0"/>
          </a:p>
        </p:txBody>
      </p:sp>
      <p:sp>
        <p:nvSpPr>
          <p:cNvPr id="5" name="Vocoder 1 how"/>
          <p:cNvSpPr txBox="1"/>
          <p:nvPr/>
        </p:nvSpPr>
        <p:spPr>
          <a:xfrm>
            <a:off x="640080" y="1600200"/>
            <a:ext cx="2286000" cy="320040"/>
          </a:xfrm>
          <a:prstGeom prst="rect">
            <a:avLst/>
          </a:prstGeom>
          <a:noFill/>
          <a:ln/>
        </p:spPr>
        <p:txBody>
          <a:bodyPr wrap="square" lIns="0" tIns="0" rIns="0" bIns="0" rtlCol="0" anchor="ctr"/>
          <a:lstStyle/>
          <a:p>
            <a:pPr indent="0" marL="0">
              <a:buNone/>
            </a:pPr>
            <a:r>
              <a:rPr lang="en-US" sz="1200" dirty="0">
                <a:solidFill>
                  <a:schemeClr val="accent6"/>
                </a:solidFill>
              </a:rPr>
              <a:t>one sample at a time</a:t>
            </a:r>
            <a:endParaRPr lang="en-US" sz="1200" dirty="0"/>
          </a:p>
        </p:txBody>
      </p:sp>
      <p:sp>
        <p:nvSpPr>
          <p:cNvPr id="6" name="Vocoder 1 time"/>
          <p:cNvSpPr txBox="1"/>
          <p:nvPr/>
        </p:nvSpPr>
        <p:spPr>
          <a:xfrm>
            <a:off x="640080" y="2011680"/>
            <a:ext cx="2286000" cy="731520"/>
          </a:xfrm>
          <a:prstGeom prst="rect">
            <a:avLst/>
          </a:prstGeom>
          <a:noFill/>
          <a:ln/>
        </p:spPr>
        <p:txBody>
          <a:bodyPr wrap="square" lIns="0" tIns="0" rIns="0" bIns="0" rtlCol="0" anchor="ctr"/>
          <a:lstStyle/>
          <a:p>
            <a:pPr indent="0" marL="0">
              <a:buNone/>
            </a:pPr>
            <a:r>
              <a:rPr lang="en-US" sz="4000" b="1" dirty="0">
                <a:solidFill>
                  <a:schemeClr val="accent6"/>
                </a:solidFill>
                <a:latin typeface="Arial" pitchFamily="34" charset="0"/>
                <a:ea typeface="Arial" pitchFamily="34" charset="-122"/>
                <a:cs typeface="Arial" pitchFamily="34" charset="-120"/>
              </a:rPr>
              <a:t>48.7 s</a:t>
            </a:r>
            <a:endParaRPr lang="en-US" sz="4000" dirty="0"/>
          </a:p>
        </p:txBody>
      </p:sp>
      <p:sp>
        <p:nvSpPr>
          <p:cNvPr id="7" name="Vocoder 1 unit"/>
          <p:cNvSpPr txBox="1"/>
          <p:nvPr/>
        </p:nvSpPr>
        <p:spPr>
          <a:xfrm>
            <a:off x="640080" y="2697480"/>
            <a:ext cx="2286000" cy="274320"/>
          </a:xfrm>
          <a:prstGeom prst="rect">
            <a:avLst/>
          </a:prstGeom>
          <a:noFill/>
          <a:ln/>
        </p:spPr>
        <p:txBody>
          <a:bodyPr wrap="square" lIns="0" tIns="0" rIns="0" bIns="0" rtlCol="0" anchor="ctr"/>
          <a:lstStyle/>
          <a:p>
            <a:pPr indent="0" marL="0">
              <a:buNone/>
            </a:pPr>
            <a:r>
              <a:rPr lang="en-US" sz="1200" dirty="0">
                <a:solidFill>
                  <a:schemeClr val="accent6"/>
                </a:solidFill>
              </a:rPr>
              <a:t>to make 3.3 s of speech</a:t>
            </a:r>
            <a:endParaRPr lang="en-US" sz="1200" dirty="0"/>
          </a:p>
        </p:txBody>
      </p:sp>
      <p:sp>
        <p:nvSpPr>
          <p:cNvPr id="8" name="Vocoder 1 verdict"/>
          <p:cNvSpPr txBox="1"/>
          <p:nvPr/>
        </p:nvSpPr>
        <p:spPr>
          <a:xfrm>
            <a:off x="640080" y="3108960"/>
            <a:ext cx="2286000" cy="731520"/>
          </a:xfrm>
          <a:prstGeom prst="rect">
            <a:avLst/>
          </a:prstGeom>
          <a:noFill/>
          <a:ln/>
        </p:spPr>
        <p:txBody>
          <a:bodyPr wrap="square" lIns="0" tIns="0" rIns="0" bIns="0" rtlCol="0" anchor="t"/>
          <a:lstStyle/>
          <a:p>
            <a:pPr indent="0" marL="0">
              <a:buNone/>
            </a:pPr>
            <a:r>
              <a:rPr lang="en-US" sz="1300" dirty="0">
                <a:solidFill>
                  <a:schemeClr val="tx1"/>
                </a:solidFill>
              </a:rPr>
              <a:t>Tried and removed: too slow for a live demo</a:t>
            </a:r>
            <a:endParaRPr lang="en-US" sz="1300" dirty="0"/>
          </a:p>
        </p:txBody>
      </p:sp>
      <p:sp>
        <p:nvSpPr>
          <p:cNvPr id="9" name="Vocoder card 2"/>
          <p:cNvSpPr/>
          <p:nvPr/>
        </p:nvSpPr>
        <p:spPr>
          <a:xfrm>
            <a:off x="3264408" y="1097280"/>
            <a:ext cx="2615184" cy="2880360"/>
          </a:xfrm>
          <a:prstGeom prst="roundRect">
            <a:avLst>
              <a:gd name="adj" fmla="val 2797"/>
            </a:avLst>
          </a:prstGeom>
          <a:solidFill>
            <a:schemeClr val="bg2"/>
          </a:solidFill>
          <a:ln w="12700">
            <a:solidFill>
              <a:schemeClr val="bg2"/>
            </a:solidFill>
            <a:prstDash val="solid"/>
          </a:ln>
        </p:spPr>
      </p:sp>
      <p:sp>
        <p:nvSpPr>
          <p:cNvPr id="10" name="Vocoder 2 name"/>
          <p:cNvSpPr txBox="1"/>
          <p:nvPr/>
        </p:nvSpPr>
        <p:spPr>
          <a:xfrm>
            <a:off x="3447288" y="1234440"/>
            <a:ext cx="2286000" cy="365760"/>
          </a:xfrm>
          <a:prstGeom prst="rect">
            <a:avLst/>
          </a:prstGeom>
          <a:noFill/>
          <a:ln/>
        </p:spPr>
        <p:txBody>
          <a:bodyPr wrap="square" lIns="0" tIns="0" rIns="0" bIns="0" rtlCol="0" anchor="ctr"/>
          <a:lstStyle/>
          <a:p>
            <a:pPr indent="0" marL="0">
              <a:buNone/>
            </a:pPr>
            <a:r>
              <a:rPr lang="en-US" sz="1800" b="1" dirty="0">
                <a:solidFill>
                  <a:schemeClr val="tx1"/>
                </a:solidFill>
              </a:rPr>
              <a:t>Griffin-Lim</a:t>
            </a:r>
            <a:endParaRPr lang="en-US" sz="1800" dirty="0"/>
          </a:p>
        </p:txBody>
      </p:sp>
      <p:sp>
        <p:nvSpPr>
          <p:cNvPr id="11" name="Vocoder 2 how"/>
          <p:cNvSpPr txBox="1"/>
          <p:nvPr/>
        </p:nvSpPr>
        <p:spPr>
          <a:xfrm>
            <a:off x="3447288" y="1600200"/>
            <a:ext cx="2286000" cy="320040"/>
          </a:xfrm>
          <a:prstGeom prst="rect">
            <a:avLst/>
          </a:prstGeom>
          <a:noFill/>
          <a:ln/>
        </p:spPr>
        <p:txBody>
          <a:bodyPr wrap="square" lIns="0" tIns="0" rIns="0" bIns="0" rtlCol="0" anchor="ctr"/>
          <a:lstStyle/>
          <a:p>
            <a:pPr indent="0" marL="0">
              <a:buNone/>
            </a:pPr>
            <a:r>
              <a:rPr lang="en-US" sz="1200" dirty="0">
                <a:solidFill>
                  <a:schemeClr val="accent6"/>
                </a:solidFill>
              </a:rPr>
              <a:t>signal processing, no learning</a:t>
            </a:r>
            <a:endParaRPr lang="en-US" sz="1200" dirty="0"/>
          </a:p>
        </p:txBody>
      </p:sp>
      <p:sp>
        <p:nvSpPr>
          <p:cNvPr id="12" name="Vocoder 2 time"/>
          <p:cNvSpPr txBox="1"/>
          <p:nvPr/>
        </p:nvSpPr>
        <p:spPr>
          <a:xfrm>
            <a:off x="3447288" y="2011680"/>
            <a:ext cx="2286000" cy="73152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0.08 s</a:t>
            </a:r>
            <a:endParaRPr lang="en-US" sz="4000" dirty="0"/>
          </a:p>
        </p:txBody>
      </p:sp>
      <p:sp>
        <p:nvSpPr>
          <p:cNvPr id="13" name="Vocoder 2 unit"/>
          <p:cNvSpPr txBox="1"/>
          <p:nvPr/>
        </p:nvSpPr>
        <p:spPr>
          <a:xfrm>
            <a:off x="3447288" y="2697480"/>
            <a:ext cx="2286000" cy="274320"/>
          </a:xfrm>
          <a:prstGeom prst="rect">
            <a:avLst/>
          </a:prstGeom>
          <a:noFill/>
          <a:ln/>
        </p:spPr>
        <p:txBody>
          <a:bodyPr wrap="square" lIns="0" tIns="0" rIns="0" bIns="0" rtlCol="0" anchor="ctr"/>
          <a:lstStyle/>
          <a:p>
            <a:pPr indent="0" marL="0">
              <a:buNone/>
            </a:pPr>
            <a:r>
              <a:rPr lang="en-US" sz="1200" dirty="0">
                <a:solidFill>
                  <a:schemeClr val="accent6"/>
                </a:solidFill>
              </a:rPr>
              <a:t>to make 3.3 s of speech</a:t>
            </a:r>
            <a:endParaRPr lang="en-US" sz="1200" dirty="0"/>
          </a:p>
        </p:txBody>
      </p:sp>
      <p:sp>
        <p:nvSpPr>
          <p:cNvPr id="14" name="Vocoder 2 verdict"/>
          <p:cNvSpPr txBox="1"/>
          <p:nvPr/>
        </p:nvSpPr>
        <p:spPr>
          <a:xfrm>
            <a:off x="3447288" y="3108960"/>
            <a:ext cx="2286000" cy="731520"/>
          </a:xfrm>
          <a:prstGeom prst="rect">
            <a:avLst/>
          </a:prstGeom>
          <a:noFill/>
          <a:ln/>
        </p:spPr>
        <p:txBody>
          <a:bodyPr wrap="square" lIns="0" tIns="0" rIns="0" bIns="0" rtlCol="0" anchor="t"/>
          <a:lstStyle/>
          <a:p>
            <a:pPr indent="0" marL="0">
              <a:buNone/>
            </a:pPr>
            <a:r>
              <a:rPr lang="en-US" sz="1300" dirty="0">
                <a:solidFill>
                  <a:schemeClr val="tx1"/>
                </a:solidFill>
              </a:rPr>
              <a:t>Fast, intelligible, slightly metallic</a:t>
            </a:r>
            <a:endParaRPr lang="en-US" sz="1300" dirty="0"/>
          </a:p>
        </p:txBody>
      </p:sp>
      <p:sp>
        <p:nvSpPr>
          <p:cNvPr id="15" name="Vocoder card 3"/>
          <p:cNvSpPr/>
          <p:nvPr/>
        </p:nvSpPr>
        <p:spPr>
          <a:xfrm>
            <a:off x="6071616" y="1097280"/>
            <a:ext cx="2615184" cy="2880360"/>
          </a:xfrm>
          <a:prstGeom prst="roundRect">
            <a:avLst>
              <a:gd name="adj" fmla="val 2797"/>
            </a:avLst>
          </a:prstGeom>
          <a:solidFill>
            <a:schemeClr val="bg2"/>
          </a:solidFill>
          <a:ln w="12700">
            <a:solidFill>
              <a:schemeClr val="bg2"/>
            </a:solidFill>
            <a:prstDash val="solid"/>
          </a:ln>
        </p:spPr>
      </p:sp>
      <p:sp>
        <p:nvSpPr>
          <p:cNvPr id="16" name="Vocoder 3 name"/>
          <p:cNvSpPr txBox="1"/>
          <p:nvPr/>
        </p:nvSpPr>
        <p:spPr>
          <a:xfrm>
            <a:off x="6254496" y="1234440"/>
            <a:ext cx="2286000" cy="365760"/>
          </a:xfrm>
          <a:prstGeom prst="rect">
            <a:avLst/>
          </a:prstGeom>
          <a:noFill/>
          <a:ln/>
        </p:spPr>
        <p:txBody>
          <a:bodyPr wrap="square" lIns="0" tIns="0" rIns="0" bIns="0" rtlCol="0" anchor="ctr"/>
          <a:lstStyle/>
          <a:p>
            <a:pPr indent="0" marL="0">
              <a:buNone/>
            </a:pPr>
            <a:r>
              <a:rPr lang="en-US" sz="1800" b="1" dirty="0">
                <a:solidFill>
                  <a:schemeClr val="tx1"/>
                </a:solidFill>
              </a:rPr>
              <a:t>HiFi-GAN</a:t>
            </a:r>
            <a:endParaRPr lang="en-US" sz="1800" dirty="0"/>
          </a:p>
        </p:txBody>
      </p:sp>
      <p:sp>
        <p:nvSpPr>
          <p:cNvPr id="17" name="Vocoder 3 how"/>
          <p:cNvSpPr txBox="1"/>
          <p:nvPr/>
        </p:nvSpPr>
        <p:spPr>
          <a:xfrm>
            <a:off x="6254496" y="1600200"/>
            <a:ext cx="2286000" cy="320040"/>
          </a:xfrm>
          <a:prstGeom prst="rect">
            <a:avLst/>
          </a:prstGeom>
          <a:noFill/>
          <a:ln/>
        </p:spPr>
        <p:txBody>
          <a:bodyPr wrap="square" lIns="0" tIns="0" rIns="0" bIns="0" rtlCol="0" anchor="ctr"/>
          <a:lstStyle/>
          <a:p>
            <a:pPr indent="0" marL="0">
              <a:buNone/>
            </a:pPr>
            <a:r>
              <a:rPr lang="en-US" sz="1200" dirty="0">
                <a:solidFill>
                  <a:schemeClr val="accent6"/>
                </a:solidFill>
              </a:rPr>
              <a:t>GAN, all frames in parallel</a:t>
            </a:r>
            <a:endParaRPr lang="en-US" sz="1200" dirty="0"/>
          </a:p>
        </p:txBody>
      </p:sp>
      <p:sp>
        <p:nvSpPr>
          <p:cNvPr id="18" name="Vocoder 3 time"/>
          <p:cNvSpPr txBox="1"/>
          <p:nvPr/>
        </p:nvSpPr>
        <p:spPr>
          <a:xfrm>
            <a:off x="6254496" y="2011680"/>
            <a:ext cx="2286000" cy="731520"/>
          </a:xfrm>
          <a:prstGeom prst="rect">
            <a:avLst/>
          </a:prstGeom>
          <a:noFill/>
          <a:ln/>
        </p:spPr>
        <p:txBody>
          <a:bodyPr wrap="square" lIns="0" tIns="0" rIns="0" bIns="0" rtlCol="0" anchor="ctr"/>
          <a:lstStyle/>
          <a:p>
            <a:pPr indent="0" marL="0">
              <a:buNone/>
            </a:pPr>
            <a:r>
              <a:rPr lang="en-US" sz="4000" b="1" dirty="0">
                <a:solidFill>
                  <a:schemeClr val="accent4"/>
                </a:solidFill>
                <a:latin typeface="Arial" pitchFamily="34" charset="0"/>
                <a:ea typeface="Arial" pitchFamily="34" charset="-122"/>
                <a:cs typeface="Arial" pitchFamily="34" charset="-120"/>
              </a:rPr>
              <a:t>0.65 s</a:t>
            </a:r>
            <a:endParaRPr lang="en-US" sz="4000" dirty="0"/>
          </a:p>
        </p:txBody>
      </p:sp>
      <p:sp>
        <p:nvSpPr>
          <p:cNvPr id="19" name="Vocoder 3 unit"/>
          <p:cNvSpPr txBox="1"/>
          <p:nvPr/>
        </p:nvSpPr>
        <p:spPr>
          <a:xfrm>
            <a:off x="6254496" y="2697480"/>
            <a:ext cx="2286000" cy="274320"/>
          </a:xfrm>
          <a:prstGeom prst="rect">
            <a:avLst/>
          </a:prstGeom>
          <a:noFill/>
          <a:ln/>
        </p:spPr>
        <p:txBody>
          <a:bodyPr wrap="square" lIns="0" tIns="0" rIns="0" bIns="0" rtlCol="0" anchor="ctr"/>
          <a:lstStyle/>
          <a:p>
            <a:pPr indent="0" marL="0">
              <a:buNone/>
            </a:pPr>
            <a:r>
              <a:rPr lang="en-US" sz="1200" dirty="0">
                <a:solidFill>
                  <a:schemeClr val="accent6"/>
                </a:solidFill>
              </a:rPr>
              <a:t>to make 3.3 s of speech</a:t>
            </a:r>
            <a:endParaRPr lang="en-US" sz="1200" dirty="0"/>
          </a:p>
        </p:txBody>
      </p:sp>
      <p:sp>
        <p:nvSpPr>
          <p:cNvPr id="20" name="Vocoder 3 verdict"/>
          <p:cNvSpPr txBox="1"/>
          <p:nvPr/>
        </p:nvSpPr>
        <p:spPr>
          <a:xfrm>
            <a:off x="6254496" y="3108960"/>
            <a:ext cx="2286000" cy="731520"/>
          </a:xfrm>
          <a:prstGeom prst="rect">
            <a:avLst/>
          </a:prstGeom>
          <a:noFill/>
          <a:ln/>
        </p:spPr>
        <p:txBody>
          <a:bodyPr wrap="square" lIns="0" tIns="0" rIns="0" bIns="0" rtlCol="0" anchor="t"/>
          <a:lstStyle/>
          <a:p>
            <a:pPr indent="0" marL="0">
              <a:buNone/>
            </a:pPr>
            <a:r>
              <a:rPr lang="en-US" sz="1300" dirty="0">
                <a:solidFill>
                  <a:schemeClr val="tx1"/>
                </a:solidFill>
              </a:rPr>
              <a:t>Natural sounding, about 5× faster than real time</a:t>
            </a:r>
            <a:endParaRPr lang="en-US" sz="1300" dirty="0"/>
          </a:p>
        </p:txBody>
      </p:sp>
      <p:sp>
        <p:nvSpPr>
          <p:cNvPr id="21" name="Vocoder method"/>
          <p:cNvSpPr txBox="1"/>
          <p:nvPr/>
        </p:nvSpPr>
        <p:spPr>
          <a:xfrm>
            <a:off x="457200" y="4114800"/>
            <a:ext cx="8229600" cy="548640"/>
          </a:xfrm>
          <a:prstGeom prst="rect">
            <a:avLst/>
          </a:prstGeom>
          <a:noFill/>
          <a:ln/>
        </p:spPr>
        <p:txBody>
          <a:bodyPr wrap="square" lIns="0" tIns="0" rIns="0" bIns="0" rtlCol="0" anchor="ctr"/>
          <a:lstStyle/>
          <a:p>
            <a:pPr indent="0" marL="0">
              <a:buNone/>
            </a:pPr>
            <a:r>
              <a:rPr lang="en-US" sz="1200" dirty="0">
                <a:solidFill>
                  <a:schemeClr val="accent6"/>
                </a:solidFill>
              </a:rPr>
              <a:t>Same sentence, laptop CPU. Griffin-Lim and HiFi-GAN get the identical mel, so only the vocoder differs (WaveRNN time includes Tacotron 2, about 1 s). Audio: samples/main_griffinlim/, samples/main_hifigan/.</a:t>
            </a:r>
            <a:endParaRPr lang="en-US" sz="1200" dirty="0"/>
          </a:p>
        </p:txBody>
      </p:sp>
      <p:sp>
        <p:nvSpPr>
          <p:cNvPr id="22" name="Owner tag"/>
          <p:cNvSpPr txBox="1"/>
          <p:nvPr/>
        </p:nvSpPr>
        <p:spPr>
          <a:xfrm>
            <a:off x="5943600" y="4754880"/>
            <a:ext cx="2194560" cy="274320"/>
          </a:xfrm>
          <a:prstGeom prst="rect">
            <a:avLst/>
          </a:prstGeom>
          <a:noFill/>
          <a:ln/>
        </p:spPr>
        <p:txBody>
          <a:bodyPr wrap="square" lIns="0" tIns="0" rIns="0" bIns="0" rtlCol="0" anchor="ctr"/>
          <a:lstStyle/>
          <a:p>
            <a:pPr algn="r" indent="0" marL="0">
              <a:buNone/>
            </a:pPr>
            <a:r>
              <a:rPr lang="en-US" sz="1000" i="1" dirty="0">
                <a:solidFill>
                  <a:schemeClr val="accent6"/>
                </a:solidFill>
              </a:rPr>
              <a:t>Mann</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Attention reads text in order</a:t>
            </a:r>
            <a:endParaRPr lang="en-US" sz="3000" dirty="0"/>
          </a:p>
        </p:txBody>
      </p:sp>
      <p:pic>
        <p:nvPicPr>
          <p:cNvPr id="3" name="Alignment plot" descr="Tacotron 2 mel spectrogram and attention alignment for a 111-character sentence; the alignment forms a clean diagonal.">    </p:cNvPr>
          <p:cNvPicPr>
            <a:picLocks noChangeAspect="1"/>
          </p:cNvPicPr>
          <p:nvPr/>
        </p:nvPicPr>
        <p:blipFill>
          <a:blip r:embed="rId1"/>
          <a:stretch>
            <a:fillRect/>
          </a:stretch>
        </p:blipFill>
        <p:spPr>
          <a:xfrm>
            <a:off x="457200" y="1005840"/>
            <a:ext cx="5120640" cy="3584448"/>
          </a:xfrm>
          <a:prstGeom prst="rect">
            <a:avLst/>
          </a:prstGeom>
        </p:spPr>
      </p:pic>
      <p:sp>
        <p:nvSpPr>
          <p:cNvPr id="4" name="Monotonic value"/>
          <p:cNvSpPr txBox="1"/>
          <p:nvPr/>
        </p:nvSpPr>
        <p:spPr>
          <a:xfrm>
            <a:off x="5852160" y="1097280"/>
            <a:ext cx="2834640" cy="64008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95–97%</a:t>
            </a:r>
            <a:endParaRPr lang="en-US" sz="4000" dirty="0"/>
          </a:p>
        </p:txBody>
      </p:sp>
      <p:sp>
        <p:nvSpPr>
          <p:cNvPr id="5" name="Monotonic label"/>
          <p:cNvSpPr txBox="1"/>
          <p:nvPr/>
        </p:nvSpPr>
        <p:spPr>
          <a:xfrm>
            <a:off x="5852160" y="1737360"/>
            <a:ext cx="2834640" cy="502920"/>
          </a:xfrm>
          <a:prstGeom prst="rect">
            <a:avLst/>
          </a:prstGeom>
          <a:noFill/>
          <a:ln/>
        </p:spPr>
        <p:txBody>
          <a:bodyPr wrap="square" lIns="0" tIns="0" rIns="0" bIns="0" rtlCol="0" anchor="ctr"/>
          <a:lstStyle/>
          <a:p>
            <a:pPr indent="0" marL="0">
              <a:buNone/>
            </a:pPr>
            <a:r>
              <a:rPr lang="en-US" sz="1300" dirty="0">
                <a:solidFill>
                  <a:schemeClr val="accent6"/>
                </a:solidFill>
              </a:rPr>
              <a:t>of decoder steps never move backwards in the text</a:t>
            </a:r>
            <a:endParaRPr lang="en-US" sz="1300" dirty="0"/>
          </a:p>
        </p:txBody>
      </p:sp>
      <p:sp>
        <p:nvSpPr>
          <p:cNvPr id="6" name="Coverage value"/>
          <p:cNvSpPr txBox="1"/>
          <p:nvPr/>
        </p:nvSpPr>
        <p:spPr>
          <a:xfrm>
            <a:off x="5852160" y="2377440"/>
            <a:ext cx="2834640" cy="64008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84–88%</a:t>
            </a:r>
            <a:endParaRPr lang="en-US" sz="4000" dirty="0"/>
          </a:p>
        </p:txBody>
      </p:sp>
      <p:sp>
        <p:nvSpPr>
          <p:cNvPr id="7" name="Coverage label"/>
          <p:cNvSpPr txBox="1"/>
          <p:nvPr/>
        </p:nvSpPr>
        <p:spPr>
          <a:xfrm>
            <a:off x="5852160" y="3017520"/>
            <a:ext cx="2834640" cy="594360"/>
          </a:xfrm>
          <a:prstGeom prst="rect">
            <a:avLst/>
          </a:prstGeom>
          <a:noFill/>
          <a:ln/>
        </p:spPr>
        <p:txBody>
          <a:bodyPr wrap="square" lIns="0" tIns="0" rIns="0" bIns="0" rtlCol="0" anchor="ctr"/>
          <a:lstStyle/>
          <a:p>
            <a:pPr indent="0" marL="0">
              <a:buNone/>
            </a:pPr>
            <a:r>
              <a:rPr lang="en-US" sz="1300" dirty="0">
                <a:solidFill>
                  <a:schemeClr val="accent6"/>
                </a:solidFill>
              </a:rPr>
              <a:t>of characters become the main focus (spaces and punctuation are passed quickly)</a:t>
            </a:r>
            <a:endParaRPr lang="en-US" sz="1300" dirty="0"/>
          </a:p>
        </p:txBody>
      </p:sp>
      <p:sp>
        <p:nvSpPr>
          <p:cNvPr id="8" name="Attention takeaway"/>
          <p:cNvSpPr txBox="1"/>
          <p:nvPr/>
        </p:nvSpPr>
        <p:spPr>
          <a:xfrm>
            <a:off x="5852160" y="3749040"/>
            <a:ext cx="2834640" cy="822960"/>
          </a:xfrm>
          <a:prstGeom prst="rect">
            <a:avLst/>
          </a:prstGeom>
          <a:noFill/>
          <a:ln/>
        </p:spPr>
        <p:txBody>
          <a:bodyPr wrap="square" lIns="0" tIns="0" rIns="0" bIns="0" rtlCol="0" anchor="t"/>
          <a:lstStyle/>
          <a:p>
            <a:pPr indent="0" marL="0">
              <a:buNone/>
            </a:pPr>
            <a:r>
              <a:rPr lang="en-US" sz="1400" b="1" dirty="0">
                <a:solidFill>
                  <a:schemeClr val="tx1"/>
                </a:solidFill>
              </a:rPr>
              <a:t>A clean diagonal means no repeated or skipped words, which is exactly what the 2018 model got wrong.</a:t>
            </a:r>
            <a:endParaRPr lang="en-US" sz="1400" dirty="0"/>
          </a:p>
        </p:txBody>
      </p:sp>
      <p:sp>
        <p:nvSpPr>
          <p:cNvPr id="9" name="Owner tag"/>
          <p:cNvSpPr txBox="1"/>
          <p:nvPr/>
        </p:nvSpPr>
        <p:spPr>
          <a:xfrm>
            <a:off x="5943600" y="4754880"/>
            <a:ext cx="2194560" cy="274320"/>
          </a:xfrm>
          <a:prstGeom prst="rect">
            <a:avLst/>
          </a:prstGeom>
          <a:noFill/>
          <a:ln/>
        </p:spPr>
        <p:txBody>
          <a:bodyPr wrap="square" lIns="0" tIns="0" rIns="0" bIns="0" rtlCol="0" anchor="ctr"/>
          <a:lstStyle/>
          <a:p>
            <a:pPr algn="r" indent="0" marL="0">
              <a:buNone/>
            </a:pPr>
            <a:r>
              <a:rPr lang="en-US" sz="1000" i="1" dirty="0">
                <a:solidFill>
                  <a:schemeClr val="accent6"/>
                </a:solidFill>
              </a:rPr>
              <a:t>Mann</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Objective score: mel distance</a:t>
            </a:r>
            <a:endParaRPr lang="en-US" sz="3000" dirty="0"/>
          </a:p>
        </p:txBody>
      </p:sp>
      <p:graphicFrame>
        <p:nvGraphicFramePr>
          <p:cNvPr id="3" name="Mel distance chart" descr=""/>
          <p:cNvGraphicFramePr/>
          <p:nvPr/>
        </p:nvGraphicFramePr>
        <p:xfrm>
          <a:off x="457200" y="1005840"/>
          <a:ext cx="4937760" cy="3566160"/>
        </p:xfrm>
        <a:graphic xmlns:a="http://schemas.openxmlformats.org/drawingml/2006/main">
          <a:graphicData uri="http://schemas.openxmlformats.org/drawingml/2006/chart">
            <c:chart xmlns:c="http://schemas.openxmlformats.org/drawingml/2006/chart" r:id="rId1"/>
          </a:graphicData>
        </a:graphic>
      </p:graphicFrame>
      <p:sp>
        <p:nvSpPr>
          <p:cNvPr id="4" name="Improvement value"/>
          <p:cNvSpPr txBox="1"/>
          <p:nvPr/>
        </p:nvSpPr>
        <p:spPr>
          <a:xfrm>
            <a:off x="5669280" y="1097280"/>
            <a:ext cx="3017520" cy="64008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27% lower</a:t>
            </a:r>
            <a:endParaRPr lang="en-US" sz="3600" dirty="0"/>
          </a:p>
        </p:txBody>
      </p:sp>
      <p:sp>
        <p:nvSpPr>
          <p:cNvPr id="5" name="Improvement label"/>
          <p:cNvSpPr txBox="1"/>
          <p:nvPr/>
        </p:nvSpPr>
        <p:spPr>
          <a:xfrm>
            <a:off x="5669280" y="1691640"/>
            <a:ext cx="3017520" cy="320040"/>
          </a:xfrm>
          <a:prstGeom prst="rect">
            <a:avLst/>
          </a:prstGeom>
          <a:noFill/>
          <a:ln/>
        </p:spPr>
        <p:txBody>
          <a:bodyPr wrap="square" lIns="0" tIns="0" rIns="0" bIns="0" rtlCol="0" anchor="ctr"/>
          <a:lstStyle/>
          <a:p>
            <a:pPr indent="0" marL="0">
              <a:buNone/>
            </a:pPr>
            <a:r>
              <a:rPr lang="en-US" sz="1300" dirty="0">
                <a:solidFill>
                  <a:schemeClr val="accent6"/>
                </a:solidFill>
              </a:rPr>
              <a:t>mel L1 distance than our baseline</a:t>
            </a:r>
            <a:endParaRPr lang="en-US" sz="1300" dirty="0"/>
          </a:p>
        </p:txBody>
      </p:sp>
      <p:sp>
        <p:nvSpPr>
          <p:cNvPr id="6" name="Method list"/>
          <p:cNvSpPr txBox="1"/>
          <p:nvPr/>
        </p:nvSpPr>
        <p:spPr>
          <a:xfrm>
            <a:off x="5669280" y="2194560"/>
            <a:ext cx="3017520" cy="128016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20 held-out test clips</a:t>
            </a:r>
            <a:endParaRPr lang="en-US" sz="1300" dirty="0"/>
          </a:p>
          <a:p>
            <a:pPr marL="342900" indent="-342900">
              <a:spcAft>
                <a:spcPts val="400"/>
              </a:spcAft>
              <a:buSzPct val="100000"/>
              <a:buChar char="•"/>
            </a:pPr>
            <a:r>
              <a:rPr lang="en-US" sz="1300" dirty="0">
                <a:solidFill>
                  <a:schemeClr val="tx1"/>
                </a:solidFill>
              </a:rPr>
              <a:t>Generated audio → mel with the same settings</a:t>
            </a:r>
            <a:endParaRPr lang="en-US" sz="1300" dirty="0"/>
          </a:p>
          <a:p>
            <a:pPr marL="342900" indent="-342900">
              <a:spcAft>
                <a:spcPts val="400"/>
              </a:spcAft>
              <a:buSzPct val="100000"/>
              <a:buChar char="•"/>
            </a:pPr>
            <a:r>
              <a:rPr lang="en-US" sz="1300" dirty="0">
                <a:solidFill>
                  <a:schemeClr val="tx1"/>
                </a:solidFill>
              </a:rPr>
              <a:t>DTW lines up the two mels in time before comparing</a:t>
            </a:r>
            <a:endParaRPr lang="en-US" sz="1300" dirty="0"/>
          </a:p>
        </p:txBody>
      </p:sp>
      <p:sp>
        <p:nvSpPr>
          <p:cNvPr id="7" name="Caveat"/>
          <p:cNvSpPr txBox="1"/>
          <p:nvPr/>
        </p:nvSpPr>
        <p:spPr>
          <a:xfrm>
            <a:off x="5669280" y="3566160"/>
            <a:ext cx="3017520" cy="1005840"/>
          </a:xfrm>
          <a:prstGeom prst="rect">
            <a:avLst/>
          </a:prstGeom>
          <a:noFill/>
          <a:ln/>
        </p:spPr>
        <p:txBody>
          <a:bodyPr wrap="square" lIns="0" tIns="0" rIns="0" bIns="0" rtlCol="0" anchor="t"/>
          <a:lstStyle/>
          <a:p>
            <a:pPr indent="0" marL="0">
              <a:buNone/>
            </a:pPr>
            <a:r>
              <a:rPr lang="en-US" sz="1200" b="1" dirty="0">
                <a:solidFill>
                  <a:schemeClr val="accent6"/>
                </a:solidFill>
              </a:rPr>
              <a:t>Caveat: </a:t>
            </a:r>
            <a:pPr indent="0" marL="0">
              <a:buNone/>
            </a:pPr>
            <a:r>
              <a:rPr lang="en-US" sz="1200" dirty="0">
                <a:solidFill>
                  <a:schemeClr val="accent6"/>
                </a:solidFill>
              </a:rPr>
              <a:t>Tacotron 2 was pretrained on all of LJ Speech, so it may have seen these clips. The gap favours it.</a:t>
            </a:r>
            <a:endParaRPr lang="en-US" sz="1200" dirty="0"/>
          </a:p>
        </p:txBody>
      </p:sp>
      <p:sp>
        <p:nvSpPr>
          <p:cNvPr id="8" name="Owner tag"/>
          <p:cNvSpPr txBox="1"/>
          <p:nvPr/>
        </p:nvSpPr>
        <p:spPr>
          <a:xfrm>
            <a:off x="5943600" y="4754880"/>
            <a:ext cx="2194560" cy="274320"/>
          </a:xfrm>
          <a:prstGeom prst="rect">
            <a:avLst/>
          </a:prstGeom>
          <a:noFill/>
          <a:ln/>
        </p:spPr>
        <p:txBody>
          <a:bodyPr wrap="square" lIns="0" tIns="0" rIns="0" bIns="0" rtlCol="0" anchor="ctr"/>
          <a:lstStyle/>
          <a:p>
            <a:pPr algn="r" indent="0" marL="0">
              <a:buNone/>
            </a:pPr>
            <a:r>
              <a:rPr lang="en-US" sz="1000" i="1" dirty="0">
                <a:solidFill>
                  <a:schemeClr val="accent6"/>
                </a:solidFill>
              </a:rPr>
              <a:t>Deekshitha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Why the baseline sounds like noise</a:t>
            </a:r>
            <a:endParaRPr lang="en-US" sz="3000" dirty="0"/>
          </a:p>
        </p:txBody>
      </p:sp>
      <p:pic>
        <p:nvPicPr>
          <p:cNvPr id="3" name="Baseline vs main mel plot" descr="Mel spectrograms of the same sentence: the baseline is a smooth blur with no syllables, while Tacotron 2 plus HiFi-GAN shows separate syllables, pauses and pitch harmonics.">    </p:cNvPr>
          <p:cNvPicPr>
            <a:picLocks noChangeAspect="1"/>
          </p:cNvPicPr>
          <p:nvPr/>
        </p:nvPicPr>
        <p:blipFill>
          <a:blip r:embed="rId1"/>
          <a:stretch>
            <a:fillRect/>
          </a:stretch>
        </p:blipFill>
        <p:spPr>
          <a:xfrm>
            <a:off x="457200" y="1097280"/>
            <a:ext cx="5486400" cy="3072384"/>
          </a:xfrm>
          <a:prstGeom prst="rect">
            <a:avLst/>
          </a:prstGeom>
        </p:spPr>
      </p:pic>
      <p:sp>
        <p:nvSpPr>
          <p:cNvPr id="4" name="Main reads"/>
          <p:cNvSpPr txBox="1"/>
          <p:nvPr/>
        </p:nvSpPr>
        <p:spPr>
          <a:xfrm>
            <a:off x="6035040" y="1051560"/>
            <a:ext cx="2651760" cy="1188720"/>
          </a:xfrm>
          <a:prstGeom prst="rect">
            <a:avLst/>
          </a:prstGeom>
          <a:noFill/>
          <a:ln/>
        </p:spPr>
        <p:txBody>
          <a:bodyPr wrap="square" lIns="0" tIns="0" rIns="0" bIns="0" rtlCol="0" anchor="t"/>
          <a:lstStyle/>
          <a:p>
            <a:pPr indent="0" marL="0">
              <a:buNone/>
            </a:pPr>
            <a:r>
              <a:rPr lang="en-US" sz="1300" b="1" dirty="0">
                <a:solidFill>
                  <a:schemeClr val="accent1"/>
                </a:solidFill>
              </a:rPr>
              <a:t>Tacotron 2</a:t>
            </a:r>
            <a:endParaRPr lang="en-US" sz="1300" dirty="0"/>
          </a:p>
          <a:p>
            <a:pPr indent="0" marL="0">
              <a:buNone/>
            </a:pPr>
            <a:r>
              <a:rPr lang="en-US" sz="1300" dirty="0">
                <a:solidFill>
                  <a:schemeClr val="tx1"/>
                </a:solidFill>
              </a:rPr>
              <a:t>Separate syllables, pauses between words, pitch stripes, and the hiss of each "s" and "sh".</a:t>
            </a:r>
            <a:endParaRPr lang="en-US" sz="1300" dirty="0"/>
          </a:p>
        </p:txBody>
      </p:sp>
      <p:sp>
        <p:nvSpPr>
          <p:cNvPr id="5" name="Baseline reads"/>
          <p:cNvSpPr txBox="1"/>
          <p:nvPr/>
        </p:nvSpPr>
        <p:spPr>
          <a:xfrm>
            <a:off x="6035040" y="2286000"/>
            <a:ext cx="2651760" cy="1188720"/>
          </a:xfrm>
          <a:prstGeom prst="rect">
            <a:avLst/>
          </a:prstGeom>
          <a:noFill/>
          <a:ln/>
        </p:spPr>
        <p:txBody>
          <a:bodyPr wrap="square" lIns="0" tIns="0" rIns="0" bIns="0" rtlCol="0" anchor="t"/>
          <a:lstStyle/>
          <a:p>
            <a:pPr indent="0" marL="0">
              <a:buNone/>
            </a:pPr>
            <a:r>
              <a:rPr lang="en-US" sz="1300" b="1" dirty="0">
                <a:solidFill>
                  <a:schemeClr val="accent2"/>
                </a:solidFill>
              </a:rPr>
              <a:t>Our baseline</a:t>
            </a:r>
            <a:endParaRPr lang="en-US" sz="1300" dirty="0"/>
          </a:p>
          <a:p>
            <a:pPr indent="0" marL="0">
              <a:buNone/>
            </a:pPr>
            <a:r>
              <a:rPr lang="en-US" sz="1300" dirty="0">
                <a:solidFill>
                  <a:schemeClr val="tx1"/>
                </a:solidFill>
              </a:rPr>
              <a:t>One smooth blur. It cannot learn when each sound happens, so it predicts the average spectrum.</a:t>
            </a:r>
            <a:endParaRPr lang="en-US" sz="1300" dirty="0"/>
          </a:p>
        </p:txBody>
      </p:sp>
      <p:sp>
        <p:nvSpPr>
          <p:cNvPr id="6" name="Compare takeaway"/>
          <p:cNvSpPr txBox="1"/>
          <p:nvPr/>
        </p:nvSpPr>
        <p:spPr>
          <a:xfrm>
            <a:off x="6035040" y="3520440"/>
            <a:ext cx="2651760" cy="1051560"/>
          </a:xfrm>
          <a:prstGeom prst="rect">
            <a:avLst/>
          </a:prstGeom>
          <a:noFill/>
          <a:ln/>
        </p:spPr>
        <p:txBody>
          <a:bodyPr wrap="square" lIns="0" tIns="0" rIns="0" bIns="0" rtlCol="0" anchor="t"/>
          <a:lstStyle/>
          <a:p>
            <a:pPr indent="0" marL="0">
              <a:buNone/>
            </a:pPr>
            <a:r>
              <a:rPr lang="en-US" sz="1300" b="1" dirty="0">
                <a:solidFill>
                  <a:schemeClr val="tx1"/>
                </a:solidFill>
              </a:rPr>
              <a:t>Without learned timing (attention), the model collapses to the mean: the 2018 paper's failure, reproduced.</a:t>
            </a:r>
            <a:endParaRPr lang="en-US" sz="1300" dirty="0"/>
          </a:p>
        </p:txBody>
      </p:sp>
      <p:sp>
        <p:nvSpPr>
          <p:cNvPr id="7" name="Owner tag"/>
          <p:cNvSpPr txBox="1"/>
          <p:nvPr/>
        </p:nvSpPr>
        <p:spPr>
          <a:xfrm>
            <a:off x="5943600" y="4754880"/>
            <a:ext cx="2194560" cy="274320"/>
          </a:xfrm>
          <a:prstGeom prst="rect">
            <a:avLst/>
          </a:prstGeom>
          <a:noFill/>
          <a:ln/>
        </p:spPr>
        <p:txBody>
          <a:bodyPr wrap="square" lIns="0" tIns="0" rIns="0" bIns="0" rtlCol="0" anchor="ctr"/>
          <a:lstStyle/>
          <a:p>
            <a:pPr algn="r" indent="0" marL="0">
              <a:buNone/>
            </a:pPr>
            <a:r>
              <a:rPr lang="en-US" sz="1000" i="1" dirty="0">
                <a:solidFill>
                  <a:schemeClr val="accent6"/>
                </a:solidFill>
              </a:rPr>
              <a:t>Mann + Deekshitha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Conclusions</a:t>
            </a:r>
            <a:endParaRPr lang="en-US" sz="3000" dirty="0"/>
          </a:p>
        </p:txBody>
      </p:sp>
      <p:sp>
        <p:nvSpPr>
          <p:cNvPr id="3" name="Conclusion 1 circle"/>
          <p:cNvSpPr/>
          <p:nvPr/>
        </p:nvSpPr>
        <p:spPr>
          <a:xfrm>
            <a:off x="457200" y="1097280"/>
            <a:ext cx="384048" cy="384048"/>
          </a:xfrm>
          <a:prstGeom prst="ellipse">
            <a:avLst/>
          </a:prstGeom>
          <a:solidFill>
            <a:schemeClr val="accent1"/>
          </a:solidFill>
          <a:ln w="12700">
            <a:solidFill>
              <a:schemeClr val="accent1"/>
            </a:solidFill>
            <a:prstDash val="solid"/>
          </a:ln>
        </p:spPr>
      </p:sp>
      <p:sp>
        <p:nvSpPr>
          <p:cNvPr id="4" name="Conclusion 1 label"/>
          <p:cNvSpPr txBox="1"/>
          <p:nvPr/>
        </p:nvSpPr>
        <p:spPr>
          <a:xfrm>
            <a:off x="457200" y="1097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Conclusion 1 head"/>
          <p:cNvSpPr txBox="1"/>
          <p:nvPr/>
        </p:nvSpPr>
        <p:spPr>
          <a:xfrm>
            <a:off x="1005840" y="1051560"/>
            <a:ext cx="4572000" cy="301752"/>
          </a:xfrm>
          <a:prstGeom prst="rect">
            <a:avLst/>
          </a:prstGeom>
          <a:noFill/>
          <a:ln/>
        </p:spPr>
        <p:txBody>
          <a:bodyPr wrap="square" lIns="0" tIns="0" rIns="0" bIns="0" rtlCol="0" anchor="ctr"/>
          <a:lstStyle/>
          <a:p>
            <a:pPr indent="0" marL="0">
              <a:buNone/>
            </a:pPr>
            <a:r>
              <a:rPr lang="en-US" sz="1500" b="1" dirty="0">
                <a:solidFill>
                  <a:schemeClr val="tx1"/>
                </a:solidFill>
              </a:rPr>
              <a:t>Data and depth matter most</a:t>
            </a:r>
            <a:endParaRPr lang="en-US" sz="1500" dirty="0"/>
          </a:p>
        </p:txBody>
      </p:sp>
      <p:sp>
        <p:nvSpPr>
          <p:cNvPr id="6" name="Conclusion 1 body"/>
          <p:cNvSpPr txBox="1"/>
          <p:nvPr/>
        </p:nvSpPr>
        <p:spPr>
          <a:xfrm>
            <a:off x="1005840" y="1353312"/>
            <a:ext cx="4572000" cy="384048"/>
          </a:xfrm>
          <a:prstGeom prst="rect">
            <a:avLst/>
          </a:prstGeom>
          <a:noFill/>
          <a:ln/>
        </p:spPr>
        <p:txBody>
          <a:bodyPr wrap="square" lIns="0" tIns="0" rIns="0" bIns="0" rtlCol="0" anchor="t"/>
          <a:lstStyle/>
          <a:p>
            <a:pPr indent="0" marL="0">
              <a:buNone/>
            </a:pPr>
            <a:r>
              <a:rPr lang="en-US" sz="1200" dirty="0">
                <a:solidFill>
                  <a:schemeClr val="accent6"/>
                </a:solidFill>
              </a:rPr>
              <a:t>Our from-scratch baseline (324 training clips) has a 37% higher mel distance to real speech than Tacotron 2.</a:t>
            </a:r>
            <a:endParaRPr lang="en-US" sz="1200" dirty="0"/>
          </a:p>
        </p:txBody>
      </p:sp>
      <p:sp>
        <p:nvSpPr>
          <p:cNvPr id="7" name="Conclusion 2 circle"/>
          <p:cNvSpPr/>
          <p:nvPr/>
        </p:nvSpPr>
        <p:spPr>
          <a:xfrm>
            <a:off x="457200" y="1810512"/>
            <a:ext cx="384048" cy="384048"/>
          </a:xfrm>
          <a:prstGeom prst="ellipse">
            <a:avLst/>
          </a:prstGeom>
          <a:solidFill>
            <a:schemeClr val="accent1"/>
          </a:solidFill>
          <a:ln w="12700">
            <a:solidFill>
              <a:schemeClr val="accent1"/>
            </a:solidFill>
            <a:prstDash val="solid"/>
          </a:ln>
        </p:spPr>
      </p:sp>
      <p:sp>
        <p:nvSpPr>
          <p:cNvPr id="8" name="Conclusion 2 label"/>
          <p:cNvSpPr txBox="1"/>
          <p:nvPr/>
        </p:nvSpPr>
        <p:spPr>
          <a:xfrm>
            <a:off x="457200" y="181051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Conclusion 2 head"/>
          <p:cNvSpPr txBox="1"/>
          <p:nvPr/>
        </p:nvSpPr>
        <p:spPr>
          <a:xfrm>
            <a:off x="1005840" y="1764792"/>
            <a:ext cx="4572000" cy="301752"/>
          </a:xfrm>
          <a:prstGeom prst="rect">
            <a:avLst/>
          </a:prstGeom>
          <a:noFill/>
          <a:ln/>
        </p:spPr>
        <p:txBody>
          <a:bodyPr wrap="square" lIns="0" tIns="0" rIns="0" bIns="0" rtlCol="0" anchor="ctr"/>
          <a:lstStyle/>
          <a:p>
            <a:pPr indent="0" marL="0">
              <a:buNone/>
            </a:pPr>
            <a:r>
              <a:rPr lang="en-US" sz="1500" b="1" dirty="0">
                <a:solidFill>
                  <a:schemeClr val="tx1"/>
                </a:solidFill>
              </a:rPr>
              <a:t>Alignment is the key</a:t>
            </a:r>
            <a:endParaRPr lang="en-US" sz="1500" dirty="0"/>
          </a:p>
        </p:txBody>
      </p:sp>
      <p:sp>
        <p:nvSpPr>
          <p:cNvPr id="10" name="Conclusion 2 body"/>
          <p:cNvSpPr txBox="1"/>
          <p:nvPr/>
        </p:nvSpPr>
        <p:spPr>
          <a:xfrm>
            <a:off x="1005840" y="2066544"/>
            <a:ext cx="4572000" cy="384048"/>
          </a:xfrm>
          <a:prstGeom prst="rect">
            <a:avLst/>
          </a:prstGeom>
          <a:noFill/>
          <a:ln/>
        </p:spPr>
        <p:txBody>
          <a:bodyPr wrap="square" lIns="0" tIns="0" rIns="0" bIns="0" rtlCol="0" anchor="t"/>
          <a:lstStyle/>
          <a:p>
            <a:pPr indent="0" marL="0">
              <a:buNone/>
            </a:pPr>
            <a:r>
              <a:rPr lang="en-US" sz="1200" dirty="0">
                <a:solidFill>
                  <a:schemeClr val="accent6"/>
                </a:solidFill>
              </a:rPr>
              <a:t>Tacotron 2's attention forms a clean diagonal (95–97% monotonic), so no repeated words.</a:t>
            </a:r>
            <a:endParaRPr lang="en-US" sz="1200" dirty="0"/>
          </a:p>
        </p:txBody>
      </p:sp>
      <p:sp>
        <p:nvSpPr>
          <p:cNvPr id="11" name="Conclusion 3 circle"/>
          <p:cNvSpPr/>
          <p:nvPr/>
        </p:nvSpPr>
        <p:spPr>
          <a:xfrm>
            <a:off x="457200" y="2523744"/>
            <a:ext cx="384048" cy="384048"/>
          </a:xfrm>
          <a:prstGeom prst="ellipse">
            <a:avLst/>
          </a:prstGeom>
          <a:solidFill>
            <a:schemeClr val="accent1"/>
          </a:solidFill>
          <a:ln w="12700">
            <a:solidFill>
              <a:schemeClr val="accent1"/>
            </a:solidFill>
            <a:prstDash val="solid"/>
          </a:ln>
        </p:spPr>
      </p:sp>
      <p:sp>
        <p:nvSpPr>
          <p:cNvPr id="12" name="Conclusion 3 label"/>
          <p:cNvSpPr txBox="1"/>
          <p:nvPr/>
        </p:nvSpPr>
        <p:spPr>
          <a:xfrm>
            <a:off x="457200" y="252374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Conclusion 3 head"/>
          <p:cNvSpPr txBox="1"/>
          <p:nvPr/>
        </p:nvSpPr>
        <p:spPr>
          <a:xfrm>
            <a:off x="1005840" y="2478024"/>
            <a:ext cx="4572000" cy="301752"/>
          </a:xfrm>
          <a:prstGeom prst="rect">
            <a:avLst/>
          </a:prstGeom>
          <a:noFill/>
          <a:ln/>
        </p:spPr>
        <p:txBody>
          <a:bodyPr wrap="square" lIns="0" tIns="0" rIns="0" bIns="0" rtlCol="0" anchor="ctr"/>
          <a:lstStyle/>
          <a:p>
            <a:pPr indent="0" marL="0">
              <a:buNone/>
            </a:pPr>
            <a:r>
              <a:rPr lang="en-US" sz="1500" b="1" dirty="0">
                <a:solidFill>
                  <a:schemeClr val="tx1"/>
                </a:solidFill>
              </a:rPr>
              <a:t>Vocoder sets the sound quality</a:t>
            </a:r>
            <a:endParaRPr lang="en-US" sz="1500" dirty="0"/>
          </a:p>
        </p:txBody>
      </p:sp>
      <p:sp>
        <p:nvSpPr>
          <p:cNvPr id="14" name="Conclusion 3 body"/>
          <p:cNvSpPr txBox="1"/>
          <p:nvPr/>
        </p:nvSpPr>
        <p:spPr>
          <a:xfrm>
            <a:off x="1005840" y="2779776"/>
            <a:ext cx="4572000" cy="384048"/>
          </a:xfrm>
          <a:prstGeom prst="rect">
            <a:avLst/>
          </a:prstGeom>
          <a:noFill/>
          <a:ln/>
        </p:spPr>
        <p:txBody>
          <a:bodyPr wrap="square" lIns="0" tIns="0" rIns="0" bIns="0" rtlCol="0" anchor="t"/>
          <a:lstStyle/>
          <a:p>
            <a:pPr indent="0" marL="0">
              <a:buNone/>
            </a:pPr>
            <a:r>
              <a:rPr lang="en-US" sz="1200" dirty="0">
                <a:solidFill>
                  <a:schemeClr val="accent6"/>
                </a:solidFill>
              </a:rPr>
              <a:t>On identical mels, HiFi-GAN avoids Griffin-Lim's metallic phase artefacts.</a:t>
            </a:r>
            <a:endParaRPr lang="en-US" sz="1200" dirty="0"/>
          </a:p>
        </p:txBody>
      </p:sp>
      <p:sp>
        <p:nvSpPr>
          <p:cNvPr id="15" name="Conclusion 4 circle"/>
          <p:cNvSpPr/>
          <p:nvPr/>
        </p:nvSpPr>
        <p:spPr>
          <a:xfrm>
            <a:off x="457200" y="3236976"/>
            <a:ext cx="384048" cy="384048"/>
          </a:xfrm>
          <a:prstGeom prst="ellipse">
            <a:avLst/>
          </a:prstGeom>
          <a:solidFill>
            <a:schemeClr val="accent1"/>
          </a:solidFill>
          <a:ln w="12700">
            <a:solidFill>
              <a:schemeClr val="accent1"/>
            </a:solidFill>
            <a:prstDash val="solid"/>
          </a:ln>
        </p:spPr>
      </p:sp>
      <p:sp>
        <p:nvSpPr>
          <p:cNvPr id="16" name="Conclusion 4 label"/>
          <p:cNvSpPr txBox="1"/>
          <p:nvPr/>
        </p:nvSpPr>
        <p:spPr>
          <a:xfrm>
            <a:off x="457200" y="32369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Conclusion 4 head"/>
          <p:cNvSpPr txBox="1"/>
          <p:nvPr/>
        </p:nvSpPr>
        <p:spPr>
          <a:xfrm>
            <a:off x="1005840" y="3191256"/>
            <a:ext cx="4572000" cy="301752"/>
          </a:xfrm>
          <a:prstGeom prst="rect">
            <a:avLst/>
          </a:prstGeom>
          <a:noFill/>
          <a:ln/>
        </p:spPr>
        <p:txBody>
          <a:bodyPr wrap="square" lIns="0" tIns="0" rIns="0" bIns="0" rtlCol="0" anchor="ctr"/>
          <a:lstStyle/>
          <a:p>
            <a:pPr indent="0" marL="0">
              <a:buNone/>
            </a:pPr>
            <a:r>
              <a:rPr lang="en-US" sz="1500" b="1" dirty="0">
                <a:solidFill>
                  <a:schemeClr val="tx1"/>
                </a:solidFill>
              </a:rPr>
              <a:t>It runs live on a laptop</a:t>
            </a:r>
            <a:endParaRPr lang="en-US" sz="1500" dirty="0"/>
          </a:p>
        </p:txBody>
      </p:sp>
      <p:sp>
        <p:nvSpPr>
          <p:cNvPr id="18" name="Conclusion 4 body"/>
          <p:cNvSpPr txBox="1"/>
          <p:nvPr/>
        </p:nvSpPr>
        <p:spPr>
          <a:xfrm>
            <a:off x="1005840" y="3493008"/>
            <a:ext cx="4572000" cy="384048"/>
          </a:xfrm>
          <a:prstGeom prst="rect">
            <a:avLst/>
          </a:prstGeom>
          <a:noFill/>
          <a:ln/>
        </p:spPr>
        <p:txBody>
          <a:bodyPr wrap="square" lIns="0" tIns="0" rIns="0" bIns="0" rtlCol="0" anchor="t"/>
          <a:lstStyle/>
          <a:p>
            <a:pPr indent="0" marL="0">
              <a:buNone/>
            </a:pPr>
            <a:r>
              <a:rPr lang="en-US" sz="1200" dirty="0">
                <a:solidFill>
                  <a:schemeClr val="accent6"/>
                </a:solidFill>
              </a:rPr>
              <a:t>Tacotron 2 + HiFi-GAN is faster than real time on CPU.</a:t>
            </a:r>
            <a:endParaRPr lang="en-US" sz="1200" dirty="0"/>
          </a:p>
        </p:txBody>
      </p:sp>
      <p:sp>
        <p:nvSpPr>
          <p:cNvPr id="19" name="Limitations card"/>
          <p:cNvSpPr/>
          <p:nvPr/>
        </p:nvSpPr>
        <p:spPr>
          <a:xfrm>
            <a:off x="5852160" y="1051560"/>
            <a:ext cx="2834640" cy="2788920"/>
          </a:xfrm>
          <a:prstGeom prst="roundRect">
            <a:avLst>
              <a:gd name="adj" fmla="val 2623"/>
            </a:avLst>
          </a:prstGeom>
          <a:solidFill>
            <a:schemeClr val="bg2"/>
          </a:solidFill>
          <a:ln w="12700">
            <a:solidFill>
              <a:schemeClr val="bg2"/>
            </a:solidFill>
            <a:prstDash val="solid"/>
          </a:ln>
        </p:spPr>
      </p:sp>
      <p:sp>
        <p:nvSpPr>
          <p:cNvPr id="20" name="Limitations"/>
          <p:cNvSpPr txBox="1"/>
          <p:nvPr/>
        </p:nvSpPr>
        <p:spPr>
          <a:xfrm>
            <a:off x="6035040" y="1188720"/>
            <a:ext cx="2514600" cy="256032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rPr>
              <a:t>Limitations</a:t>
            </a:r>
            <a:endParaRPr lang="en-US" sz="1300" dirty="0"/>
          </a:p>
          <a:p>
            <a:pPr indent="0" marL="0">
              <a:spcAft>
                <a:spcPts val="400"/>
              </a:spcAft>
              <a:buNone/>
            </a:pPr>
            <a:r>
              <a:rPr lang="en-US" sz="600" dirty="0">
                <a:solidFill>
                  <a:schemeClr val="tx1"/>
                </a:solidFill>
              </a:rPr>
              <a:t> </a:t>
            </a:r>
            <a:endParaRPr lang="en-US" sz="1300" dirty="0"/>
          </a:p>
          <a:p>
            <a:pPr marL="342900" indent="-342900">
              <a:spcAft>
                <a:spcPts val="400"/>
              </a:spcAft>
              <a:buSzPct val="100000"/>
              <a:buChar char="•"/>
            </a:pPr>
            <a:r>
              <a:rPr lang="en-US" sz="1300" dirty="0">
                <a:solidFill>
                  <a:schemeClr val="tx1"/>
                </a:solidFill>
              </a:rPr>
              <a:t>Main models are pretrained, not trained by us</a:t>
            </a:r>
            <a:endParaRPr lang="en-US" sz="1300" dirty="0"/>
          </a:p>
          <a:p>
            <a:pPr marL="342900" indent="-342900">
              <a:spcAft>
                <a:spcPts val="400"/>
              </a:spcAft>
              <a:buSzPct val="100000"/>
              <a:buChar char="•"/>
            </a:pPr>
            <a:r>
              <a:rPr lang="en-US" sz="1300" dirty="0">
                <a:solidFill>
                  <a:schemeClr val="tx1"/>
                </a:solidFill>
              </a:rPr>
              <a:t>Pretrained model may have seen test clips</a:t>
            </a:r>
            <a:endParaRPr lang="en-US" sz="1300" dirty="0"/>
          </a:p>
          <a:p>
            <a:pPr marL="342900" indent="-342900">
              <a:spcAft>
                <a:spcPts val="400"/>
              </a:spcAft>
              <a:buSzPct val="100000"/>
              <a:buChar char="•"/>
            </a:pPr>
            <a:r>
              <a:rPr lang="en-US" sz="1300" dirty="0">
                <a:solidFill>
                  <a:schemeClr val="tx1"/>
                </a:solidFill>
              </a:rPr>
              <a:t>One speaker, English only</a:t>
            </a:r>
            <a:endParaRPr lang="en-US" sz="1300" dirty="0"/>
          </a:p>
          <a:p>
            <a:pPr marL="342900" indent="-342900">
              <a:spcAft>
                <a:spcPts val="400"/>
              </a:spcAft>
              <a:buSzPct val="100000"/>
              <a:buChar char="•"/>
            </a:pPr>
            <a:r>
              <a:rPr lang="en-US" sz="1300" dirty="0">
                <a:solidFill>
                  <a:schemeClr val="tx1"/>
                </a:solidFill>
              </a:rPr>
              <a:t>No formal listening test (MOS)</a:t>
            </a:r>
            <a:endParaRPr lang="en-US" sz="1300" dirty="0"/>
          </a:p>
          <a:p>
            <a:pPr indent="0" marL="0">
              <a:spcAft>
                <a:spcPts val="400"/>
              </a:spcAft>
              <a:buNone/>
            </a:pPr>
            <a:r>
              <a:rPr lang="en-US" sz="600" dirty="0">
                <a:solidFill>
                  <a:schemeClr val="tx1"/>
                </a:solidFill>
              </a:rPr>
              <a:t> </a:t>
            </a:r>
            <a:endParaRPr lang="en-US" sz="1300" dirty="0"/>
          </a:p>
          <a:p>
            <a:pPr indent="0" marL="0">
              <a:spcAft>
                <a:spcPts val="400"/>
              </a:spcAft>
              <a:buNone/>
            </a:pPr>
            <a:r>
              <a:rPr lang="en-US" sz="1300" i="1" dirty="0">
                <a:solidFill>
                  <a:schemeClr val="tx1"/>
                </a:solidFill>
              </a:rPr>
              <a:t>Next: fine-tune Tacotron 2 on a GPU</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Who did what</a:t>
            </a:r>
            <a:endParaRPr lang="en-US" sz="3000" dirty="0"/>
          </a:p>
        </p:txBody>
      </p:sp>
      <p:sp>
        <p:nvSpPr>
          <p:cNvPr id="3" name="Member card 1"/>
          <p:cNvSpPr/>
          <p:nvPr/>
        </p:nvSpPr>
        <p:spPr>
          <a:xfrm>
            <a:off x="457200" y="1051560"/>
            <a:ext cx="4023360" cy="3017520"/>
          </a:xfrm>
          <a:prstGeom prst="roundRect">
            <a:avLst>
              <a:gd name="adj" fmla="val 2424"/>
            </a:avLst>
          </a:prstGeom>
          <a:solidFill>
            <a:schemeClr val="bg2"/>
          </a:solidFill>
          <a:ln w="12700">
            <a:solidFill>
              <a:schemeClr val="bg2"/>
            </a:solidFill>
            <a:prstDash val="solid"/>
          </a:ln>
        </p:spPr>
      </p:sp>
      <p:sp>
        <p:nvSpPr>
          <p:cNvPr id="4" name="Member 1 name"/>
          <p:cNvSpPr txBox="1"/>
          <p:nvPr/>
        </p:nvSpPr>
        <p:spPr>
          <a:xfrm>
            <a:off x="685800" y="1188720"/>
            <a:ext cx="3566160" cy="384048"/>
          </a:xfrm>
          <a:prstGeom prst="rect">
            <a:avLst/>
          </a:prstGeom>
          <a:noFill/>
          <a:ln/>
        </p:spPr>
        <p:txBody>
          <a:bodyPr wrap="square" lIns="0" tIns="0" rIns="0" bIns="0" rtlCol="0" anchor="ctr"/>
          <a:lstStyle/>
          <a:p>
            <a:pPr indent="0" marL="0">
              <a:buNone/>
            </a:pPr>
            <a:r>
              <a:rPr lang="en-US" sz="1800" b="1" dirty="0">
                <a:solidFill>
                  <a:schemeClr val="accent1"/>
                </a:solidFill>
              </a:rPr>
              <a:t>Mann Mehta</a:t>
            </a:r>
            <a:endParaRPr lang="en-US" sz="1800" dirty="0"/>
          </a:p>
        </p:txBody>
      </p:sp>
      <p:sp>
        <p:nvSpPr>
          <p:cNvPr id="5" name="Member 1 work"/>
          <p:cNvSpPr txBox="1"/>
          <p:nvPr/>
        </p:nvSpPr>
        <p:spPr>
          <a:xfrm>
            <a:off x="685800" y="1645920"/>
            <a:ext cx="3566160" cy="219456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rPr>
              <a:t>Repo, environment, shared audio settings</a:t>
            </a:r>
            <a:endParaRPr lang="en-US" sz="1400" dirty="0"/>
          </a:p>
          <a:p>
            <a:pPr marL="342900" indent="-342900">
              <a:spcAft>
                <a:spcPts val="300"/>
              </a:spcAft>
              <a:buSzPct val="100000"/>
              <a:buChar char="•"/>
            </a:pPr>
            <a:r>
              <a:rPr lang="en-US" sz="1400" dirty="0">
                <a:solidFill>
                  <a:schemeClr val="tx1"/>
                </a:solidFill>
              </a:rPr>
              <a:t>Tacotron 2 integration</a:t>
            </a:r>
            <a:endParaRPr lang="en-US" sz="1400" dirty="0"/>
          </a:p>
          <a:p>
            <a:pPr marL="342900" indent="-342900">
              <a:spcAft>
                <a:spcPts val="300"/>
              </a:spcAft>
              <a:buSzPct val="100000"/>
              <a:buChar char="•"/>
            </a:pPr>
            <a:r>
              <a:rPr lang="en-US" sz="1400" dirty="0">
                <a:solidFill>
                  <a:schemeClr val="tx1"/>
                </a:solidFill>
              </a:rPr>
              <a:t>Griffin-Lim and HiFi-GAN vocoders</a:t>
            </a:r>
            <a:endParaRPr lang="en-US" sz="1400" dirty="0"/>
          </a:p>
          <a:p>
            <a:pPr marL="342900" indent="-342900">
              <a:spcAft>
                <a:spcPts val="300"/>
              </a:spcAft>
              <a:buSzPct val="100000"/>
              <a:buChar char="•"/>
            </a:pPr>
            <a:r>
              <a:rPr lang="en-US" sz="1400" dirty="0">
                <a:solidFill>
                  <a:schemeClr val="tx1"/>
                </a:solidFill>
              </a:rPr>
              <a:t>Attention plots and alignment stats</a:t>
            </a:r>
            <a:endParaRPr lang="en-US" sz="1400" dirty="0"/>
          </a:p>
          <a:p>
            <a:pPr marL="342900" indent="-342900">
              <a:spcAft>
                <a:spcPts val="300"/>
              </a:spcAft>
              <a:buSzPct val="100000"/>
              <a:buChar char="•"/>
            </a:pPr>
            <a:r>
              <a:rPr lang="en-US" sz="1400" dirty="0">
                <a:solidFill>
                  <a:schemeClr val="tx1"/>
                </a:solidFill>
              </a:rPr>
              <a:t>Fixed comparison samples</a:t>
            </a:r>
            <a:endParaRPr lang="en-US" sz="1400" dirty="0"/>
          </a:p>
          <a:p>
            <a:pPr marL="342900" indent="-342900">
              <a:spcAft>
                <a:spcPts val="300"/>
              </a:spcAft>
              <a:buSzPct val="100000"/>
              <a:buChar char="•"/>
            </a:pPr>
            <a:r>
              <a:rPr lang="en-US" sz="1400" dirty="0">
                <a:solidFill>
                  <a:schemeClr val="tx1"/>
                </a:solidFill>
              </a:rPr>
              <a:t>Inference CLI, Gradio demo, README</a:t>
            </a:r>
            <a:endParaRPr lang="en-US" sz="1400" dirty="0"/>
          </a:p>
        </p:txBody>
      </p:sp>
      <p:sp>
        <p:nvSpPr>
          <p:cNvPr id="6" name="Member 1 files"/>
          <p:cNvSpPr txBox="1"/>
          <p:nvPr/>
        </p:nvSpPr>
        <p:spPr>
          <a:xfrm>
            <a:off x="685800" y="3474720"/>
            <a:ext cx="3566160" cy="457200"/>
          </a:xfrm>
          <a:prstGeom prst="rect">
            <a:avLst/>
          </a:prstGeom>
          <a:noFill/>
          <a:ln/>
        </p:spPr>
        <p:txBody>
          <a:bodyPr wrap="square" lIns="0" tIns="0" rIns="0" bIns="0" rtlCol="0" anchor="t"/>
          <a:lstStyle/>
          <a:p>
            <a:pPr indent="0" marL="0">
              <a:buNone/>
            </a:pPr>
            <a:r>
              <a:rPr lang="en-US" sz="1100" dirty="0">
                <a:solidFill>
                  <a:schemeClr val="accent6"/>
                </a:solidFill>
                <a:latin typeface="Courier New" pitchFamily="34" charset="0"/>
                <a:ea typeface="Courier New" pitchFamily="34" charset="-122"/>
                <a:cs typeface="Courier New" pitchFamily="34" charset="-120"/>
              </a:rPr>
              <a:t>src/models/tacotron.py, src/vocoder/, src/infer.py, app/</a:t>
            </a:r>
            <a:endParaRPr lang="en-US" sz="1100" dirty="0"/>
          </a:p>
        </p:txBody>
      </p:sp>
      <p:sp>
        <p:nvSpPr>
          <p:cNvPr id="7" name="Member card 2"/>
          <p:cNvSpPr/>
          <p:nvPr/>
        </p:nvSpPr>
        <p:spPr>
          <a:xfrm>
            <a:off x="4663440" y="1051560"/>
            <a:ext cx="4023360" cy="3017520"/>
          </a:xfrm>
          <a:prstGeom prst="roundRect">
            <a:avLst>
              <a:gd name="adj" fmla="val 2424"/>
            </a:avLst>
          </a:prstGeom>
          <a:solidFill>
            <a:schemeClr val="bg2"/>
          </a:solidFill>
          <a:ln w="12700">
            <a:solidFill>
              <a:schemeClr val="bg2"/>
            </a:solidFill>
            <a:prstDash val="solid"/>
          </a:ln>
        </p:spPr>
      </p:sp>
      <p:sp>
        <p:nvSpPr>
          <p:cNvPr id="8" name="Member 2 name"/>
          <p:cNvSpPr txBox="1"/>
          <p:nvPr/>
        </p:nvSpPr>
        <p:spPr>
          <a:xfrm>
            <a:off x="4892040" y="1188720"/>
            <a:ext cx="3566160" cy="384048"/>
          </a:xfrm>
          <a:prstGeom prst="rect">
            <a:avLst/>
          </a:prstGeom>
          <a:noFill/>
          <a:ln/>
        </p:spPr>
        <p:txBody>
          <a:bodyPr wrap="square" lIns="0" tIns="0" rIns="0" bIns="0" rtlCol="0" anchor="ctr"/>
          <a:lstStyle/>
          <a:p>
            <a:pPr indent="0" marL="0">
              <a:buNone/>
            </a:pPr>
            <a:r>
              <a:rPr lang="en-US" sz="1800" b="1" dirty="0">
                <a:solidFill>
                  <a:schemeClr val="accent1"/>
                </a:solidFill>
              </a:rPr>
              <a:t>Marapareddy Deekshitha</a:t>
            </a:r>
            <a:endParaRPr lang="en-US" sz="1800" dirty="0"/>
          </a:p>
        </p:txBody>
      </p:sp>
      <p:sp>
        <p:nvSpPr>
          <p:cNvPr id="9" name="Member 2 work"/>
          <p:cNvSpPr txBox="1"/>
          <p:nvPr/>
        </p:nvSpPr>
        <p:spPr>
          <a:xfrm>
            <a:off x="4892040" y="1645920"/>
            <a:ext cx="3566160" cy="219456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rPr>
              <a:t>LJ Speech download and subset</a:t>
            </a:r>
            <a:endParaRPr lang="en-US" sz="1400" dirty="0"/>
          </a:p>
          <a:p>
            <a:pPr marL="342900" indent="-342900">
              <a:spcAft>
                <a:spcPts val="300"/>
              </a:spcAft>
              <a:buSzPct val="100000"/>
              <a:buChar char="•"/>
            </a:pPr>
            <a:r>
              <a:rPr lang="en-US" sz="1400" dirty="0">
                <a:solidFill>
                  <a:schemeClr val="tx1"/>
                </a:solidFill>
              </a:rPr>
              <a:t>Text cleaning and fixed vocabulary</a:t>
            </a:r>
            <a:endParaRPr lang="en-US" sz="1400" dirty="0"/>
          </a:p>
          <a:p>
            <a:pPr marL="342900" indent="-342900">
              <a:spcAft>
                <a:spcPts val="300"/>
              </a:spcAft>
              <a:buSzPct val="100000"/>
              <a:buChar char="•"/>
            </a:pPr>
            <a:r>
              <a:rPr lang="en-US" sz="1400" dirty="0">
                <a:solidFill>
                  <a:schemeClr val="tx1"/>
                </a:solidFill>
              </a:rPr>
              <a:t>Mel extraction, splits, sanity check</a:t>
            </a:r>
            <a:endParaRPr lang="en-US" sz="1400" dirty="0"/>
          </a:p>
          <a:p>
            <a:pPr marL="342900" indent="-342900">
              <a:spcAft>
                <a:spcPts val="300"/>
              </a:spcAft>
              <a:buSzPct val="100000"/>
              <a:buChar char="•"/>
            </a:pPr>
            <a:r>
              <a:rPr lang="en-US" sz="1400" dirty="0">
                <a:solidFill>
                  <a:schemeClr val="tx1"/>
                </a:solidFill>
              </a:rPr>
              <a:t>Baseline model and its training</a:t>
            </a:r>
            <a:endParaRPr lang="en-US" sz="1400" dirty="0"/>
          </a:p>
          <a:p>
            <a:pPr marL="342900" indent="-342900">
              <a:spcAft>
                <a:spcPts val="300"/>
              </a:spcAft>
              <a:buSzPct val="100000"/>
              <a:buChar char="•"/>
            </a:pPr>
            <a:r>
              <a:rPr lang="en-US" sz="1400" dirty="0">
                <a:solidFill>
                  <a:schemeClr val="tx1"/>
                </a:solidFill>
              </a:rPr>
              <a:t>Mel-distance evaluation</a:t>
            </a:r>
            <a:endParaRPr lang="en-US" sz="1400" dirty="0"/>
          </a:p>
          <a:p>
            <a:pPr marL="342900" indent="-342900">
              <a:spcAft>
                <a:spcPts val="300"/>
              </a:spcAft>
              <a:buSzPct val="100000"/>
              <a:buChar char="•"/>
            </a:pPr>
            <a:r>
              <a:rPr lang="en-US" sz="1400" dirty="0">
                <a:solidFill>
                  <a:schemeClr val="tx1"/>
                </a:solidFill>
              </a:rPr>
              <a:t>Results table</a:t>
            </a:r>
            <a:endParaRPr lang="en-US" sz="1400" dirty="0"/>
          </a:p>
        </p:txBody>
      </p:sp>
      <p:sp>
        <p:nvSpPr>
          <p:cNvPr id="10" name="Member 2 files"/>
          <p:cNvSpPr txBox="1"/>
          <p:nvPr/>
        </p:nvSpPr>
        <p:spPr>
          <a:xfrm>
            <a:off x="4892040" y="3474720"/>
            <a:ext cx="3566160" cy="457200"/>
          </a:xfrm>
          <a:prstGeom prst="rect">
            <a:avLst/>
          </a:prstGeom>
          <a:noFill/>
          <a:ln/>
        </p:spPr>
        <p:txBody>
          <a:bodyPr wrap="square" lIns="0" tIns="0" rIns="0" bIns="0" rtlCol="0" anchor="t"/>
          <a:lstStyle/>
          <a:p>
            <a:pPr indent="0" marL="0">
              <a:buNone/>
            </a:pPr>
            <a:r>
              <a:rPr lang="en-US" sz="1100" dirty="0">
                <a:solidFill>
                  <a:schemeClr val="accent6"/>
                </a:solidFill>
                <a:latin typeface="Courier New" pitchFamily="34" charset="0"/>
                <a:ea typeface="Courier New" pitchFamily="34" charset="-122"/>
                <a:cs typeface="Courier New" pitchFamily="34" charset="-120"/>
              </a:rPr>
              <a:t>src/preprocess/, src/models/baseline.py, eval/</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lIns="0" tIns="0" rIns="0" bIns="0" rtlCol="0" anchor="b"/>
          <a:lstStyle/>
          <a:p>
            <a:pPr algn="l" indent="0" marL="0">
              <a:buNone/>
            </a:pPr>
            <a:r>
              <a:rPr lang="en-US" sz="4800" b="1" dirty="0">
                <a:solidFill>
                  <a:schemeClr val="bg1"/>
                </a:solidFill>
                <a:latin typeface="Arial" pitchFamily="34" charset="0"/>
                <a:ea typeface="Arial" pitchFamily="34" charset="-122"/>
                <a:cs typeface="Arial" pitchFamily="34" charset="-120"/>
              </a:rPr>
              <a:t>Live demo</a:t>
            </a:r>
            <a:endParaRPr lang="en-US" sz="4800" dirty="0"/>
          </a:p>
        </p:txBody>
      </p:sp>
      <p:sp>
        <p:nvSpPr>
          <p:cNvPr id="3" name="Text 0"/>
          <p:cNvSpPr/>
          <p:nvPr>
            <p:ph idx="101" type="body" hasCustomPrompt="1"/>
          </p:nvPr>
        </p:nvSpPr>
        <p:spPr>
          <a:xfrm>
            <a:off x="548640" y="2514600"/>
            <a:ext cx="8046720" cy="548640"/>
          </a:xfrm>
          <a:prstGeom prst="rect">
            <a:avLst/>
          </a:prstGeom>
          <a:noFill/>
          <a:ln/>
        </p:spPr>
        <p:txBody>
          <a:bodyPr wrap="square" lIns="0" tIns="0" rIns="0" bIns="0" rtlCol="0" anchor="t"/>
          <a:lstStyle/>
          <a:p>
            <a:pPr indent="0" marL="0">
              <a:buNone/>
            </a:pPr>
            <a:r>
              <a:rPr lang="en-US" sz="2000" dirty="0">
                <a:solidFill>
                  <a:schemeClr val="bg2"/>
                </a:solidFill>
                <a:latin typeface="Courier New" pitchFamily="34" charset="0"/>
                <a:ea typeface="Courier New" pitchFamily="34" charset="-122"/>
                <a:cs typeface="Courier New" pitchFamily="34" charset="-120"/>
              </a:rPr>
              <a:t>python app/app.py  →  http://127.0.0.1:7860</a:t>
            </a:r>
            <a:endParaRPr lang="en-US" sz="2000" dirty="0"/>
          </a:p>
        </p:txBody>
      </p:sp>
      <p:sp>
        <p:nvSpPr>
          <p:cNvPr id="4" name="Demo step 1 circle"/>
          <p:cNvSpPr/>
          <p:nvPr/>
        </p:nvSpPr>
        <p:spPr>
          <a:xfrm>
            <a:off x="548640" y="3383280"/>
            <a:ext cx="384048" cy="384048"/>
          </a:xfrm>
          <a:prstGeom prst="ellipse">
            <a:avLst/>
          </a:prstGeom>
          <a:solidFill>
            <a:schemeClr val="accent2"/>
          </a:solidFill>
          <a:ln w="12700">
            <a:solidFill>
              <a:schemeClr val="accent2"/>
            </a:solidFill>
            <a:prstDash val="solid"/>
          </a:ln>
        </p:spPr>
      </p:sp>
      <p:sp>
        <p:nvSpPr>
          <p:cNvPr id="5" name="Demo step 1 label"/>
          <p:cNvSpPr txBox="1"/>
          <p:nvPr/>
        </p:nvSpPr>
        <p:spPr>
          <a:xfrm>
            <a:off x="548640" y="3383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Demo step 1 text"/>
          <p:cNvSpPr txBox="1"/>
          <p:nvPr/>
        </p:nvSpPr>
        <p:spPr>
          <a:xfrm>
            <a:off x="1051560" y="3383280"/>
            <a:ext cx="2103120" cy="384048"/>
          </a:xfrm>
          <a:prstGeom prst="rect">
            <a:avLst/>
          </a:prstGeom>
          <a:noFill/>
          <a:ln/>
        </p:spPr>
        <p:txBody>
          <a:bodyPr wrap="square" lIns="0" tIns="0" rIns="0" bIns="0" rtlCol="0" anchor="ctr"/>
          <a:lstStyle/>
          <a:p>
            <a:pPr indent="0" marL="0">
              <a:buNone/>
            </a:pPr>
            <a:r>
              <a:rPr lang="en-US" sz="1500" dirty="0">
                <a:solidFill>
                  <a:schemeClr val="bg1"/>
                </a:solidFill>
              </a:rPr>
              <a:t>Type a sentence</a:t>
            </a:r>
            <a:endParaRPr lang="en-US" sz="1500" dirty="0"/>
          </a:p>
        </p:txBody>
      </p:sp>
      <p:sp>
        <p:nvSpPr>
          <p:cNvPr id="7" name="Demo step 2 circle"/>
          <p:cNvSpPr/>
          <p:nvPr/>
        </p:nvSpPr>
        <p:spPr>
          <a:xfrm>
            <a:off x="3291840" y="3383280"/>
            <a:ext cx="384048" cy="384048"/>
          </a:xfrm>
          <a:prstGeom prst="ellipse">
            <a:avLst/>
          </a:prstGeom>
          <a:solidFill>
            <a:schemeClr val="accent2"/>
          </a:solidFill>
          <a:ln w="12700">
            <a:solidFill>
              <a:schemeClr val="accent2"/>
            </a:solidFill>
            <a:prstDash val="solid"/>
          </a:ln>
        </p:spPr>
      </p:sp>
      <p:sp>
        <p:nvSpPr>
          <p:cNvPr id="8" name="Demo step 2 label"/>
          <p:cNvSpPr txBox="1"/>
          <p:nvPr/>
        </p:nvSpPr>
        <p:spPr>
          <a:xfrm>
            <a:off x="3291840" y="3383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Demo step 2 text"/>
          <p:cNvSpPr txBox="1"/>
          <p:nvPr/>
        </p:nvSpPr>
        <p:spPr>
          <a:xfrm>
            <a:off x="3794760" y="3383280"/>
            <a:ext cx="2103120" cy="384048"/>
          </a:xfrm>
          <a:prstGeom prst="rect">
            <a:avLst/>
          </a:prstGeom>
          <a:noFill/>
          <a:ln/>
        </p:spPr>
        <p:txBody>
          <a:bodyPr wrap="square" lIns="0" tIns="0" rIns="0" bIns="0" rtlCol="0" anchor="ctr"/>
          <a:lstStyle/>
          <a:p>
            <a:pPr indent="0" marL="0">
              <a:buNone/>
            </a:pPr>
            <a:r>
              <a:rPr lang="en-US" sz="1500" dirty="0">
                <a:solidFill>
                  <a:schemeClr val="bg1"/>
                </a:solidFill>
              </a:rPr>
              <a:t>Choose a vocoder</a:t>
            </a:r>
            <a:endParaRPr lang="en-US" sz="1500" dirty="0"/>
          </a:p>
        </p:txBody>
      </p:sp>
      <p:sp>
        <p:nvSpPr>
          <p:cNvPr id="10" name="Demo step 3 circle"/>
          <p:cNvSpPr/>
          <p:nvPr/>
        </p:nvSpPr>
        <p:spPr>
          <a:xfrm>
            <a:off x="6035040" y="3383280"/>
            <a:ext cx="384048" cy="384048"/>
          </a:xfrm>
          <a:prstGeom prst="ellipse">
            <a:avLst/>
          </a:prstGeom>
          <a:solidFill>
            <a:schemeClr val="accent2"/>
          </a:solidFill>
          <a:ln w="12700">
            <a:solidFill>
              <a:schemeClr val="accent2"/>
            </a:solidFill>
            <a:prstDash val="solid"/>
          </a:ln>
        </p:spPr>
      </p:sp>
      <p:sp>
        <p:nvSpPr>
          <p:cNvPr id="11" name="Demo step 3 label"/>
          <p:cNvSpPr txBox="1"/>
          <p:nvPr/>
        </p:nvSpPr>
        <p:spPr>
          <a:xfrm>
            <a:off x="6035040" y="3383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2" name="Demo step 3 text"/>
          <p:cNvSpPr txBox="1"/>
          <p:nvPr/>
        </p:nvSpPr>
        <p:spPr>
          <a:xfrm>
            <a:off x="6537960" y="3383280"/>
            <a:ext cx="2103120" cy="384048"/>
          </a:xfrm>
          <a:prstGeom prst="rect">
            <a:avLst/>
          </a:prstGeom>
          <a:noFill/>
          <a:ln/>
        </p:spPr>
        <p:txBody>
          <a:bodyPr wrap="square" lIns="0" tIns="0" rIns="0" bIns="0" rtlCol="0" anchor="ctr"/>
          <a:lstStyle/>
          <a:p>
            <a:pPr indent="0" marL="0">
              <a:buNone/>
            </a:pPr>
            <a:r>
              <a:rPr lang="en-US" sz="1500" dirty="0">
                <a:solidFill>
                  <a:schemeClr val="bg1"/>
                </a:solidFill>
              </a:rPr>
              <a:t>Hear it, see the alignment</a:t>
            </a:r>
            <a:endParaRPr lang="en-US" sz="1500" dirty="0"/>
          </a:p>
        </p:txBody>
      </p:sp>
      <p:sp>
        <p:nvSpPr>
          <p:cNvPr id="13" name="Demo fallback"/>
          <p:cNvSpPr txBox="1"/>
          <p:nvPr/>
        </p:nvSpPr>
        <p:spPr>
          <a:xfrm>
            <a:off x="548640" y="4251960"/>
            <a:ext cx="8046720" cy="320040"/>
          </a:xfrm>
          <a:prstGeom prst="rect">
            <a:avLst/>
          </a:prstGeom>
          <a:noFill/>
          <a:ln/>
        </p:spPr>
        <p:txBody>
          <a:bodyPr wrap="square" lIns="0" tIns="0" rIns="0" bIns="0" rtlCol="0" anchor="ctr"/>
          <a:lstStyle/>
          <a:p>
            <a:pPr indent="0" marL="0">
              <a:buNone/>
            </a:pPr>
            <a:r>
              <a:rPr lang="en-US" sz="1200" dirty="0">
                <a:solidFill>
                  <a:schemeClr val="accent3"/>
                </a:solidFill>
              </a:rPr>
              <a:t>Backup: pre-generated audio in samples/</a:t>
            </a:r>
            <a:endParaRPr lang="en-US" sz="1200" dirty="0"/>
          </a:p>
        </p:txBody>
      </p:sp>
    </p:spTree>
  </p:cSld>
  <p:clrMapOvr>
    <a:masterClrMapping/>
  </p:clrMapOvr>
</p:sld>
</file>

<file path=ppt/theme/theme1.xml><?xml version="1.0" encoding="utf-8"?>
<a:theme xmlns:a="http://schemas.openxmlformats.org/drawingml/2006/main" name="Colatron">
  <a:themeElements>
    <a:clrScheme name="Colatron">
      <a:dk1>
        <a:srgbClr val="1C1A2E"/>
      </a:dk1>
      <a:lt1>
        <a:srgbClr val="FFFFFF"/>
      </a:lt1>
      <a:dk2>
        <a:srgbClr val="251E52"/>
      </a:dk2>
      <a:lt2>
        <a:srgbClr val="F1EEFA"/>
      </a:lt2>
      <a:accent1>
        <a:srgbClr val="5B3FD9"/>
      </a:accent1>
      <a:accent2>
        <a:srgbClr val="FF6B57"/>
      </a:accent2>
      <a:accent3>
        <a:srgbClr val="A8A2C2"/>
      </a:accent3>
      <a:accent4>
        <a:srgbClr val="2BA89A"/>
      </a:accent4>
      <a:accent5>
        <a:srgbClr val="F2B33D"/>
      </a:accent5>
      <a:accent6>
        <a:srgbClr val="6E6A85"/>
      </a:accent6>
      <a:hlink>
        <a:srgbClr val="5B3FD9"/>
      </a:hlink>
      <a:folHlink>
        <a:srgbClr val="6E6A85"/>
      </a:folHlink>
    </a:clrScheme>
    <a:fontScheme name="Colatron">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Colatron: End-to-End Text-to-Speech</dc:title>
  <dc:subject>PptxGenJS Presentation</dc:subject>
  <dc:creator>Mann Mehta, Marapareddy Deekshitha</dc:creator>
  <cp:lastModifiedBy>Mann Mehta, Marapareddy Deekshitha</cp:lastModifiedBy>
  <cp:revision>1</cp:revision>
  <dcterms:created xsi:type="dcterms:W3CDTF">2026-10-07T16:06:05Z</dcterms:created>
  <dcterms:modified xsi:type="dcterms:W3CDTF">2026-10-07T16:06:05Z</dcterms:modified>
</cp:coreProperties>
</file>