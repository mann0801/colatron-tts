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charts/chart1.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duction" id="{0ca71cc6-c3c8-7163-b21e-60dac038fd29}">
          <p14:sldIdLst>
            <p14:sldId id="256"/>
            <p14:sldId id="257"/>
            <p14:sldId id="258"/>
          </p14:sldIdLst>
        </p14:section>
        <p14:section name="Approach" id="{c0adb9bb-553e-9821-103b-00b0213e4127}">
          <p14:sldIdLst>
            <p14:sldId id="259"/>
            <p14:sldId id="260"/>
            <p14:sldId id="261"/>
            <p14:sldId id="262"/>
            <p14:sldId id="263"/>
            <p14:sldId id="264"/>
            <p14:sldId id="265"/>
            <p14:sldId id="266"/>
          </p14:sldIdLst>
        </p14:section>
        <p14:section name="Results" id="{d3330bde-983d-6550-e31a-671f64f98af1}">
          <p14:sldIdLst>
            <p14:sldId id="267"/>
            <p14:sldId id="268"/>
            <p14:sldId id="269"/>
          </p14:sldIdLst>
        </p14:section>
        <p14:section name="Wrap-up" id="{0033e113-7bf5-252a-4450-52bba9e14d8c}">
          <p14:sldIdLst>
            <p14:sldId id="270"/>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Their listening scores (MOS, out of 5)</a:t>
            </a:r>
          </a:p>
        </c:rich>
      </c:tx>
      <c:layout/>
      <c:overlay val="0"/>
    </c:title>
    <c:autoTitleDeleted val="0"/>
    <c:plotArea>
      <c:layout/>
      <c:barChart>
        <c:barDir val="col"/>
        <c:grouping val="clustered"/>
        <c:varyColors val="0"/>
        <c:ser>
          <c:idx val="0"/>
          <c:order val="0"/>
          <c:tx>
            <c:strRef>
              <c:f>Sheet1!$B$1</c:f>
              <c:strCache>
                <c:ptCount val="1"/>
                <c:pt idx="0">
                  <c:v>MOS</c:v>
                </c:pt>
              </c:strCache>
            </c:strRef>
          </c:tx>
          <c:spPr>
            <a:solidFill>
              <a:srgbClr val="A8A2C2"/>
            </a:solidFill>
            <a:effectLst/>
          </c:spPr>
          <c:invertIfNegative val="0"/>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A8A2C2"/>
              </a:solidFill>
              <a:effectLst/>
            </c:spPr>
          </c:dPt>
          <c:dPt>
            <c:idx val="1"/>
            <c:invertIfNegative val="0"/>
            <c:bubble3D val="0"/>
            <c:spPr>
              <a:solidFill>
                <a:srgbClr val="A8A2C2"/>
              </a:solidFill>
              <a:effectLst/>
            </c:spPr>
          </c:dPt>
          <c:dPt>
            <c:idx val="2"/>
            <c:invertIfNegative val="0"/>
            <c:bubble3D val="0"/>
            <c:spPr>
              <a:solidFill>
                <a:srgbClr val="FF6B57"/>
              </a:solidFill>
              <a:effectLst/>
            </c:spPr>
          </c:dPt>
          <c:dPt>
            <c:idx val="3"/>
            <c:invertIfNegative val="0"/>
            <c:bubble3D val="0"/>
            <c:spPr>
              <a:solidFill>
                <a:srgbClr val="6E6A85"/>
              </a:solidFill>
              <a:effectLst/>
            </c:spPr>
          </c:dPt>
          <c:cat>
            <c:multiLvlStrRef>
              <c:f>Sheet1!$A$2:$A$5</c:f>
              <c:multiLvlStrCache>
                <c:ptCount val="4"/>
                <c:lvl>
                  <c:pt idx="0">
                    <c:v>SVR</c:v>
                  </c:pt>
                  <c:pt idx="1">
                    <c:v>Simple NN</c:v>
                  </c:pt>
                  <c:pt idx="2">
                    <c:v>Seq2seq</c:v>
                  </c:pt>
                  <c:pt idx="3">
                    <c:v>Tacotron*</c:v>
                  </c:pt>
                </c:lvl>
              </c:multiLvlStrCache>
            </c:multiLvlStrRef>
          </c:cat>
          <c:val>
            <c:numRef>
              <c:f>Sheet1!$B$2:$B$5</c:f>
              <c:numCache>
                <c:formatCode>General</c:formatCode>
                <c:ptCount val="4"/>
                <c:pt idx="0">
                  <c:v>1</c:v>
                </c:pt>
                <c:pt idx="1">
                  <c:v>1.7</c:v>
                </c:pt>
                <c:pt idx="2">
                  <c:v>2.5</c:v>
                </c:pt>
                <c:pt idx="3">
                  <c:v>3.82</c:v>
                </c:pt>
              </c:numCache>
            </c:numRef>
          </c:val>
        </c:ser>
        <c:dLbls>
          <c:numFmt formatCode="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5"/>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1"/>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 of words the robot listener got wrong (lower is better)</a:t>
            </a:r>
          </a:p>
        </c:rich>
      </c:tx>
      <c:layout/>
      <c:overlay val="0"/>
    </c:title>
    <c:autoTitleDeleted val="0"/>
    <c:plotArea>
      <c:layout/>
      <c:barChart>
        <c:barDir val="col"/>
        <c:grouping val="clustered"/>
        <c:varyColors val="0"/>
        <c:ser>
          <c:idx val="0"/>
          <c:order val="0"/>
          <c:tx>
            <c:strRef>
              <c:f>Sheet1!$B$1</c:f>
              <c:strCache>
                <c:ptCount val="1"/>
                <c:pt idx="0">
                  <c:v>WER</c:v>
                </c:pt>
              </c:strCache>
            </c:strRef>
          </c:tx>
          <c:spPr>
            <a:solidFill>
              <a:srgbClr val="A8A2C2"/>
            </a:solidFill>
            <a:effectLst/>
          </c:spPr>
          <c:invertIfNegative val="0"/>
          <c:dLbls>
            <c:numFmt formatCode="0&quot;%&quot;"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A8A2C2"/>
              </a:solidFill>
              <a:effectLst/>
            </c:spPr>
          </c:dPt>
          <c:dPt>
            <c:idx val="1"/>
            <c:invertIfNegative val="0"/>
            <c:bubble3D val="0"/>
            <c:spPr>
              <a:solidFill>
                <a:srgbClr val="FF6B57"/>
              </a:solidFill>
              <a:effectLst/>
            </c:spPr>
          </c:dPt>
          <c:dPt>
            <c:idx val="2"/>
            <c:invertIfNegative val="0"/>
            <c:bubble3D val="0"/>
            <c:spPr>
              <a:solidFill>
                <a:srgbClr val="5B3FD9"/>
              </a:solidFill>
              <a:effectLst/>
            </c:spPr>
          </c:dPt>
          <c:dPt>
            <c:idx val="3"/>
            <c:invertIfNegative val="0"/>
            <c:bubble3D val="0"/>
            <c:spPr>
              <a:solidFill>
                <a:srgbClr val="5B3FD9"/>
              </a:solidFill>
              <a:effectLst/>
            </c:spPr>
          </c:dPt>
          <c:dPt>
            <c:idx val="4"/>
            <c:invertIfNegative val="0"/>
            <c:bubble3D val="0"/>
            <c:spPr>
              <a:solidFill>
                <a:srgbClr val="6E6A85"/>
              </a:solidFill>
              <a:effectLst/>
            </c:spPr>
          </c:dPt>
          <c:cat>
            <c:multiLvlStrRef>
              <c:f>Sheet1!$A$2:$A$6</c:f>
              <c:multiLvlStrCache>
                <c:ptCount val="5"/>
                <c:lvl>
                  <c:pt idx="0">
                    <c:v>Real voice</c:v>
                  </c:pt>
                  <c:pt idx="1">
                    <c:v>Baseline</c:v>
                  </c:pt>
                  <c:pt idx="2">
                    <c:v>Colatron
+ Griffin-Lim</c:v>
                  </c:pt>
                  <c:pt idx="3">
                    <c:v>Colatron
+ HiFi-GAN</c:v>
                  </c:pt>
                  <c:pt idx="4">
                    <c:v>Tacotron 2
+ HiFi-GAN</c:v>
                  </c:pt>
                </c:lvl>
              </c:multiLvlStrCache>
            </c:multiLvlStrRef>
          </c:cat>
          <c:val>
            <c:numRef>
              <c:f>Sheet1!$B$2:$B$6</c:f>
              <c:numCache>
                <c:formatCode>General</c:formatCode>
                <c:ptCount val="5"/>
                <c:pt idx="0">
                  <c:v>5.050000000000001</c:v>
                </c:pt>
                <c:pt idx="1">
                  <c:v>99.76</c:v>
                </c:pt>
                <c:pt idx="2">
                  <c:v>9.25</c:v>
                </c:pt>
                <c:pt idx="3">
                  <c:v>8.85</c:v>
                </c:pt>
                <c:pt idx="4">
                  <c:v>16.18</c:v>
                </c:pt>
              </c:numCache>
            </c:numRef>
          </c:val>
        </c:ser>
        <c:dLbls>
          <c:numFmt formatCode="0&quot;%&quot;"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110"/>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2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1C1A2E"/>
                </a:solidFill>
                <a:latin typeface="+mn-lt"/>
              </a:defRPr>
            </a:pPr>
            <a:r>
              <a:rPr sz="1300" b="0" i="0" u="none" strike="noStrike">
                <a:solidFill>
                  <a:srgbClr val="1C1A2E"/>
                </a:solidFill>
                <a:latin typeface="+mn-lt"/>
              </a:rPr>
              <a:t>How different from the real recording (lower is better)</a:t>
            </a:r>
          </a:p>
        </c:rich>
      </c:tx>
      <c:layout/>
      <c:overlay val="0"/>
    </c:title>
    <c:autoTitleDeleted val="0"/>
    <c:plotArea>
      <c:layout/>
      <c:barChart>
        <c:barDir val="col"/>
        <c:grouping val="clustered"/>
        <c:varyColors val="0"/>
        <c:ser>
          <c:idx val="0"/>
          <c:order val="0"/>
          <c:tx>
            <c:strRef>
              <c:f>Sheet1!$B$1</c:f>
              <c:strCache>
                <c:ptCount val="1"/>
                <c:pt idx="0">
                  <c:v>Mel L1</c:v>
                </c:pt>
              </c:strCache>
            </c:strRef>
          </c:tx>
          <c:spPr>
            <a:solidFill>
              <a:srgbClr val="FF6B57"/>
            </a:solidFill>
            <a:effectLst/>
          </c:spPr>
          <c:invertIfNegative val="0"/>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dPt>
            <c:idx val="0"/>
            <c:invertIfNegative val="0"/>
            <c:bubble3D val="0"/>
            <c:spPr>
              <a:solidFill>
                <a:srgbClr val="FF6B57"/>
              </a:solidFill>
              <a:effectLst/>
            </c:spPr>
          </c:dPt>
          <c:dPt>
            <c:idx val="1"/>
            <c:invertIfNegative val="0"/>
            <c:bubble3D val="0"/>
            <c:spPr>
              <a:solidFill>
                <a:srgbClr val="5B3FD9"/>
              </a:solidFill>
              <a:effectLst/>
            </c:spPr>
          </c:dPt>
          <c:dPt>
            <c:idx val="2"/>
            <c:invertIfNegative val="0"/>
            <c:bubble3D val="0"/>
            <c:spPr>
              <a:solidFill>
                <a:srgbClr val="5B3FD9"/>
              </a:solidFill>
              <a:effectLst/>
            </c:spPr>
          </c:dPt>
          <c:dPt>
            <c:idx val="3"/>
            <c:invertIfNegative val="0"/>
            <c:bubble3D val="0"/>
            <c:spPr>
              <a:solidFill>
                <a:srgbClr val="6E6A85"/>
              </a:solidFill>
              <a:effectLst/>
            </c:spPr>
          </c:dPt>
          <c:dPt>
            <c:idx val="4"/>
            <c:invertIfNegative val="0"/>
            <c:bubble3D val="0"/>
            <c:spPr>
              <a:solidFill>
                <a:srgbClr val="6E6A85"/>
              </a:solidFill>
              <a:effectLst/>
            </c:spPr>
          </c:dPt>
          <c:cat>
            <c:multiLvlStrRef>
              <c:f>Sheet1!$A$2:$A$6</c:f>
              <c:multiLvlStrCache>
                <c:ptCount val="5"/>
                <c:lvl>
                  <c:pt idx="0">
                    <c:v>Baseline
+ Griffin-Lim</c:v>
                  </c:pt>
                  <c:pt idx="1">
                    <c:v>Colatron
+ Griffin-Lim</c:v>
                  </c:pt>
                  <c:pt idx="2">
                    <c:v>Colatron
+ HiFi-GAN</c:v>
                  </c:pt>
                  <c:pt idx="3">
                    <c:v>Tacotron 2
+ Griffin-Lim</c:v>
                  </c:pt>
                  <c:pt idx="4">
                    <c:v>Tacotron 2
+ HiFi-GAN</c:v>
                  </c:pt>
                </c:lvl>
              </c:multiLvlStrCache>
            </c:multiLvlStrRef>
          </c:cat>
          <c:val>
            <c:numRef>
              <c:f>Sheet1!$B$2:$B$6</c:f>
              <c:numCache>
                <c:formatCode>General</c:formatCode>
                <c:ptCount val="5"/>
                <c:pt idx="0">
                  <c:v>1.2174</c:v>
                </c:pt>
                <c:pt idx="1">
                  <c:v>0.8164</c:v>
                </c:pt>
                <c:pt idx="2">
                  <c:v>0.8317</c:v>
                </c:pt>
                <c:pt idx="3">
                  <c:v>0.8776</c:v>
                </c:pt>
                <c:pt idx="4">
                  <c:v>0.9012</c:v>
                </c:pt>
              </c:numCache>
            </c:numRef>
          </c:val>
        </c:ser>
        <c:dLbls>
          <c:numFmt formatCode="0.00" sourceLinked="0"/>
          <c:txPr>
            <a:bodyPr/>
            <a:lstStyle/>
            <a:p>
              <a:pPr>
                <a:defRPr b="0" i="0" strike="noStrike" sz="1200" u="none">
                  <a:solidFill>
                    <a:srgbClr val="1C1A2E"/>
                  </a:solidFill>
                  <a:latin typeface="+mn-lt"/>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2"/>
        <c:crosses val="autoZero"/>
        <c:auto val="1"/>
        <c:lblAlgn val="ctr"/>
        <c:noMultiLvlLbl val="1"/>
      </c:catAx>
      <c:valAx>
        <c:axId val="2094734552"/>
        <c:scaling>
          <c:orientation val="minMax"/>
          <c:max val="1.5"/>
          <c:min val="0"/>
        </c:scaling>
        <c:delete val="0"/>
        <c:axPos val="l"/>
        <c:majorGridlines>
          <c:spPr>
            <a:ln w="9525" cap="flat">
              <a:solidFill>
                <a:srgbClr val="E6E3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6E6A85"/>
                </a:solidFill>
                <a:latin typeface="+mn-lt"/>
              </a:defRPr>
            </a:pPr>
            <a:endParaRPr lang="en-US"/>
          </a:p>
        </c:txPr>
        <c:crossAx val="2094734554"/>
        <c:crosses val="autoZero"/>
        <c:crossBetween val="between"/>
        <c:majorUnit val="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team. Our problem statement (number 20) is Colatron, based on a 2018 Stanford CS229 project that tried end-to-end text to speech. We build our own seq2seq model with attention, train it from scratch, and show with numbers that it fixes the paper's failure.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2018 team trained three models on about 200 sentences. Their best, a seq2seq LSTM with attention, scored 2.5 out of 5 from 10 listeners, well below Tacotron's 3.82. Its output repeated words.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paper itself lists these reasons. Each one maps to a specific change in our own model, Colatron, which we trained from scratch.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swappable stages. The acoustic model turns text into a mel spectrogram, a picture of the sound. The vocoder turns that picture into audio. Our main acoustic model is Colatron, trained from scratch. The pretrained Tacotron 2 is only a reference point. Because everything shares one mel format, we can swap parts and compare fairly.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upfront. Our main model, Colatron, is ours and trained from scratch on a laptop CPU. The pretrained Tacotron 2 is only there to show what the same kind of model reaches with days of GPU training. HiFi-GAN turns mels into audio, and the speech recogniser is only used as a judge.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if asked: 80-band log-mel spectrogram, FFT 1024, hop 256, 0 to 8 kHz, 22,050 Hz audio. The paper used about 200 sentences; we use all 13,100. The test clips are the same 40 the baseline was evaluated on, and none of them is ever trained on. The baseline itself was trained on a 404-clip subset (324 train).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if asked: embedding 128, 3 Conv1D layers (256 channels, kernel 5), linear stretch to the target length, MLP to 80 mel bands; L1 loss, Adam 1e-3, batch 16, 60 epochs, 911k parameters. This is our lower bound. The highlighted step is the key weakness: instead of learning which character to read when, it stretches the character features evenly over time. Its output is a blur and sounds like static.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if asked: embedding 256, 3 convolutions, bidirectional LSTM (2 x 128); location-sensitive attention; prenet 256/128 with dropout; attention LSTM 512 and decoder LSTM 512; 3 mel frames per step; stop token; 5-layer convolutional post-net; 7.4M parameters. This is the model the 2018 paper tried to build: seq2seq with attention. Three things make it work on a laptop. Location-sensitive attention remembers where it looked, so it moves forward. Predicting several frames per step means fewer decoder steps. The guided attention loss (Tachibana et al., 2017) pushes the attention towards the diagonal from the start, which is exactly the paper's failure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if asked: losses are L1 + MSE on the mel, binary cross-entropy on the stop token, and guided attention loss (Tachibana et al. 2017). Adam optimiser, gradient clipping 1.0, batch 64. One training step: take 64 clips, let the model draw their spectrograms, measure how wrong it is with three losses, and nudge all 7.4 million weights to be a bit less wrong. During training the decoder sees the real previous frames, which is called teacher forcing. The guided attention loss is the key one: it punishes attention that is far from the diagonal, so the model learns to read in order. Learning rate starts at 0.001 and halves every 8,000 steps after step 8,000. We started on the laptop CPU and moved to a free Colab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 which character the model reads (up) at each decoder step (right). Early on it is already a rough diagonal, later it sharpens. Bottom: validation loss and the speech recogniser's word error rate as training goes on. Monotonic is measured on three sentences the model has never seen.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what happens when you type a sentence in the demo. The big difference from training: there is no real recording to copy, so the decoder feeds itself its own output. The stop rule only lets it finish once attention has reached the end of the text, so it cannot stop halfway. The vocoder is only the last step. Play samples/colatron_griffinlim/05.wav then samples/colatron_hifigan/05.wav: same Colatron mel, the words are the same, only the voice quality changes.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if asked: wav2vec 2.0 base 960h from torchaudio, trained on LibriSpeech audiobooks, never on LJ Speech; greedy decoding; WER = word error rate, CER = character error rate. Numbers are for the step-18,000 checkpoint; the submitted write-up reports the earlier step-5,000 checkpoint (25% WER), training continued after submission. We have no listening test, so we use a speech recogniser as an objective listener. Word error rate is the share of words it gets wrong. Even real recordings are not 0% because the recogniser makes its own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if asked: mel L1 and RMSE after DTW (dynamic time warping) alignment. Mel distance compares each system's output with the real recording of the same sentence, after DTW lines them up in time. Compare bars with the same vocoder: baseline vs Colatron with Griffin-Lim, Colatron vs Tacotron 2 with HiFi-GAN.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Play samples/baseline/05.wav, samples/colatron_hifigan/05.wav, then samples/main_hifigan/05.wav. The picture explains the sound: attention is what turns the blur into speech-like 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paper: their conclusion was that they needed more data and a working attention. We built exactly that, trained it ourselves, and measured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the app before the review so models are loaded. Type a sentence, play Colatron + HiFi-GAN and point at the diagonal. Then the baseline (static), then Tacotron 2 for reference. If anything fails, play the files in samples/.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DARK">
    <p:bg>
      <p:bgPr>
        <a:solidFill>
          <a:schemeClr val="tx2"/>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rtlCol="0"/>
          <a:lstStyle>
            <a:lvl1pPr algn="l" indent="0" marL="0">
              <a:buNone/>
              <a:defRPr lang="en-US" sz="4800" b="1" dirty="0">
                <a:solidFill>
                  <a:schemeClr val="bg1"/>
                </a:solidFill>
                <a:latin typeface="Arial" pitchFamily="34" charset="0"/>
                <a:ea typeface="Arial" pitchFamily="34" charset="-122"/>
                <a:cs typeface="Arial" pitchFamily="34" charset="-120"/>
              </a:defRPr>
            </a:lvl1pPr>
          </a:lstStyle>
          <a:p>
            <a:pPr algn="l" indent="0" marL="0">
              <a:buNone/>
            </a:pP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rtlCol="0"/>
          <a:lstStyle>
            <a:lvl1pPr indent="0" marL="0">
              <a:buNone/>
              <a:defRPr lang="en-US" sz="2000" dirty="0">
                <a:solidFill>
                  <a:schemeClr val="bg2"/>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rtlCol="0"/>
          <a:lstStyle>
            <a:lvl1pPr algn="l" indent="0" marL="0">
              <a:buNone/>
              <a:defRPr lang="en-US" sz="3000" b="1" dirty="0">
                <a:solidFill>
                  <a:schemeClr val="tx2"/>
                </a:solidFill>
                <a:latin typeface="Arial" pitchFamily="34" charset="0"/>
                <a:ea typeface="Arial" pitchFamily="34" charset="-122"/>
                <a:cs typeface="Arial" pitchFamily="34" charset="-120"/>
              </a:defRPr>
            </a:lvl1pPr>
          </a:lstStyle>
          <a:p>
            <a:pPr algn="l" indent="0" marL="0">
              <a:buNone/>
            </a:pPr>
            <a:endParaRPr lang="en-US" sz="3000" dirty="0"/>
          </a:p>
        </p:txBody>
      </p:sp>
      <p:sp>
        <p:nvSpPr>
          <p:cNvPr id="3" name="Text 0"/>
          <p:cNvSpPr/>
          <p:nvPr/>
        </p:nvSpPr>
        <p:spPr>
          <a:xfrm>
            <a:off x="457200" y="4754880"/>
            <a:ext cx="4572000" cy="274320"/>
          </a:xfrm>
          <a:prstGeom prst="rect">
            <a:avLst/>
          </a:prstGeom>
          <a:noFill/>
          <a:ln/>
        </p:spPr>
        <p:txBody>
          <a:bodyPr wrap="square" lIns="0" tIns="0" rIns="0" bIns="0" rtlCol="0" anchor="ctr"/>
          <a:lstStyle/>
          <a:p>
            <a:pPr indent="0" marL="0">
              <a:buNone/>
            </a:pPr>
            <a:r>
              <a:rPr lang="en-US" sz="1000" dirty="0">
                <a:solidFill>
                  <a:schemeClr val="accent6"/>
                </a:solidFill>
              </a:rPr>
              <a:t>Colatron  ·  Team 25  ·  UE24CS352A</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3.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3.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3.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Colatron</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rPr>
              <a:t>End-to-end text-to-speech, rebuilt properly</a:t>
            </a:r>
            <a:endParaRPr lang="en-US" sz="2000" dirty="0"/>
          </a:p>
        </p:txBody>
      </p:sp>
      <p:sp>
        <p:nvSpPr>
          <p:cNvPr id="4" name="Waveform bar 1"/>
          <p:cNvSpPr/>
          <p:nvPr/>
        </p:nvSpPr>
        <p:spPr>
          <a:xfrm>
            <a:off x="548640" y="784098"/>
            <a:ext cx="139148" cy="123444"/>
          </a:xfrm>
          <a:prstGeom prst="roundRect">
            <a:avLst>
              <a:gd name="adj" fmla="val 56361"/>
            </a:avLst>
          </a:prstGeom>
          <a:solidFill>
            <a:srgbClr val="FF6B57"/>
          </a:solidFill>
          <a:ln w="12700">
            <a:solidFill>
              <a:srgbClr val="FF6B57"/>
            </a:solidFill>
            <a:prstDash val="solid"/>
          </a:ln>
        </p:spPr>
      </p:sp>
      <p:sp>
        <p:nvSpPr>
          <p:cNvPr id="5" name="Waveform bar 2"/>
          <p:cNvSpPr/>
          <p:nvPr/>
        </p:nvSpPr>
        <p:spPr>
          <a:xfrm>
            <a:off x="724364" y="747940"/>
            <a:ext cx="139148" cy="195760"/>
          </a:xfrm>
          <a:prstGeom prst="roundRect">
            <a:avLst>
              <a:gd name="adj" fmla="val 50000"/>
            </a:avLst>
          </a:prstGeom>
          <a:solidFill>
            <a:srgbClr val="FF6B57"/>
          </a:solidFill>
          <a:ln w="12700">
            <a:solidFill>
              <a:srgbClr val="FF6B57"/>
            </a:solidFill>
            <a:prstDash val="solid"/>
          </a:ln>
        </p:spPr>
      </p:sp>
      <p:sp>
        <p:nvSpPr>
          <p:cNvPr id="6" name="Waveform bar 3"/>
          <p:cNvSpPr/>
          <p:nvPr/>
        </p:nvSpPr>
        <p:spPr>
          <a:xfrm>
            <a:off x="900088" y="707361"/>
            <a:ext cx="139148" cy="276918"/>
          </a:xfrm>
          <a:prstGeom prst="roundRect">
            <a:avLst>
              <a:gd name="adj" fmla="val 50000"/>
            </a:avLst>
          </a:prstGeom>
          <a:solidFill>
            <a:srgbClr val="FF6B57"/>
          </a:solidFill>
          <a:ln w="12700">
            <a:solidFill>
              <a:srgbClr val="FF6B57"/>
            </a:solidFill>
            <a:prstDash val="solid"/>
          </a:ln>
        </p:spPr>
      </p:sp>
      <p:sp>
        <p:nvSpPr>
          <p:cNvPr id="7" name="Waveform bar 4"/>
          <p:cNvSpPr/>
          <p:nvPr/>
        </p:nvSpPr>
        <p:spPr>
          <a:xfrm>
            <a:off x="1075811" y="665045"/>
            <a:ext cx="139148" cy="361549"/>
          </a:xfrm>
          <a:prstGeom prst="roundRect">
            <a:avLst>
              <a:gd name="adj" fmla="val 50000"/>
            </a:avLst>
          </a:prstGeom>
          <a:solidFill>
            <a:srgbClr val="FF6B57"/>
          </a:solidFill>
          <a:ln w="12700">
            <a:solidFill>
              <a:srgbClr val="FF6B57"/>
            </a:solidFill>
            <a:prstDash val="solid"/>
          </a:ln>
        </p:spPr>
      </p:sp>
      <p:sp>
        <p:nvSpPr>
          <p:cNvPr id="8" name="Waveform bar 5"/>
          <p:cNvSpPr/>
          <p:nvPr/>
        </p:nvSpPr>
        <p:spPr>
          <a:xfrm>
            <a:off x="1251535" y="623959"/>
            <a:ext cx="139148" cy="443721"/>
          </a:xfrm>
          <a:prstGeom prst="roundRect">
            <a:avLst>
              <a:gd name="adj" fmla="val 50000"/>
            </a:avLst>
          </a:prstGeom>
          <a:solidFill>
            <a:srgbClr val="FF6B57"/>
          </a:solidFill>
          <a:ln w="12700">
            <a:solidFill>
              <a:srgbClr val="FF6B57"/>
            </a:solidFill>
            <a:prstDash val="solid"/>
          </a:ln>
        </p:spPr>
      </p:sp>
      <p:sp>
        <p:nvSpPr>
          <p:cNvPr id="9" name="Waveform bar 6"/>
          <p:cNvSpPr/>
          <p:nvPr/>
        </p:nvSpPr>
        <p:spPr>
          <a:xfrm>
            <a:off x="1427259" y="587130"/>
            <a:ext cx="139148" cy="517381"/>
          </a:xfrm>
          <a:prstGeom prst="roundRect">
            <a:avLst>
              <a:gd name="adj" fmla="val 50000"/>
            </a:avLst>
          </a:prstGeom>
          <a:solidFill>
            <a:srgbClr val="FF6B57"/>
          </a:solidFill>
          <a:ln w="12700">
            <a:solidFill>
              <a:srgbClr val="FF6B57"/>
            </a:solidFill>
            <a:prstDash val="solid"/>
          </a:ln>
        </p:spPr>
      </p:sp>
      <p:sp>
        <p:nvSpPr>
          <p:cNvPr id="10" name="Waveform bar 7"/>
          <p:cNvSpPr/>
          <p:nvPr/>
        </p:nvSpPr>
        <p:spPr>
          <a:xfrm>
            <a:off x="1602983" y="557413"/>
            <a:ext cx="139148" cy="576813"/>
          </a:xfrm>
          <a:prstGeom prst="roundRect">
            <a:avLst>
              <a:gd name="adj" fmla="val 50000"/>
            </a:avLst>
          </a:prstGeom>
          <a:solidFill>
            <a:srgbClr val="FF6B57"/>
          </a:solidFill>
          <a:ln w="12700">
            <a:solidFill>
              <a:srgbClr val="FF6B57"/>
            </a:solidFill>
            <a:prstDash val="solid"/>
          </a:ln>
        </p:spPr>
      </p:sp>
      <p:sp>
        <p:nvSpPr>
          <p:cNvPr id="11" name="Waveform bar 8"/>
          <p:cNvSpPr/>
          <p:nvPr/>
        </p:nvSpPr>
        <p:spPr>
          <a:xfrm>
            <a:off x="1778707" y="537279"/>
            <a:ext cx="139148" cy="617082"/>
          </a:xfrm>
          <a:prstGeom prst="roundRect">
            <a:avLst>
              <a:gd name="adj" fmla="val 50000"/>
            </a:avLst>
          </a:prstGeom>
          <a:solidFill>
            <a:srgbClr val="FF6B57"/>
          </a:solidFill>
          <a:ln w="12700">
            <a:solidFill>
              <a:srgbClr val="FF6B57"/>
            </a:solidFill>
            <a:prstDash val="solid"/>
          </a:ln>
        </p:spPr>
      </p:sp>
      <p:sp>
        <p:nvSpPr>
          <p:cNvPr id="12" name="Waveform bar 9"/>
          <p:cNvSpPr/>
          <p:nvPr/>
        </p:nvSpPr>
        <p:spPr>
          <a:xfrm>
            <a:off x="1954431" y="528612"/>
            <a:ext cx="139148" cy="634415"/>
          </a:xfrm>
          <a:prstGeom prst="roundRect">
            <a:avLst>
              <a:gd name="adj" fmla="val 50000"/>
            </a:avLst>
          </a:prstGeom>
          <a:solidFill>
            <a:srgbClr val="FF6B57"/>
          </a:solidFill>
          <a:ln w="12700">
            <a:solidFill>
              <a:srgbClr val="FF6B57"/>
            </a:solidFill>
            <a:prstDash val="solid"/>
          </a:ln>
        </p:spPr>
      </p:sp>
      <p:sp>
        <p:nvSpPr>
          <p:cNvPr id="13" name="Waveform bar 10"/>
          <p:cNvSpPr/>
          <p:nvPr/>
        </p:nvSpPr>
        <p:spPr>
          <a:xfrm>
            <a:off x="2130154" y="532566"/>
            <a:ext cx="139148" cy="626507"/>
          </a:xfrm>
          <a:prstGeom prst="roundRect">
            <a:avLst>
              <a:gd name="adj" fmla="val 50000"/>
            </a:avLst>
          </a:prstGeom>
          <a:solidFill>
            <a:srgbClr val="FF6B57"/>
          </a:solidFill>
          <a:ln w="12700">
            <a:solidFill>
              <a:srgbClr val="FF6B57"/>
            </a:solidFill>
            <a:prstDash val="solid"/>
          </a:ln>
        </p:spPr>
      </p:sp>
      <p:sp>
        <p:nvSpPr>
          <p:cNvPr id="14" name="Waveform bar 11"/>
          <p:cNvSpPr/>
          <p:nvPr/>
        </p:nvSpPr>
        <p:spPr>
          <a:xfrm>
            <a:off x="2305878" y="549463"/>
            <a:ext cx="139148" cy="592714"/>
          </a:xfrm>
          <a:prstGeom prst="roundRect">
            <a:avLst>
              <a:gd name="adj" fmla="val 50000"/>
            </a:avLst>
          </a:prstGeom>
          <a:solidFill>
            <a:srgbClr val="FF6B57"/>
          </a:solidFill>
          <a:ln w="12700">
            <a:solidFill>
              <a:srgbClr val="FF6B57"/>
            </a:solidFill>
            <a:prstDash val="solid"/>
          </a:ln>
        </p:spPr>
      </p:sp>
      <p:sp>
        <p:nvSpPr>
          <p:cNvPr id="15" name="Waveform bar 12"/>
          <p:cNvSpPr/>
          <p:nvPr/>
        </p:nvSpPr>
        <p:spPr>
          <a:xfrm>
            <a:off x="2481602" y="578755"/>
            <a:ext cx="139148" cy="534130"/>
          </a:xfrm>
          <a:prstGeom prst="roundRect">
            <a:avLst>
              <a:gd name="adj" fmla="val 50000"/>
            </a:avLst>
          </a:prstGeom>
          <a:solidFill>
            <a:srgbClr val="FF6B57"/>
          </a:solidFill>
          <a:ln w="12700">
            <a:solidFill>
              <a:srgbClr val="FF6B57"/>
            </a:solidFill>
            <a:prstDash val="solid"/>
          </a:ln>
        </p:spPr>
      </p:sp>
      <p:sp>
        <p:nvSpPr>
          <p:cNvPr id="16" name="Waveform bar 13"/>
          <p:cNvSpPr/>
          <p:nvPr/>
        </p:nvSpPr>
        <p:spPr>
          <a:xfrm>
            <a:off x="2657326" y="619055"/>
            <a:ext cx="139148" cy="453529"/>
          </a:xfrm>
          <a:prstGeom prst="roundRect">
            <a:avLst>
              <a:gd name="adj" fmla="val 50000"/>
            </a:avLst>
          </a:prstGeom>
          <a:solidFill>
            <a:srgbClr val="FF6B57"/>
          </a:solidFill>
          <a:ln w="12700">
            <a:solidFill>
              <a:srgbClr val="FF6B57"/>
            </a:solidFill>
            <a:prstDash val="solid"/>
          </a:ln>
        </p:spPr>
      </p:sp>
      <p:sp>
        <p:nvSpPr>
          <p:cNvPr id="17" name="Waveform bar 14"/>
          <p:cNvSpPr/>
          <p:nvPr/>
        </p:nvSpPr>
        <p:spPr>
          <a:xfrm>
            <a:off x="2833050" y="668226"/>
            <a:ext cx="139148" cy="355189"/>
          </a:xfrm>
          <a:prstGeom prst="roundRect">
            <a:avLst>
              <a:gd name="adj" fmla="val 50000"/>
            </a:avLst>
          </a:prstGeom>
          <a:solidFill>
            <a:srgbClr val="FF6B57"/>
          </a:solidFill>
          <a:ln w="12700">
            <a:solidFill>
              <a:srgbClr val="FF6B57"/>
            </a:solidFill>
            <a:prstDash val="solid"/>
          </a:ln>
        </p:spPr>
      </p:sp>
      <p:sp>
        <p:nvSpPr>
          <p:cNvPr id="18" name="Waveform bar 15"/>
          <p:cNvSpPr/>
          <p:nvPr/>
        </p:nvSpPr>
        <p:spPr>
          <a:xfrm>
            <a:off x="3008774" y="723521"/>
            <a:ext cx="139148" cy="244599"/>
          </a:xfrm>
          <a:prstGeom prst="roundRect">
            <a:avLst>
              <a:gd name="adj" fmla="val 50000"/>
            </a:avLst>
          </a:prstGeom>
          <a:solidFill>
            <a:srgbClr val="FF6B57"/>
          </a:solidFill>
          <a:ln w="12700">
            <a:solidFill>
              <a:srgbClr val="FF6B57"/>
            </a:solidFill>
            <a:prstDash val="solid"/>
          </a:ln>
        </p:spPr>
      </p:sp>
      <p:sp>
        <p:nvSpPr>
          <p:cNvPr id="19" name="Waveform bar 16"/>
          <p:cNvSpPr/>
          <p:nvPr/>
        </p:nvSpPr>
        <p:spPr>
          <a:xfrm>
            <a:off x="3184497" y="781780"/>
            <a:ext cx="139148" cy="128080"/>
          </a:xfrm>
          <a:prstGeom prst="roundRect">
            <a:avLst>
              <a:gd name="adj" fmla="val 54321"/>
            </a:avLst>
          </a:prstGeom>
          <a:solidFill>
            <a:srgbClr val="FF6B57"/>
          </a:solidFill>
          <a:ln w="12700">
            <a:solidFill>
              <a:srgbClr val="FF6B57"/>
            </a:solidFill>
            <a:prstDash val="solid"/>
          </a:ln>
        </p:spPr>
      </p:sp>
      <p:sp>
        <p:nvSpPr>
          <p:cNvPr id="20" name="Waveform bar 17"/>
          <p:cNvSpPr/>
          <p:nvPr/>
        </p:nvSpPr>
        <p:spPr>
          <a:xfrm>
            <a:off x="3360221" y="728546"/>
            <a:ext cx="139148" cy="234547"/>
          </a:xfrm>
          <a:prstGeom prst="roundRect">
            <a:avLst>
              <a:gd name="adj" fmla="val 50000"/>
            </a:avLst>
          </a:prstGeom>
          <a:solidFill>
            <a:srgbClr val="FF6B57"/>
          </a:solidFill>
          <a:ln w="12700">
            <a:solidFill>
              <a:srgbClr val="FF6B57"/>
            </a:solidFill>
            <a:prstDash val="solid"/>
          </a:ln>
        </p:spPr>
      </p:sp>
      <p:sp>
        <p:nvSpPr>
          <p:cNvPr id="21" name="Waveform bar 18"/>
          <p:cNvSpPr/>
          <p:nvPr/>
        </p:nvSpPr>
        <p:spPr>
          <a:xfrm>
            <a:off x="3535945" y="674381"/>
            <a:ext cx="139148" cy="342879"/>
          </a:xfrm>
          <a:prstGeom prst="roundRect">
            <a:avLst>
              <a:gd name="adj" fmla="val 50000"/>
            </a:avLst>
          </a:prstGeom>
          <a:solidFill>
            <a:srgbClr val="FF6B57"/>
          </a:solidFill>
          <a:ln w="12700">
            <a:solidFill>
              <a:srgbClr val="FF6B57"/>
            </a:solidFill>
            <a:prstDash val="solid"/>
          </a:ln>
        </p:spPr>
      </p:sp>
      <p:sp>
        <p:nvSpPr>
          <p:cNvPr id="22" name="Waveform bar 19"/>
          <p:cNvSpPr/>
          <p:nvPr/>
        </p:nvSpPr>
        <p:spPr>
          <a:xfrm>
            <a:off x="3711669" y="626959"/>
            <a:ext cx="139148" cy="437721"/>
          </a:xfrm>
          <a:prstGeom prst="roundRect">
            <a:avLst>
              <a:gd name="adj" fmla="val 50000"/>
            </a:avLst>
          </a:prstGeom>
          <a:solidFill>
            <a:srgbClr val="FF6B57"/>
          </a:solidFill>
          <a:ln w="12700">
            <a:solidFill>
              <a:srgbClr val="FF6B57"/>
            </a:solidFill>
            <a:prstDash val="solid"/>
          </a:ln>
        </p:spPr>
      </p:sp>
      <p:sp>
        <p:nvSpPr>
          <p:cNvPr id="23" name="Waveform bar 20"/>
          <p:cNvSpPr/>
          <p:nvPr/>
        </p:nvSpPr>
        <p:spPr>
          <a:xfrm>
            <a:off x="3887393" y="588839"/>
            <a:ext cx="139148" cy="513962"/>
          </a:xfrm>
          <a:prstGeom prst="roundRect">
            <a:avLst>
              <a:gd name="adj" fmla="val 50000"/>
            </a:avLst>
          </a:prstGeom>
          <a:solidFill>
            <a:srgbClr val="FF6B57"/>
          </a:solidFill>
          <a:ln w="12700">
            <a:solidFill>
              <a:srgbClr val="FF6B57"/>
            </a:solidFill>
            <a:prstDash val="solid"/>
          </a:ln>
        </p:spPr>
      </p:sp>
      <p:sp>
        <p:nvSpPr>
          <p:cNvPr id="24" name="Waveform bar 21"/>
          <p:cNvSpPr/>
          <p:nvPr/>
        </p:nvSpPr>
        <p:spPr>
          <a:xfrm>
            <a:off x="4063117" y="561916"/>
            <a:ext cx="139148" cy="567809"/>
          </a:xfrm>
          <a:prstGeom prst="roundRect">
            <a:avLst>
              <a:gd name="adj" fmla="val 50000"/>
            </a:avLst>
          </a:prstGeom>
          <a:solidFill>
            <a:srgbClr val="FF6B57"/>
          </a:solidFill>
          <a:ln w="12700">
            <a:solidFill>
              <a:srgbClr val="FF6B57"/>
            </a:solidFill>
            <a:prstDash val="solid"/>
          </a:ln>
        </p:spPr>
      </p:sp>
      <p:sp>
        <p:nvSpPr>
          <p:cNvPr id="25" name="Waveform bar 22"/>
          <p:cNvSpPr/>
          <p:nvPr/>
        </p:nvSpPr>
        <p:spPr>
          <a:xfrm>
            <a:off x="4238840" y="547302"/>
            <a:ext cx="139148" cy="597036"/>
          </a:xfrm>
          <a:prstGeom prst="roundRect">
            <a:avLst>
              <a:gd name="adj" fmla="val 50000"/>
            </a:avLst>
          </a:prstGeom>
          <a:solidFill>
            <a:srgbClr val="FF6B57"/>
          </a:solidFill>
          <a:ln w="12700">
            <a:solidFill>
              <a:srgbClr val="FF6B57"/>
            </a:solidFill>
            <a:prstDash val="solid"/>
          </a:ln>
        </p:spPr>
      </p:sp>
      <p:sp>
        <p:nvSpPr>
          <p:cNvPr id="26" name="Waveform bar 23"/>
          <p:cNvSpPr/>
          <p:nvPr/>
        </p:nvSpPr>
        <p:spPr>
          <a:xfrm>
            <a:off x="4414564" y="545259"/>
            <a:ext cx="139148" cy="601121"/>
          </a:xfrm>
          <a:prstGeom prst="roundRect">
            <a:avLst>
              <a:gd name="adj" fmla="val 50000"/>
            </a:avLst>
          </a:prstGeom>
          <a:solidFill>
            <a:srgbClr val="FF6B57"/>
          </a:solidFill>
          <a:ln w="12700">
            <a:solidFill>
              <a:srgbClr val="FF6B57"/>
            </a:solidFill>
            <a:prstDash val="solid"/>
          </a:ln>
        </p:spPr>
      </p:sp>
      <p:sp>
        <p:nvSpPr>
          <p:cNvPr id="27" name="Waveform bar 24"/>
          <p:cNvSpPr/>
          <p:nvPr/>
        </p:nvSpPr>
        <p:spPr>
          <a:xfrm>
            <a:off x="4590288" y="555194"/>
            <a:ext cx="139148" cy="581253"/>
          </a:xfrm>
          <a:prstGeom prst="roundRect">
            <a:avLst>
              <a:gd name="adj" fmla="val 50000"/>
            </a:avLst>
          </a:prstGeom>
          <a:solidFill>
            <a:srgbClr val="FF6B57"/>
          </a:solidFill>
          <a:ln w="12700">
            <a:solidFill>
              <a:srgbClr val="FF6B57"/>
            </a:solidFill>
            <a:prstDash val="solid"/>
          </a:ln>
        </p:spPr>
      </p:sp>
      <p:sp>
        <p:nvSpPr>
          <p:cNvPr id="28" name="Waveform bar 25"/>
          <p:cNvSpPr/>
          <p:nvPr/>
        </p:nvSpPr>
        <p:spPr>
          <a:xfrm>
            <a:off x="4766012" y="575717"/>
            <a:ext cx="139148" cy="540206"/>
          </a:xfrm>
          <a:prstGeom prst="roundRect">
            <a:avLst>
              <a:gd name="adj" fmla="val 50000"/>
            </a:avLst>
          </a:prstGeom>
          <a:solidFill>
            <a:srgbClr val="FF6B57"/>
          </a:solidFill>
          <a:ln w="12700">
            <a:solidFill>
              <a:srgbClr val="FF6B57"/>
            </a:solidFill>
            <a:prstDash val="solid"/>
          </a:ln>
        </p:spPr>
      </p:sp>
      <p:sp>
        <p:nvSpPr>
          <p:cNvPr id="29" name="Waveform bar 26"/>
          <p:cNvSpPr/>
          <p:nvPr/>
        </p:nvSpPr>
        <p:spPr>
          <a:xfrm>
            <a:off x="4941736" y="604766"/>
            <a:ext cx="139148" cy="482108"/>
          </a:xfrm>
          <a:prstGeom prst="roundRect">
            <a:avLst>
              <a:gd name="adj" fmla="val 50000"/>
            </a:avLst>
          </a:prstGeom>
          <a:solidFill>
            <a:srgbClr val="FF6B57"/>
          </a:solidFill>
          <a:ln w="12700">
            <a:solidFill>
              <a:srgbClr val="FF6B57"/>
            </a:solidFill>
            <a:prstDash val="solid"/>
          </a:ln>
        </p:spPr>
      </p:sp>
      <p:sp>
        <p:nvSpPr>
          <p:cNvPr id="30" name="Waveform bar 27"/>
          <p:cNvSpPr/>
          <p:nvPr/>
        </p:nvSpPr>
        <p:spPr>
          <a:xfrm>
            <a:off x="5117459" y="639770"/>
            <a:ext cx="139148" cy="412101"/>
          </a:xfrm>
          <a:prstGeom prst="roundRect">
            <a:avLst>
              <a:gd name="adj" fmla="val 50000"/>
            </a:avLst>
          </a:prstGeom>
          <a:solidFill>
            <a:srgbClr val="FF6B57"/>
          </a:solidFill>
          <a:ln w="12700">
            <a:solidFill>
              <a:srgbClr val="FF6B57"/>
            </a:solidFill>
            <a:prstDash val="solid"/>
          </a:ln>
        </p:spPr>
      </p:sp>
      <p:sp>
        <p:nvSpPr>
          <p:cNvPr id="31" name="Waveform bar 28"/>
          <p:cNvSpPr/>
          <p:nvPr/>
        </p:nvSpPr>
        <p:spPr>
          <a:xfrm>
            <a:off x="5293183" y="677852"/>
            <a:ext cx="139148" cy="335935"/>
          </a:xfrm>
          <a:prstGeom prst="roundRect">
            <a:avLst>
              <a:gd name="adj" fmla="val 50000"/>
            </a:avLst>
          </a:prstGeom>
          <a:solidFill>
            <a:srgbClr val="FF6B57"/>
          </a:solidFill>
          <a:ln w="12700">
            <a:solidFill>
              <a:srgbClr val="FF6B57"/>
            </a:solidFill>
            <a:prstDash val="solid"/>
          </a:ln>
        </p:spPr>
      </p:sp>
      <p:sp>
        <p:nvSpPr>
          <p:cNvPr id="32" name="Waveform bar 29"/>
          <p:cNvSpPr/>
          <p:nvPr/>
        </p:nvSpPr>
        <p:spPr>
          <a:xfrm>
            <a:off x="5468907" y="716059"/>
            <a:ext cx="139148" cy="259522"/>
          </a:xfrm>
          <a:prstGeom prst="roundRect">
            <a:avLst>
              <a:gd name="adj" fmla="val 50000"/>
            </a:avLst>
          </a:prstGeom>
          <a:solidFill>
            <a:srgbClr val="FF6B57"/>
          </a:solidFill>
          <a:ln w="12700">
            <a:solidFill>
              <a:srgbClr val="FF6B57"/>
            </a:solidFill>
            <a:prstDash val="solid"/>
          </a:ln>
        </p:spPr>
      </p:sp>
      <p:sp>
        <p:nvSpPr>
          <p:cNvPr id="33" name="Waveform bar 30"/>
          <p:cNvSpPr/>
          <p:nvPr/>
        </p:nvSpPr>
        <p:spPr>
          <a:xfrm>
            <a:off x="5644631" y="751582"/>
            <a:ext cx="139148" cy="188476"/>
          </a:xfrm>
          <a:prstGeom prst="roundRect">
            <a:avLst>
              <a:gd name="adj" fmla="val 50000"/>
            </a:avLst>
          </a:prstGeom>
          <a:solidFill>
            <a:srgbClr val="FF6B57"/>
          </a:solidFill>
          <a:ln w="12700">
            <a:solidFill>
              <a:srgbClr val="FF6B57"/>
            </a:solidFill>
            <a:prstDash val="solid"/>
          </a:ln>
        </p:spPr>
      </p:sp>
      <p:sp>
        <p:nvSpPr>
          <p:cNvPr id="34" name="Waveform bar 31"/>
          <p:cNvSpPr/>
          <p:nvPr/>
        </p:nvSpPr>
        <p:spPr>
          <a:xfrm>
            <a:off x="5820355" y="781974"/>
            <a:ext cx="139148" cy="127692"/>
          </a:xfrm>
          <a:prstGeom prst="roundRect">
            <a:avLst>
              <a:gd name="adj" fmla="val 54486"/>
            </a:avLst>
          </a:prstGeom>
          <a:solidFill>
            <a:srgbClr val="FF6B57"/>
          </a:solidFill>
          <a:ln w="12700">
            <a:solidFill>
              <a:srgbClr val="FF6B57"/>
            </a:solidFill>
            <a:prstDash val="solid"/>
          </a:ln>
        </p:spPr>
      </p:sp>
      <p:sp>
        <p:nvSpPr>
          <p:cNvPr id="35" name="Waveform bar 32"/>
          <p:cNvSpPr/>
          <p:nvPr/>
        </p:nvSpPr>
        <p:spPr>
          <a:xfrm>
            <a:off x="5996079" y="762865"/>
            <a:ext cx="139148" cy="165909"/>
          </a:xfrm>
          <a:prstGeom prst="roundRect">
            <a:avLst>
              <a:gd name="adj" fmla="val 50000"/>
            </a:avLst>
          </a:prstGeom>
          <a:solidFill>
            <a:srgbClr val="FF6B57"/>
          </a:solidFill>
          <a:ln w="12700">
            <a:solidFill>
              <a:srgbClr val="FF6B57"/>
            </a:solidFill>
            <a:prstDash val="solid"/>
          </a:ln>
        </p:spPr>
      </p:sp>
      <p:sp>
        <p:nvSpPr>
          <p:cNvPr id="36" name="Waveform bar 33"/>
          <p:cNvSpPr/>
          <p:nvPr/>
        </p:nvSpPr>
        <p:spPr>
          <a:xfrm>
            <a:off x="6171802" y="747769"/>
            <a:ext cx="139148" cy="196102"/>
          </a:xfrm>
          <a:prstGeom prst="roundRect">
            <a:avLst>
              <a:gd name="adj" fmla="val 50000"/>
            </a:avLst>
          </a:prstGeom>
          <a:solidFill>
            <a:srgbClr val="FF6B57"/>
          </a:solidFill>
          <a:ln w="12700">
            <a:solidFill>
              <a:srgbClr val="FF6B57"/>
            </a:solidFill>
            <a:prstDash val="solid"/>
          </a:ln>
        </p:spPr>
      </p:sp>
      <p:sp>
        <p:nvSpPr>
          <p:cNvPr id="37" name="Waveform bar 34"/>
          <p:cNvSpPr/>
          <p:nvPr/>
        </p:nvSpPr>
        <p:spPr>
          <a:xfrm>
            <a:off x="6347526" y="741395"/>
            <a:ext cx="139148" cy="208850"/>
          </a:xfrm>
          <a:prstGeom prst="roundRect">
            <a:avLst>
              <a:gd name="adj" fmla="val 50000"/>
            </a:avLst>
          </a:prstGeom>
          <a:solidFill>
            <a:srgbClr val="FF6B57"/>
          </a:solidFill>
          <a:ln w="12700">
            <a:solidFill>
              <a:srgbClr val="FF6B57"/>
            </a:solidFill>
            <a:prstDash val="solid"/>
          </a:ln>
        </p:spPr>
      </p:sp>
      <p:sp>
        <p:nvSpPr>
          <p:cNvPr id="38" name="Waveform bar 35"/>
          <p:cNvSpPr/>
          <p:nvPr/>
        </p:nvSpPr>
        <p:spPr>
          <a:xfrm>
            <a:off x="6523250" y="743419"/>
            <a:ext cx="139148" cy="204803"/>
          </a:xfrm>
          <a:prstGeom prst="roundRect">
            <a:avLst>
              <a:gd name="adj" fmla="val 50000"/>
            </a:avLst>
          </a:prstGeom>
          <a:solidFill>
            <a:srgbClr val="FF6B57"/>
          </a:solidFill>
          <a:ln w="12700">
            <a:solidFill>
              <a:srgbClr val="FF6B57"/>
            </a:solidFill>
            <a:prstDash val="solid"/>
          </a:ln>
        </p:spPr>
      </p:sp>
      <p:sp>
        <p:nvSpPr>
          <p:cNvPr id="39" name="Waveform bar 36"/>
          <p:cNvSpPr/>
          <p:nvPr/>
        </p:nvSpPr>
        <p:spPr>
          <a:xfrm>
            <a:off x="6698974" y="752773"/>
            <a:ext cx="139148" cy="186093"/>
          </a:xfrm>
          <a:prstGeom prst="roundRect">
            <a:avLst>
              <a:gd name="adj" fmla="val 50000"/>
            </a:avLst>
          </a:prstGeom>
          <a:solidFill>
            <a:srgbClr val="FF6B57"/>
          </a:solidFill>
          <a:ln w="12700">
            <a:solidFill>
              <a:srgbClr val="FF6B57"/>
            </a:solidFill>
            <a:prstDash val="solid"/>
          </a:ln>
        </p:spPr>
      </p:sp>
      <p:sp>
        <p:nvSpPr>
          <p:cNvPr id="40" name="Waveform bar 37"/>
          <p:cNvSpPr/>
          <p:nvPr/>
        </p:nvSpPr>
        <p:spPr>
          <a:xfrm>
            <a:off x="6874698" y="767747"/>
            <a:ext cx="139148" cy="156146"/>
          </a:xfrm>
          <a:prstGeom prst="roundRect">
            <a:avLst>
              <a:gd name="adj" fmla="val 50000"/>
            </a:avLst>
          </a:prstGeom>
          <a:solidFill>
            <a:srgbClr val="FF6B57"/>
          </a:solidFill>
          <a:ln w="12700">
            <a:solidFill>
              <a:srgbClr val="FF6B57"/>
            </a:solidFill>
            <a:prstDash val="solid"/>
          </a:ln>
        </p:spPr>
      </p:sp>
      <p:sp>
        <p:nvSpPr>
          <p:cNvPr id="41" name="Waveform bar 38"/>
          <p:cNvSpPr/>
          <p:nvPr/>
        </p:nvSpPr>
        <p:spPr>
          <a:xfrm>
            <a:off x="7050422" y="782063"/>
            <a:ext cx="139148" cy="127515"/>
          </a:xfrm>
          <a:prstGeom prst="roundRect">
            <a:avLst>
              <a:gd name="adj" fmla="val 54561"/>
            </a:avLst>
          </a:prstGeom>
          <a:solidFill>
            <a:srgbClr val="FF6B57"/>
          </a:solidFill>
          <a:ln w="12700">
            <a:solidFill>
              <a:srgbClr val="FF6B57"/>
            </a:solidFill>
            <a:prstDash val="solid"/>
          </a:ln>
        </p:spPr>
      </p:sp>
      <p:sp>
        <p:nvSpPr>
          <p:cNvPr id="42" name="Waveform bar 39"/>
          <p:cNvSpPr/>
          <p:nvPr/>
        </p:nvSpPr>
        <p:spPr>
          <a:xfrm>
            <a:off x="7226145" y="762772"/>
            <a:ext cx="139148" cy="166096"/>
          </a:xfrm>
          <a:prstGeom prst="roundRect">
            <a:avLst>
              <a:gd name="adj" fmla="val 50000"/>
            </a:avLst>
          </a:prstGeom>
          <a:solidFill>
            <a:srgbClr val="FF6B57"/>
          </a:solidFill>
          <a:ln w="12700">
            <a:solidFill>
              <a:srgbClr val="FF6B57"/>
            </a:solidFill>
            <a:prstDash val="solid"/>
          </a:ln>
        </p:spPr>
      </p:sp>
      <p:sp>
        <p:nvSpPr>
          <p:cNvPr id="43" name="Waveform bar 40"/>
          <p:cNvSpPr/>
          <p:nvPr/>
        </p:nvSpPr>
        <p:spPr>
          <a:xfrm>
            <a:off x="7401869" y="745178"/>
            <a:ext cx="139148" cy="201284"/>
          </a:xfrm>
          <a:prstGeom prst="roundRect">
            <a:avLst>
              <a:gd name="adj" fmla="val 50000"/>
            </a:avLst>
          </a:prstGeom>
          <a:solidFill>
            <a:srgbClr val="FF6B57"/>
          </a:solidFill>
          <a:ln w="12700">
            <a:solidFill>
              <a:srgbClr val="FF6B57"/>
            </a:solidFill>
            <a:prstDash val="solid"/>
          </a:ln>
        </p:spPr>
      </p:sp>
      <p:sp>
        <p:nvSpPr>
          <p:cNvPr id="44" name="Waveform bar 41"/>
          <p:cNvSpPr/>
          <p:nvPr/>
        </p:nvSpPr>
        <p:spPr>
          <a:xfrm>
            <a:off x="7577593" y="731748"/>
            <a:ext cx="139148" cy="228144"/>
          </a:xfrm>
          <a:prstGeom prst="roundRect">
            <a:avLst>
              <a:gd name="adj" fmla="val 50000"/>
            </a:avLst>
          </a:prstGeom>
          <a:solidFill>
            <a:srgbClr val="FF6B57"/>
          </a:solidFill>
          <a:ln w="12700">
            <a:solidFill>
              <a:srgbClr val="FF6B57"/>
            </a:solidFill>
            <a:prstDash val="solid"/>
          </a:ln>
        </p:spPr>
      </p:sp>
      <p:sp>
        <p:nvSpPr>
          <p:cNvPr id="45" name="Waveform bar 42"/>
          <p:cNvSpPr/>
          <p:nvPr/>
        </p:nvSpPr>
        <p:spPr>
          <a:xfrm>
            <a:off x="7753317" y="724609"/>
            <a:ext cx="139148" cy="242422"/>
          </a:xfrm>
          <a:prstGeom prst="roundRect">
            <a:avLst>
              <a:gd name="adj" fmla="val 50000"/>
            </a:avLst>
          </a:prstGeom>
          <a:solidFill>
            <a:srgbClr val="FF6B57"/>
          </a:solidFill>
          <a:ln w="12700">
            <a:solidFill>
              <a:srgbClr val="FF6B57"/>
            </a:solidFill>
            <a:prstDash val="solid"/>
          </a:ln>
        </p:spPr>
      </p:sp>
      <p:sp>
        <p:nvSpPr>
          <p:cNvPr id="46" name="Waveform bar 43"/>
          <p:cNvSpPr/>
          <p:nvPr/>
        </p:nvSpPr>
        <p:spPr>
          <a:xfrm>
            <a:off x="7929041" y="725359"/>
            <a:ext cx="139148" cy="240921"/>
          </a:xfrm>
          <a:prstGeom prst="roundRect">
            <a:avLst>
              <a:gd name="adj" fmla="val 50000"/>
            </a:avLst>
          </a:prstGeom>
          <a:solidFill>
            <a:srgbClr val="FF6B57"/>
          </a:solidFill>
          <a:ln w="12700">
            <a:solidFill>
              <a:srgbClr val="FF6B57"/>
            </a:solidFill>
            <a:prstDash val="solid"/>
          </a:ln>
        </p:spPr>
      </p:sp>
      <p:sp>
        <p:nvSpPr>
          <p:cNvPr id="47" name="Waveform bar 44"/>
          <p:cNvSpPr/>
          <p:nvPr/>
        </p:nvSpPr>
        <p:spPr>
          <a:xfrm>
            <a:off x="8104765" y="734928"/>
            <a:ext cx="139148" cy="221783"/>
          </a:xfrm>
          <a:prstGeom prst="roundRect">
            <a:avLst>
              <a:gd name="adj" fmla="val 50000"/>
            </a:avLst>
          </a:prstGeom>
          <a:solidFill>
            <a:srgbClr val="FF6B57"/>
          </a:solidFill>
          <a:ln w="12700">
            <a:solidFill>
              <a:srgbClr val="FF6B57"/>
            </a:solidFill>
            <a:prstDash val="solid"/>
          </a:ln>
        </p:spPr>
      </p:sp>
      <p:sp>
        <p:nvSpPr>
          <p:cNvPr id="48" name="Waveform bar 45"/>
          <p:cNvSpPr/>
          <p:nvPr/>
        </p:nvSpPr>
        <p:spPr>
          <a:xfrm>
            <a:off x="8280488" y="753485"/>
            <a:ext cx="139148" cy="184670"/>
          </a:xfrm>
          <a:prstGeom prst="roundRect">
            <a:avLst>
              <a:gd name="adj" fmla="val 50000"/>
            </a:avLst>
          </a:prstGeom>
          <a:solidFill>
            <a:srgbClr val="FF6B57"/>
          </a:solidFill>
          <a:ln w="12700">
            <a:solidFill>
              <a:srgbClr val="FF6B57"/>
            </a:solidFill>
            <a:prstDash val="solid"/>
          </a:ln>
        </p:spPr>
      </p:sp>
      <p:sp>
        <p:nvSpPr>
          <p:cNvPr id="49" name="Waveform bar 46"/>
          <p:cNvSpPr/>
          <p:nvPr/>
        </p:nvSpPr>
        <p:spPr>
          <a:xfrm>
            <a:off x="8456212" y="780407"/>
            <a:ext cx="139148" cy="130826"/>
          </a:xfrm>
          <a:prstGeom prst="roundRect">
            <a:avLst>
              <a:gd name="adj" fmla="val 53180"/>
            </a:avLst>
          </a:prstGeom>
          <a:solidFill>
            <a:srgbClr val="FF6B57"/>
          </a:solidFill>
          <a:ln w="12700">
            <a:solidFill>
              <a:srgbClr val="FF6B57"/>
            </a:solidFill>
            <a:prstDash val="solid"/>
          </a:ln>
        </p:spPr>
      </p:sp>
      <p:sp>
        <p:nvSpPr>
          <p:cNvPr id="50" name="Team names"/>
          <p:cNvSpPr txBox="1"/>
          <p:nvPr/>
        </p:nvSpPr>
        <p:spPr>
          <a:xfrm>
            <a:off x="548640" y="3429000"/>
            <a:ext cx="5486400" cy="640080"/>
          </a:xfrm>
          <a:prstGeom prst="rect">
            <a:avLst/>
          </a:prstGeom>
          <a:noFill/>
          <a:ln/>
        </p:spPr>
        <p:txBody>
          <a:bodyPr wrap="square" lIns="0" tIns="0" rIns="0" bIns="0" rtlCol="0" anchor="ctr"/>
          <a:lstStyle/>
          <a:p>
            <a:pPr indent="0" marL="0">
              <a:buNone/>
            </a:pPr>
            <a:r>
              <a:rPr lang="en-US" sz="1600" dirty="0">
                <a:solidFill>
                  <a:schemeClr val="bg1"/>
                </a:solidFill>
              </a:rPr>
              <a:t>Mann Mehta  (PES2UG24CS266)</a:t>
            </a:r>
            <a:endParaRPr lang="en-US" sz="1600" dirty="0"/>
          </a:p>
          <a:p>
            <a:pPr indent="0" marL="0">
              <a:buNone/>
            </a:pPr>
            <a:r>
              <a:rPr lang="en-US" sz="1600" dirty="0">
                <a:solidFill>
                  <a:schemeClr val="bg1"/>
                </a:solidFill>
              </a:rPr>
              <a:t>Marapareddy Deekshitha  (PES2UG24CS268)</a:t>
            </a:r>
            <a:endParaRPr lang="en-US" sz="1600" dirty="0"/>
          </a:p>
        </p:txBody>
      </p:sp>
      <p:sp>
        <p:nvSpPr>
          <p:cNvPr id="51" name="Course line"/>
          <p:cNvSpPr txBox="1"/>
          <p:nvPr/>
        </p:nvSpPr>
        <p:spPr>
          <a:xfrm>
            <a:off x="548640" y="434340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UE24CS352A Machine Learning  ·  Team 25  ·  Problem 20  ·  October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The 2018 Stanford attempt</a:t>
            </a:r>
            <a:endParaRPr lang="en-US" sz="3000" dirty="0"/>
          </a:p>
        </p:txBody>
      </p:sp>
      <p:sp>
        <p:nvSpPr>
          <p:cNvPr id="3" name="What they did"/>
          <p:cNvSpPr txBox="1"/>
          <p:nvPr/>
        </p:nvSpPr>
        <p:spPr>
          <a:xfrm>
            <a:off x="457200" y="1188720"/>
            <a:ext cx="3931920" cy="2651760"/>
          </a:xfrm>
          <a:prstGeom prst="rect">
            <a:avLst/>
          </a:prstGeom>
          <a:noFill/>
          <a:ln/>
        </p:spPr>
        <p:txBody>
          <a:bodyPr wrap="square" lIns="0" tIns="0" rIns="0" bIns="0" rtlCol="0" anchor="t"/>
          <a:lstStyle/>
          <a:p>
            <a:pPr marL="342900" indent="-342900">
              <a:spcAft>
                <a:spcPts val="800"/>
              </a:spcAft>
              <a:buSzPct val="100000"/>
              <a:buChar char="•"/>
            </a:pPr>
            <a:r>
              <a:rPr lang="en-US" sz="1600" dirty="0">
                <a:solidFill>
                  <a:schemeClr val="tx1"/>
                </a:solidFill>
              </a:rPr>
              <a:t>Goal: type a sentence, hear it spoken</a:t>
            </a:r>
            <a:endParaRPr lang="en-US" sz="1600" dirty="0"/>
          </a:p>
          <a:p>
            <a:pPr marL="342900" indent="-342900">
              <a:spcAft>
                <a:spcPts val="800"/>
              </a:spcAft>
              <a:buSzPct val="100000"/>
              <a:buChar char="•"/>
            </a:pPr>
            <a:r>
              <a:rPr lang="en-US" sz="1600" dirty="0">
                <a:solidFill>
                  <a:schemeClr val="tx1"/>
                </a:solidFill>
              </a:rPr>
              <a:t>Trained on only about 200 sentences</a:t>
            </a:r>
            <a:endParaRPr lang="en-US" sz="1600" dirty="0"/>
          </a:p>
          <a:p>
            <a:pPr marL="342900" indent="-342900">
              <a:spcAft>
                <a:spcPts val="800"/>
              </a:spcAft>
              <a:buSzPct val="100000"/>
              <a:buChar char="•"/>
            </a:pPr>
            <a:r>
              <a:rPr lang="en-US" sz="1600" dirty="0">
                <a:solidFill>
                  <a:schemeClr val="tx1"/>
                </a:solidFill>
              </a:rPr>
              <a:t>The same word could be fed in differently each time</a:t>
            </a:r>
            <a:endParaRPr lang="en-US" sz="1600" dirty="0"/>
          </a:p>
          <a:p>
            <a:pPr marL="342900" indent="-342900">
              <a:spcAft>
                <a:spcPts val="800"/>
              </a:spcAft>
              <a:buSzPct val="100000"/>
              <a:buChar char="•"/>
            </a:pPr>
            <a:r>
              <a:rPr lang="en-US" sz="1600" dirty="0">
                <a:solidFill>
                  <a:schemeClr val="tx1"/>
                </a:solidFill>
              </a:rPr>
              <a:t>Tried 3 models; even the best one mumbled and repeated words</a:t>
            </a:r>
            <a:endParaRPr lang="en-US" sz="1600" dirty="0"/>
          </a:p>
        </p:txBody>
      </p:sp>
      <p:sp>
        <p:nvSpPr>
          <p:cNvPr id="4" name="MOS explainer"/>
          <p:cNvSpPr txBox="1"/>
          <p:nvPr/>
        </p:nvSpPr>
        <p:spPr>
          <a:xfrm>
            <a:off x="457200" y="3977640"/>
            <a:ext cx="3931920" cy="548640"/>
          </a:xfrm>
          <a:prstGeom prst="rect">
            <a:avLst/>
          </a:prstGeom>
          <a:noFill/>
          <a:ln/>
        </p:spPr>
        <p:txBody>
          <a:bodyPr wrap="square" lIns="0" tIns="0" rIns="0" bIns="0" rtlCol="0" anchor="ctr"/>
          <a:lstStyle/>
          <a:p>
            <a:pPr indent="0" marL="0">
              <a:buNone/>
            </a:pPr>
            <a:r>
              <a:rPr lang="en-US" sz="1200" i="1" dirty="0">
                <a:solidFill>
                  <a:schemeClr val="accent6"/>
                </a:solidFill>
              </a:rPr>
              <a:t>MOS = mean opinion score: listeners rate each clip from 1 (bad) to 5 (excellent).</a:t>
            </a:r>
            <a:endParaRPr lang="en-US" sz="1200" dirty="0"/>
          </a:p>
        </p:txBody>
      </p:sp>
      <p:graphicFrame>
        <p:nvGraphicFramePr>
          <p:cNvPr id="5" name="Paper MOS chart" descr=""/>
          <p:cNvGraphicFramePr/>
          <p:nvPr/>
        </p:nvGraphicFramePr>
        <p:xfrm>
          <a:off x="4663440" y="1051560"/>
          <a:ext cx="4023360" cy="3429000"/>
        </p:xfrm>
        <a:graphic xmlns:a="http://schemas.openxmlformats.org/drawingml/2006/main">
          <a:graphicData uri="http://schemas.openxmlformats.org/drawingml/2006/chart">
            <c:chart xmlns:c="http://schemas.openxmlformats.org/drawingml/2006/chart" r:id="rId1"/>
          </a:graphicData>
        </a:graphic>
      </p:graphicFrame>
      <p:sp>
        <p:nvSpPr>
          <p:cNvPr id="6" name="Chart footnote"/>
          <p:cNvSpPr txBox="1"/>
          <p:nvPr/>
        </p:nvSpPr>
        <p:spPr>
          <a:xfrm>
            <a:off x="4663440" y="4480560"/>
            <a:ext cx="4023360" cy="228600"/>
          </a:xfrm>
          <a:prstGeom prst="rect">
            <a:avLst/>
          </a:prstGeom>
          <a:noFill/>
          <a:ln/>
        </p:spPr>
        <p:txBody>
          <a:bodyPr wrap="square" lIns="0" tIns="0" rIns="0" bIns="0" rtlCol="0" anchor="ctr"/>
          <a:lstStyle/>
          <a:p>
            <a:pPr indent="0" marL="0">
              <a:buNone/>
            </a:pPr>
            <a:r>
              <a:rPr lang="en-US" sz="1000" dirty="0">
                <a:solidFill>
                  <a:schemeClr val="accent6"/>
                </a:solidFill>
              </a:rPr>
              <a:t>*Tacotron score as reported by Google, for reference</a:t>
            </a:r>
            <a:endParaRPr lang="en-US" sz="10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Why it failed, and our fix</a:t>
            </a:r>
            <a:endParaRPr lang="en-US" sz="3000" dirty="0"/>
          </a:p>
        </p:txBody>
      </p:sp>
      <p:sp>
        <p:nvSpPr>
          <p:cNvPr id="3" name="Cause card 1"/>
          <p:cNvSpPr/>
          <p:nvPr/>
        </p:nvSpPr>
        <p:spPr>
          <a:xfrm>
            <a:off x="457200" y="1143000"/>
            <a:ext cx="4023360" cy="1600200"/>
          </a:xfrm>
          <a:prstGeom prst="roundRect">
            <a:avLst>
              <a:gd name="adj" fmla="val 4571"/>
            </a:avLst>
          </a:prstGeom>
          <a:solidFill>
            <a:schemeClr val="bg2"/>
          </a:solidFill>
          <a:ln w="12700">
            <a:solidFill>
              <a:schemeClr val="bg2"/>
            </a:solidFill>
            <a:prstDash val="solid"/>
          </a:ln>
        </p:spPr>
      </p:sp>
      <p:sp>
        <p:nvSpPr>
          <p:cNvPr id="4" name="Cause 1 circle"/>
          <p:cNvSpPr/>
          <p:nvPr/>
        </p:nvSpPr>
        <p:spPr>
          <a:xfrm>
            <a:off x="640080" y="1325880"/>
            <a:ext cx="384048" cy="384048"/>
          </a:xfrm>
          <a:prstGeom prst="ellipse">
            <a:avLst/>
          </a:prstGeom>
          <a:solidFill>
            <a:schemeClr val="accent2"/>
          </a:solidFill>
          <a:ln w="12700">
            <a:solidFill>
              <a:schemeClr val="accent2"/>
            </a:solidFill>
            <a:prstDash val="solid"/>
          </a:ln>
        </p:spPr>
      </p:sp>
      <p:sp>
        <p:nvSpPr>
          <p:cNvPr id="5" name="Cause 1 label"/>
          <p:cNvSpPr txBox="1"/>
          <p:nvPr/>
        </p:nvSpPr>
        <p:spPr>
          <a:xfrm>
            <a:off x="64008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Cause 1 title"/>
          <p:cNvSpPr txBox="1"/>
          <p:nvPr/>
        </p:nvSpPr>
        <p:spPr>
          <a:xfrm>
            <a:off x="114300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Tiny data</a:t>
            </a:r>
            <a:endParaRPr lang="en-US" sz="1600" dirty="0"/>
          </a:p>
        </p:txBody>
      </p:sp>
      <p:sp>
        <p:nvSpPr>
          <p:cNvPr id="7" name="Cause 1 problem"/>
          <p:cNvSpPr txBox="1"/>
          <p:nvPr/>
        </p:nvSpPr>
        <p:spPr>
          <a:xfrm>
            <a:off x="64008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About 200 sentences, versus 13,100 clips in LJ Speech</a:t>
            </a:r>
            <a:endParaRPr lang="en-US" sz="1200" dirty="0"/>
          </a:p>
        </p:txBody>
      </p:sp>
      <p:sp>
        <p:nvSpPr>
          <p:cNvPr id="8" name="Cause 1 fix"/>
          <p:cNvSpPr txBox="1"/>
          <p:nvPr/>
        </p:nvSpPr>
        <p:spPr>
          <a:xfrm>
            <a:off x="64008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Train on all 13,100 clips (24 hours)</a:t>
            </a:r>
            <a:endParaRPr lang="en-US" sz="1300" dirty="0"/>
          </a:p>
        </p:txBody>
      </p:sp>
      <p:sp>
        <p:nvSpPr>
          <p:cNvPr id="9" name="Cause card 2"/>
          <p:cNvSpPr/>
          <p:nvPr/>
        </p:nvSpPr>
        <p:spPr>
          <a:xfrm>
            <a:off x="4663440" y="1143000"/>
            <a:ext cx="4023360" cy="1600200"/>
          </a:xfrm>
          <a:prstGeom prst="roundRect">
            <a:avLst>
              <a:gd name="adj" fmla="val 4571"/>
            </a:avLst>
          </a:prstGeom>
          <a:solidFill>
            <a:schemeClr val="bg2"/>
          </a:solidFill>
          <a:ln w="12700">
            <a:solidFill>
              <a:schemeClr val="bg2"/>
            </a:solidFill>
            <a:prstDash val="solid"/>
          </a:ln>
        </p:spPr>
      </p:sp>
      <p:sp>
        <p:nvSpPr>
          <p:cNvPr id="10" name="Cause 2 circle"/>
          <p:cNvSpPr/>
          <p:nvPr/>
        </p:nvSpPr>
        <p:spPr>
          <a:xfrm>
            <a:off x="4846320" y="1325880"/>
            <a:ext cx="384048" cy="384048"/>
          </a:xfrm>
          <a:prstGeom prst="ellipse">
            <a:avLst/>
          </a:prstGeom>
          <a:solidFill>
            <a:schemeClr val="accent2"/>
          </a:solidFill>
          <a:ln w="12700">
            <a:solidFill>
              <a:schemeClr val="accent2"/>
            </a:solidFill>
            <a:prstDash val="solid"/>
          </a:ln>
        </p:spPr>
      </p:sp>
      <p:sp>
        <p:nvSpPr>
          <p:cNvPr id="11" name="Cause 2 label"/>
          <p:cNvSpPr txBox="1"/>
          <p:nvPr/>
        </p:nvSpPr>
        <p:spPr>
          <a:xfrm>
            <a:off x="4846320" y="13258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12" name="Cause 2 title"/>
          <p:cNvSpPr txBox="1"/>
          <p:nvPr/>
        </p:nvSpPr>
        <p:spPr>
          <a:xfrm>
            <a:off x="5349240" y="132588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Models too simple</a:t>
            </a:r>
            <a:endParaRPr lang="en-US" sz="1600" dirty="0"/>
          </a:p>
        </p:txBody>
      </p:sp>
      <p:sp>
        <p:nvSpPr>
          <p:cNvPr id="13" name="Cause 2 problem"/>
          <p:cNvSpPr txBox="1"/>
          <p:nvPr/>
        </p:nvSpPr>
        <p:spPr>
          <a:xfrm>
            <a:off x="4846320" y="180136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Too small to turn a sentence into detailed sound</a:t>
            </a:r>
            <a:endParaRPr lang="en-US" sz="1200" dirty="0"/>
          </a:p>
        </p:txBody>
      </p:sp>
      <p:sp>
        <p:nvSpPr>
          <p:cNvPr id="14" name="Cause 2 fix"/>
          <p:cNvSpPr txBox="1"/>
          <p:nvPr/>
        </p:nvSpPr>
        <p:spPr>
          <a:xfrm>
            <a:off x="4846320" y="224028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A bigger model that reads the whole sentence, then draws the sound step by step</a:t>
            </a:r>
            <a:endParaRPr lang="en-US" sz="1300" dirty="0"/>
          </a:p>
        </p:txBody>
      </p:sp>
      <p:sp>
        <p:nvSpPr>
          <p:cNvPr id="15" name="Cause card 3"/>
          <p:cNvSpPr/>
          <p:nvPr/>
        </p:nvSpPr>
        <p:spPr>
          <a:xfrm>
            <a:off x="457200" y="2926080"/>
            <a:ext cx="4023360" cy="1600200"/>
          </a:xfrm>
          <a:prstGeom prst="roundRect">
            <a:avLst>
              <a:gd name="adj" fmla="val 4571"/>
            </a:avLst>
          </a:prstGeom>
          <a:solidFill>
            <a:schemeClr val="bg2"/>
          </a:solidFill>
          <a:ln w="12700">
            <a:solidFill>
              <a:schemeClr val="bg2"/>
            </a:solidFill>
            <a:prstDash val="solid"/>
          </a:ln>
        </p:spPr>
      </p:sp>
      <p:sp>
        <p:nvSpPr>
          <p:cNvPr id="16" name="Cause 3 circle"/>
          <p:cNvSpPr/>
          <p:nvPr/>
        </p:nvSpPr>
        <p:spPr>
          <a:xfrm>
            <a:off x="640080" y="3108960"/>
            <a:ext cx="384048" cy="384048"/>
          </a:xfrm>
          <a:prstGeom prst="ellipse">
            <a:avLst/>
          </a:prstGeom>
          <a:solidFill>
            <a:schemeClr val="accent2"/>
          </a:solidFill>
          <a:ln w="12700">
            <a:solidFill>
              <a:schemeClr val="accent2"/>
            </a:solidFill>
            <a:prstDash val="solid"/>
          </a:ln>
        </p:spPr>
      </p:sp>
      <p:sp>
        <p:nvSpPr>
          <p:cNvPr id="17" name="Cause 3 label"/>
          <p:cNvSpPr txBox="1"/>
          <p:nvPr/>
        </p:nvSpPr>
        <p:spPr>
          <a:xfrm>
            <a:off x="64008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8" name="Cause 3 title"/>
          <p:cNvSpPr txBox="1"/>
          <p:nvPr/>
        </p:nvSpPr>
        <p:spPr>
          <a:xfrm>
            <a:off x="114300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Random text mapping</a:t>
            </a:r>
            <a:endParaRPr lang="en-US" sz="1600" dirty="0"/>
          </a:p>
        </p:txBody>
      </p:sp>
      <p:sp>
        <p:nvSpPr>
          <p:cNvPr id="19" name="Cause 3 problem"/>
          <p:cNvSpPr txBox="1"/>
          <p:nvPr/>
        </p:nvSpPr>
        <p:spPr>
          <a:xfrm>
            <a:off x="64008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The same word got different inputs on each run</a:t>
            </a:r>
            <a:endParaRPr lang="en-US" sz="1200" dirty="0"/>
          </a:p>
        </p:txBody>
      </p:sp>
      <p:sp>
        <p:nvSpPr>
          <p:cNvPr id="20" name="Cause 3 fix"/>
          <p:cNvSpPr txBox="1"/>
          <p:nvPr/>
        </p:nvSpPr>
        <p:spPr>
          <a:xfrm>
            <a:off x="64008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Clean the text and give every letter one fixed number</a:t>
            </a:r>
            <a:endParaRPr lang="en-US" sz="1300" dirty="0"/>
          </a:p>
        </p:txBody>
      </p:sp>
      <p:sp>
        <p:nvSpPr>
          <p:cNvPr id="21" name="Cause card 4"/>
          <p:cNvSpPr/>
          <p:nvPr/>
        </p:nvSpPr>
        <p:spPr>
          <a:xfrm>
            <a:off x="4663440" y="2926080"/>
            <a:ext cx="4023360" cy="1600200"/>
          </a:xfrm>
          <a:prstGeom prst="roundRect">
            <a:avLst>
              <a:gd name="adj" fmla="val 4571"/>
            </a:avLst>
          </a:prstGeom>
          <a:solidFill>
            <a:schemeClr val="bg2"/>
          </a:solidFill>
          <a:ln w="12700">
            <a:solidFill>
              <a:schemeClr val="bg2"/>
            </a:solidFill>
            <a:prstDash val="solid"/>
          </a:ln>
        </p:spPr>
      </p:sp>
      <p:sp>
        <p:nvSpPr>
          <p:cNvPr id="22" name="Cause 4 circle"/>
          <p:cNvSpPr/>
          <p:nvPr/>
        </p:nvSpPr>
        <p:spPr>
          <a:xfrm>
            <a:off x="4846320" y="3108960"/>
            <a:ext cx="384048" cy="384048"/>
          </a:xfrm>
          <a:prstGeom prst="ellipse">
            <a:avLst/>
          </a:prstGeom>
          <a:solidFill>
            <a:schemeClr val="accent2"/>
          </a:solidFill>
          <a:ln w="12700">
            <a:solidFill>
              <a:schemeClr val="accent2"/>
            </a:solidFill>
            <a:prstDash val="solid"/>
          </a:ln>
        </p:spPr>
      </p:sp>
      <p:sp>
        <p:nvSpPr>
          <p:cNvPr id="23" name="Cause 4 label"/>
          <p:cNvSpPr txBox="1"/>
          <p:nvPr/>
        </p:nvSpPr>
        <p:spPr>
          <a:xfrm>
            <a:off x="4846320" y="310896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24" name="Cause 4 title"/>
          <p:cNvSpPr txBox="1"/>
          <p:nvPr/>
        </p:nvSpPr>
        <p:spPr>
          <a:xfrm>
            <a:off x="5349240" y="3108960"/>
            <a:ext cx="3154680" cy="384048"/>
          </a:xfrm>
          <a:prstGeom prst="rect">
            <a:avLst/>
          </a:prstGeom>
          <a:noFill/>
          <a:ln/>
        </p:spPr>
        <p:txBody>
          <a:bodyPr wrap="square" lIns="0" tIns="0" rIns="0" bIns="0" rtlCol="0" anchor="ctr"/>
          <a:lstStyle/>
          <a:p>
            <a:pPr indent="0" marL="0">
              <a:buNone/>
            </a:pPr>
            <a:r>
              <a:rPr lang="en-US" sz="1600" b="1" dirty="0">
                <a:solidFill>
                  <a:schemeClr val="tx1"/>
                </a:solidFill>
              </a:rPr>
              <a:t>Lost its place in the text</a:t>
            </a:r>
            <a:endParaRPr lang="en-US" sz="1600" dirty="0"/>
          </a:p>
        </p:txBody>
      </p:sp>
      <p:sp>
        <p:nvSpPr>
          <p:cNvPr id="25" name="Cause 4 problem"/>
          <p:cNvSpPr txBox="1"/>
          <p:nvPr/>
        </p:nvSpPr>
        <p:spPr>
          <a:xfrm>
            <a:off x="4846320" y="3584448"/>
            <a:ext cx="3657600" cy="411480"/>
          </a:xfrm>
          <a:prstGeom prst="rect">
            <a:avLst/>
          </a:prstGeom>
          <a:noFill/>
          <a:ln/>
        </p:spPr>
        <p:txBody>
          <a:bodyPr wrap="square" lIns="0" tIns="0" rIns="0" bIns="0" rtlCol="0" anchor="t"/>
          <a:lstStyle/>
          <a:p>
            <a:pPr indent="0" marL="0">
              <a:buNone/>
            </a:pPr>
            <a:r>
              <a:rPr lang="en-US" sz="1200" dirty="0">
                <a:solidFill>
                  <a:schemeClr val="accent6"/>
                </a:solidFill>
              </a:rPr>
              <a:t>It didn't know which word it was on, so words repeated</a:t>
            </a:r>
            <a:endParaRPr lang="en-US" sz="1200" dirty="0"/>
          </a:p>
        </p:txBody>
      </p:sp>
      <p:sp>
        <p:nvSpPr>
          <p:cNvPr id="26" name="Cause 4 fix"/>
          <p:cNvSpPr txBox="1"/>
          <p:nvPr/>
        </p:nvSpPr>
        <p:spPr>
          <a:xfrm>
            <a:off x="4846320" y="4023360"/>
            <a:ext cx="3657600" cy="411480"/>
          </a:xfrm>
          <a:prstGeom prst="rect">
            <a:avLst/>
          </a:prstGeom>
          <a:noFill/>
          <a:ln/>
        </p:spPr>
        <p:txBody>
          <a:bodyPr wrap="square" lIns="0" tIns="0" rIns="0" bIns="0" rtlCol="0" anchor="t"/>
          <a:lstStyle/>
          <a:p>
            <a:pPr indent="0" marL="0">
              <a:buNone/>
            </a:pPr>
            <a:r>
              <a:rPr lang="en-US" sz="1300" b="1" dirty="0">
                <a:solidFill>
                  <a:schemeClr val="accent1"/>
                </a:solidFill>
              </a:rPr>
              <a:t>Our fix: </a:t>
            </a:r>
            <a:pPr indent="0" marL="0">
              <a:buNone/>
            </a:pPr>
            <a:r>
              <a:rPr lang="en-US" sz="1300" dirty="0">
                <a:solidFill>
                  <a:schemeClr val="tx1"/>
                </a:solidFill>
              </a:rPr>
              <a:t>Attention that remembers where it was, plus a training rule to read in order</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Our pipeline</a:t>
            </a:r>
            <a:endParaRPr lang="en-US" sz="3000" dirty="0"/>
          </a:p>
        </p:txBody>
      </p:sp>
      <p:sp>
        <p:nvSpPr>
          <p:cNvPr id="3" name="Stage 1"/>
          <p:cNvSpPr/>
          <p:nvPr/>
        </p:nvSpPr>
        <p:spPr>
          <a:xfrm>
            <a:off x="457200" y="1463040"/>
            <a:ext cx="1234440" cy="914400"/>
          </a:xfrm>
          <a:prstGeom prst="roundRect">
            <a:avLst>
              <a:gd name="adj" fmla="val 8000"/>
            </a:avLst>
          </a:prstGeom>
          <a:solidFill>
            <a:schemeClr val="bg1"/>
          </a:solidFill>
          <a:ln w="15875">
            <a:solidFill>
              <a:srgbClr val="A8A2C2"/>
            </a:solidFill>
            <a:prstDash val="solid"/>
          </a:ln>
        </p:spPr>
      </p:sp>
      <p:sp>
        <p:nvSpPr>
          <p:cNvPr id="4" name="Stage 1 name"/>
          <p:cNvSpPr txBox="1"/>
          <p:nvPr/>
        </p:nvSpPr>
        <p:spPr>
          <a:xfrm>
            <a:off x="45720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Text</a:t>
            </a:r>
            <a:endParaRPr lang="en-US" sz="1400" dirty="0"/>
          </a:p>
        </p:txBody>
      </p:sp>
      <p:sp>
        <p:nvSpPr>
          <p:cNvPr id="5" name="Stage 1 detail"/>
          <p:cNvSpPr txBox="1"/>
          <p:nvPr/>
        </p:nvSpPr>
        <p:spPr>
          <a:xfrm>
            <a:off x="45720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typed sentence</a:t>
            </a:r>
            <a:endParaRPr lang="en-US" sz="1100" dirty="0"/>
          </a:p>
        </p:txBody>
      </p:sp>
      <p:sp>
        <p:nvSpPr>
          <p:cNvPr id="6" name="Arrow 1"/>
          <p:cNvSpPr/>
          <p:nvPr/>
        </p:nvSpPr>
        <p:spPr>
          <a:xfrm>
            <a:off x="1728216" y="1810512"/>
            <a:ext cx="91440" cy="219456"/>
          </a:xfrm>
          <a:prstGeom prst="chevron">
            <a:avLst/>
          </a:prstGeom>
          <a:solidFill>
            <a:srgbClr val="6E6A85"/>
          </a:solidFill>
          <a:ln w="12700">
            <a:solidFill>
              <a:srgbClr val="6E6A85"/>
            </a:solidFill>
            <a:prstDash val="solid"/>
          </a:ln>
        </p:spPr>
      </p:sp>
      <p:sp>
        <p:nvSpPr>
          <p:cNvPr id="7" name="Stage 2"/>
          <p:cNvSpPr/>
          <p:nvPr/>
        </p:nvSpPr>
        <p:spPr>
          <a:xfrm>
            <a:off x="1856232" y="1463040"/>
            <a:ext cx="1234440" cy="914400"/>
          </a:xfrm>
          <a:prstGeom prst="roundRect">
            <a:avLst>
              <a:gd name="adj" fmla="val 8000"/>
            </a:avLst>
          </a:prstGeom>
          <a:solidFill>
            <a:schemeClr val="accent1"/>
          </a:solidFill>
          <a:ln w="12700">
            <a:solidFill>
              <a:schemeClr val="accent1"/>
            </a:solidFill>
            <a:prstDash val="solid"/>
          </a:ln>
        </p:spPr>
      </p:sp>
      <p:sp>
        <p:nvSpPr>
          <p:cNvPr id="8" name="Stage 2 name"/>
          <p:cNvSpPr txBox="1"/>
          <p:nvPr/>
        </p:nvSpPr>
        <p:spPr>
          <a:xfrm>
            <a:off x="1856232"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Cleaning</a:t>
            </a:r>
            <a:endParaRPr lang="en-US" sz="1400" dirty="0"/>
          </a:p>
        </p:txBody>
      </p:sp>
      <p:sp>
        <p:nvSpPr>
          <p:cNvPr id="9" name="Stage 2 detail"/>
          <p:cNvSpPr txBox="1"/>
          <p:nvPr/>
        </p:nvSpPr>
        <p:spPr>
          <a:xfrm>
            <a:off x="1856232"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"$42" → "forty two dollars"</a:t>
            </a:r>
            <a:endParaRPr lang="en-US" sz="1100" dirty="0"/>
          </a:p>
        </p:txBody>
      </p:sp>
      <p:sp>
        <p:nvSpPr>
          <p:cNvPr id="10" name="Arrow 2"/>
          <p:cNvSpPr/>
          <p:nvPr/>
        </p:nvSpPr>
        <p:spPr>
          <a:xfrm>
            <a:off x="3127248" y="1810512"/>
            <a:ext cx="91440" cy="219456"/>
          </a:xfrm>
          <a:prstGeom prst="chevron">
            <a:avLst/>
          </a:prstGeom>
          <a:solidFill>
            <a:srgbClr val="6E6A85"/>
          </a:solidFill>
          <a:ln w="12700">
            <a:solidFill>
              <a:srgbClr val="6E6A85"/>
            </a:solidFill>
            <a:prstDash val="solid"/>
          </a:ln>
        </p:spPr>
      </p:sp>
      <p:sp>
        <p:nvSpPr>
          <p:cNvPr id="11" name="Stage 3"/>
          <p:cNvSpPr/>
          <p:nvPr/>
        </p:nvSpPr>
        <p:spPr>
          <a:xfrm>
            <a:off x="3255264" y="1463040"/>
            <a:ext cx="1234440" cy="914400"/>
          </a:xfrm>
          <a:prstGeom prst="roundRect">
            <a:avLst>
              <a:gd name="adj" fmla="val 8000"/>
            </a:avLst>
          </a:prstGeom>
          <a:solidFill>
            <a:schemeClr val="accent4"/>
          </a:solidFill>
          <a:ln w="12700">
            <a:solidFill>
              <a:schemeClr val="accent4"/>
            </a:solidFill>
            <a:prstDash val="solid"/>
          </a:ln>
        </p:spPr>
      </p:sp>
      <p:sp>
        <p:nvSpPr>
          <p:cNvPr id="12" name="Stage 3 name"/>
          <p:cNvSpPr txBox="1"/>
          <p:nvPr/>
        </p:nvSpPr>
        <p:spPr>
          <a:xfrm>
            <a:off x="3255264"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Model</a:t>
            </a:r>
            <a:endParaRPr lang="en-US" sz="1400" dirty="0"/>
          </a:p>
        </p:txBody>
      </p:sp>
      <p:sp>
        <p:nvSpPr>
          <p:cNvPr id="13" name="Stage 3 detail"/>
          <p:cNvSpPr txBox="1"/>
          <p:nvPr/>
        </p:nvSpPr>
        <p:spPr>
          <a:xfrm>
            <a:off x="3255264"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Colatron (ours), baseline (ours) or Tacotron 2 (reference)</a:t>
            </a:r>
            <a:endParaRPr lang="en-US" sz="1100" dirty="0"/>
          </a:p>
        </p:txBody>
      </p:sp>
      <p:sp>
        <p:nvSpPr>
          <p:cNvPr id="14" name="Arrow 3"/>
          <p:cNvSpPr/>
          <p:nvPr/>
        </p:nvSpPr>
        <p:spPr>
          <a:xfrm>
            <a:off x="4526280" y="1810512"/>
            <a:ext cx="91440" cy="219456"/>
          </a:xfrm>
          <a:prstGeom prst="chevron">
            <a:avLst/>
          </a:prstGeom>
          <a:solidFill>
            <a:srgbClr val="6E6A85"/>
          </a:solidFill>
          <a:ln w="12700">
            <a:solidFill>
              <a:srgbClr val="6E6A85"/>
            </a:solidFill>
            <a:prstDash val="solid"/>
          </a:ln>
        </p:spPr>
      </p:sp>
      <p:sp>
        <p:nvSpPr>
          <p:cNvPr id="15" name="Stage 4"/>
          <p:cNvSpPr/>
          <p:nvPr/>
        </p:nvSpPr>
        <p:spPr>
          <a:xfrm>
            <a:off x="4654296" y="1463040"/>
            <a:ext cx="1234440" cy="914400"/>
          </a:xfrm>
          <a:prstGeom prst="roundRect">
            <a:avLst>
              <a:gd name="adj" fmla="val 8000"/>
            </a:avLst>
          </a:prstGeom>
          <a:solidFill>
            <a:schemeClr val="bg1"/>
          </a:solidFill>
          <a:ln w="15875">
            <a:solidFill>
              <a:srgbClr val="A8A2C2"/>
            </a:solidFill>
            <a:prstDash val="solid"/>
          </a:ln>
        </p:spPr>
      </p:sp>
      <p:sp>
        <p:nvSpPr>
          <p:cNvPr id="16" name="Stage 4 name"/>
          <p:cNvSpPr txBox="1"/>
          <p:nvPr/>
        </p:nvSpPr>
        <p:spPr>
          <a:xfrm>
            <a:off x="4654296"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Mel spectrogram</a:t>
            </a:r>
            <a:endParaRPr lang="en-US" sz="1400" dirty="0"/>
          </a:p>
        </p:txBody>
      </p:sp>
      <p:sp>
        <p:nvSpPr>
          <p:cNvPr id="17" name="Stage 4 detail"/>
          <p:cNvSpPr txBox="1"/>
          <p:nvPr/>
        </p:nvSpPr>
        <p:spPr>
          <a:xfrm>
            <a:off x="4654296"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a picture of the sound</a:t>
            </a:r>
            <a:endParaRPr lang="en-US" sz="1100" dirty="0"/>
          </a:p>
        </p:txBody>
      </p:sp>
      <p:sp>
        <p:nvSpPr>
          <p:cNvPr id="18" name="Arrow 4"/>
          <p:cNvSpPr/>
          <p:nvPr/>
        </p:nvSpPr>
        <p:spPr>
          <a:xfrm>
            <a:off x="5925312" y="1810512"/>
            <a:ext cx="91440" cy="219456"/>
          </a:xfrm>
          <a:prstGeom prst="chevron">
            <a:avLst/>
          </a:prstGeom>
          <a:solidFill>
            <a:srgbClr val="6E6A85"/>
          </a:solidFill>
          <a:ln w="12700">
            <a:solidFill>
              <a:srgbClr val="6E6A85"/>
            </a:solidFill>
            <a:prstDash val="solid"/>
          </a:ln>
        </p:spPr>
      </p:sp>
      <p:sp>
        <p:nvSpPr>
          <p:cNvPr id="19" name="Stage 5"/>
          <p:cNvSpPr/>
          <p:nvPr/>
        </p:nvSpPr>
        <p:spPr>
          <a:xfrm>
            <a:off x="6053328" y="1463040"/>
            <a:ext cx="1234440" cy="914400"/>
          </a:xfrm>
          <a:prstGeom prst="roundRect">
            <a:avLst>
              <a:gd name="adj" fmla="val 8000"/>
            </a:avLst>
          </a:prstGeom>
          <a:solidFill>
            <a:schemeClr val="accent4"/>
          </a:solidFill>
          <a:ln w="12700">
            <a:solidFill>
              <a:schemeClr val="accent4"/>
            </a:solidFill>
            <a:prstDash val="solid"/>
          </a:ln>
        </p:spPr>
      </p:sp>
      <p:sp>
        <p:nvSpPr>
          <p:cNvPr id="20" name="Stage 5 name"/>
          <p:cNvSpPr txBox="1"/>
          <p:nvPr/>
        </p:nvSpPr>
        <p:spPr>
          <a:xfrm>
            <a:off x="6053328" y="1463040"/>
            <a:ext cx="1234440" cy="914400"/>
          </a:xfrm>
          <a:prstGeom prst="rect">
            <a:avLst/>
          </a:prstGeom>
          <a:noFill/>
          <a:ln/>
        </p:spPr>
        <p:txBody>
          <a:bodyPr wrap="square" lIns="0" tIns="0" rIns="0" bIns="0" rtlCol="0" anchor="ctr"/>
          <a:lstStyle/>
          <a:p>
            <a:pPr algn="ctr" indent="0" marL="0">
              <a:buNone/>
            </a:pPr>
            <a:r>
              <a:rPr lang="en-US" sz="1400" b="1" dirty="0">
                <a:solidFill>
                  <a:schemeClr val="bg1"/>
                </a:solidFill>
              </a:rPr>
              <a:t>Vocoder</a:t>
            </a:r>
            <a:endParaRPr lang="en-US" sz="1400" dirty="0"/>
          </a:p>
        </p:txBody>
      </p:sp>
      <p:sp>
        <p:nvSpPr>
          <p:cNvPr id="21" name="Stage 5 detail"/>
          <p:cNvSpPr txBox="1"/>
          <p:nvPr/>
        </p:nvSpPr>
        <p:spPr>
          <a:xfrm>
            <a:off x="6053328"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turns the picture into audio</a:t>
            </a:r>
            <a:endParaRPr lang="en-US" sz="1100" dirty="0"/>
          </a:p>
        </p:txBody>
      </p:sp>
      <p:sp>
        <p:nvSpPr>
          <p:cNvPr id="22" name="Arrow 5"/>
          <p:cNvSpPr/>
          <p:nvPr/>
        </p:nvSpPr>
        <p:spPr>
          <a:xfrm>
            <a:off x="7324344" y="1810512"/>
            <a:ext cx="91440" cy="219456"/>
          </a:xfrm>
          <a:prstGeom prst="chevron">
            <a:avLst/>
          </a:prstGeom>
          <a:solidFill>
            <a:srgbClr val="6E6A85"/>
          </a:solidFill>
          <a:ln w="12700">
            <a:solidFill>
              <a:srgbClr val="6E6A85"/>
            </a:solidFill>
            <a:prstDash val="solid"/>
          </a:ln>
        </p:spPr>
      </p:sp>
      <p:sp>
        <p:nvSpPr>
          <p:cNvPr id="23" name="Stage 6"/>
          <p:cNvSpPr/>
          <p:nvPr/>
        </p:nvSpPr>
        <p:spPr>
          <a:xfrm>
            <a:off x="7452360" y="1463040"/>
            <a:ext cx="1234440" cy="914400"/>
          </a:xfrm>
          <a:prstGeom prst="roundRect">
            <a:avLst>
              <a:gd name="adj" fmla="val 8000"/>
            </a:avLst>
          </a:prstGeom>
          <a:solidFill>
            <a:schemeClr val="bg1"/>
          </a:solidFill>
          <a:ln w="15875">
            <a:solidFill>
              <a:srgbClr val="A8A2C2"/>
            </a:solidFill>
            <a:prstDash val="solid"/>
          </a:ln>
        </p:spPr>
      </p:sp>
      <p:sp>
        <p:nvSpPr>
          <p:cNvPr id="24" name="Stage 6 name"/>
          <p:cNvSpPr txBox="1"/>
          <p:nvPr/>
        </p:nvSpPr>
        <p:spPr>
          <a:xfrm>
            <a:off x="7452360" y="1463040"/>
            <a:ext cx="1234440" cy="914400"/>
          </a:xfrm>
          <a:prstGeom prst="rect">
            <a:avLst/>
          </a:prstGeom>
          <a:noFill/>
          <a:ln/>
        </p:spPr>
        <p:txBody>
          <a:bodyPr wrap="square" lIns="0" tIns="0" rIns="0" bIns="0" rtlCol="0" anchor="ctr"/>
          <a:lstStyle/>
          <a:p>
            <a:pPr algn="ctr" indent="0" marL="0">
              <a:buNone/>
            </a:pPr>
            <a:r>
              <a:rPr lang="en-US" sz="1400" b="1" dirty="0">
                <a:solidFill>
                  <a:schemeClr val="tx1"/>
                </a:solidFill>
              </a:rPr>
              <a:t>.wav</a:t>
            </a:r>
            <a:endParaRPr lang="en-US" sz="1400" dirty="0"/>
          </a:p>
        </p:txBody>
      </p:sp>
      <p:sp>
        <p:nvSpPr>
          <p:cNvPr id="25" name="Stage 6 detail"/>
          <p:cNvSpPr txBox="1"/>
          <p:nvPr/>
        </p:nvSpPr>
        <p:spPr>
          <a:xfrm>
            <a:off x="7452360" y="2487168"/>
            <a:ext cx="1234440" cy="777240"/>
          </a:xfrm>
          <a:prstGeom prst="rect">
            <a:avLst/>
          </a:prstGeom>
          <a:noFill/>
          <a:ln/>
        </p:spPr>
        <p:txBody>
          <a:bodyPr wrap="square" lIns="0" tIns="0" rIns="0" bIns="0" rtlCol="0" anchor="t"/>
          <a:lstStyle/>
          <a:p>
            <a:pPr algn="ctr" indent="0" marL="0">
              <a:buNone/>
            </a:pPr>
            <a:r>
              <a:rPr lang="en-US" sz="1100" dirty="0">
                <a:solidFill>
                  <a:schemeClr val="accent6"/>
                </a:solidFill>
              </a:rPr>
              <a:t>the speech you hear</a:t>
            </a:r>
            <a:endParaRPr lang="en-US" sz="1100" dirty="0"/>
          </a:p>
        </p:txBody>
      </p:sp>
      <p:sp>
        <p:nvSpPr>
          <p:cNvPr id="26" name="Legend swatch 1"/>
          <p:cNvSpPr/>
          <p:nvPr/>
        </p:nvSpPr>
        <p:spPr>
          <a:xfrm>
            <a:off x="457200" y="3520440"/>
            <a:ext cx="274320" cy="201168"/>
          </a:xfrm>
          <a:prstGeom prst="roundRect">
            <a:avLst>
              <a:gd name="adj" fmla="val 22727"/>
            </a:avLst>
          </a:prstGeom>
          <a:solidFill>
            <a:schemeClr val="accent1"/>
          </a:solidFill>
          <a:ln w="12700">
            <a:solidFill>
              <a:schemeClr val="accent1"/>
            </a:solidFill>
            <a:prstDash val="solid"/>
          </a:ln>
        </p:spPr>
      </p:sp>
      <p:sp>
        <p:nvSpPr>
          <p:cNvPr id="27" name="Legend label 1"/>
          <p:cNvSpPr txBox="1"/>
          <p:nvPr/>
        </p:nvSpPr>
        <p:spPr>
          <a:xfrm>
            <a:off x="82296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Written by us</a:t>
            </a:r>
            <a:endParaRPr lang="en-US" sz="1300" dirty="0"/>
          </a:p>
        </p:txBody>
      </p:sp>
      <p:sp>
        <p:nvSpPr>
          <p:cNvPr id="28" name="Legend swatch 2"/>
          <p:cNvSpPr/>
          <p:nvPr/>
        </p:nvSpPr>
        <p:spPr>
          <a:xfrm>
            <a:off x="2834640" y="3520440"/>
            <a:ext cx="274320" cy="201168"/>
          </a:xfrm>
          <a:prstGeom prst="roundRect">
            <a:avLst>
              <a:gd name="adj" fmla="val 22727"/>
            </a:avLst>
          </a:prstGeom>
          <a:solidFill>
            <a:schemeClr val="accent4"/>
          </a:solidFill>
          <a:ln w="12700">
            <a:solidFill>
              <a:schemeClr val="accent4"/>
            </a:solidFill>
            <a:prstDash val="solid"/>
          </a:ln>
        </p:spPr>
      </p:sp>
      <p:sp>
        <p:nvSpPr>
          <p:cNvPr id="29" name="Legend label 2"/>
          <p:cNvSpPr txBox="1"/>
          <p:nvPr/>
        </p:nvSpPr>
        <p:spPr>
          <a:xfrm>
            <a:off x="3200400" y="3474720"/>
            <a:ext cx="2377440" cy="292608"/>
          </a:xfrm>
          <a:prstGeom prst="rect">
            <a:avLst/>
          </a:prstGeom>
          <a:noFill/>
          <a:ln/>
        </p:spPr>
        <p:txBody>
          <a:bodyPr wrap="square" lIns="0" tIns="0" rIns="0" bIns="0" rtlCol="0" anchor="ctr"/>
          <a:lstStyle/>
          <a:p>
            <a:pPr indent="0" marL="0">
              <a:buNone/>
            </a:pPr>
            <a:r>
              <a:rPr lang="en-US" sz="1300" dirty="0">
                <a:solidFill>
                  <a:schemeClr val="tx1"/>
                </a:solidFill>
              </a:rPr>
              <a:t>Swappable: ours or pretrained</a:t>
            </a:r>
            <a:endParaRPr lang="en-US" sz="1300" dirty="0"/>
          </a:p>
        </p:txBody>
      </p:sp>
      <p:sp>
        <p:nvSpPr>
          <p:cNvPr id="30" name="Pipeline takeaway"/>
          <p:cNvSpPr txBox="1"/>
          <p:nvPr/>
        </p:nvSpPr>
        <p:spPr>
          <a:xfrm>
            <a:off x="457200" y="3931920"/>
            <a:ext cx="8229600" cy="548640"/>
          </a:xfrm>
          <a:prstGeom prst="rect">
            <a:avLst/>
          </a:prstGeom>
          <a:noFill/>
          <a:ln/>
        </p:spPr>
        <p:txBody>
          <a:bodyPr wrap="square" lIns="0" tIns="0" rIns="0" bIns="0" rtlCol="0" anchor="ctr"/>
          <a:lstStyle/>
          <a:p>
            <a:pPr indent="0" marL="0">
              <a:buNone/>
            </a:pPr>
            <a:r>
              <a:rPr lang="en-US" sz="1400" dirty="0">
                <a:solidFill>
                  <a:schemeClr val="tx1"/>
                </a:solidFill>
              </a:rPr>
              <a:t>Every model draws the same kind of sound picture, so we can plug any model into any vocoder and compare them fairly.</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What we built vs reused</a:t>
            </a:r>
            <a:endParaRPr lang="en-US" sz="3000" dirty="0"/>
          </a:p>
        </p:txBody>
      </p:sp>
      <p:sp>
        <p:nvSpPr>
          <p:cNvPr id="3" name="Ours card"/>
          <p:cNvSpPr/>
          <p:nvPr/>
        </p:nvSpPr>
        <p:spPr>
          <a:xfrm>
            <a:off x="457200" y="1097280"/>
            <a:ext cx="4846320" cy="3429000"/>
          </a:xfrm>
          <a:prstGeom prst="roundRect">
            <a:avLst>
              <a:gd name="adj" fmla="val 2133"/>
            </a:avLst>
          </a:prstGeom>
          <a:solidFill>
            <a:schemeClr val="bg2"/>
          </a:solidFill>
          <a:ln w="12700">
            <a:solidFill>
              <a:schemeClr val="bg2"/>
            </a:solidFill>
            <a:prstDash val="solid"/>
          </a:ln>
        </p:spPr>
      </p:sp>
      <p:sp>
        <p:nvSpPr>
          <p:cNvPr id="4" name="Ours heading"/>
          <p:cNvSpPr txBox="1"/>
          <p:nvPr/>
        </p:nvSpPr>
        <p:spPr>
          <a:xfrm>
            <a:off x="685800" y="1234440"/>
            <a:ext cx="4389120" cy="365760"/>
          </a:xfrm>
          <a:prstGeom prst="rect">
            <a:avLst/>
          </a:prstGeom>
          <a:noFill/>
          <a:ln/>
        </p:spPr>
        <p:txBody>
          <a:bodyPr wrap="square" lIns="0" tIns="0" rIns="0" bIns="0" rtlCol="0" anchor="ctr"/>
          <a:lstStyle/>
          <a:p>
            <a:pPr indent="0" marL="0">
              <a:buNone/>
            </a:pPr>
            <a:r>
              <a:rPr lang="en-US" sz="1800" b="1" dirty="0">
                <a:solidFill>
                  <a:schemeClr val="accent1"/>
                </a:solidFill>
              </a:rPr>
              <a:t>Built and trained by us</a:t>
            </a:r>
            <a:endParaRPr lang="en-US" sz="1800" dirty="0"/>
          </a:p>
        </p:txBody>
      </p:sp>
      <p:sp>
        <p:nvSpPr>
          <p:cNvPr id="5" name="Ours list"/>
          <p:cNvSpPr txBox="1"/>
          <p:nvPr/>
        </p:nvSpPr>
        <p:spPr>
          <a:xfrm>
            <a:off x="685800" y="1691640"/>
            <a:ext cx="4389120" cy="2743200"/>
          </a:xfrm>
          <a:prstGeom prst="rect">
            <a:avLst/>
          </a:prstGeom>
          <a:noFill/>
          <a:ln/>
        </p:spPr>
        <p:txBody>
          <a:bodyPr wrap="square" lIns="0" tIns="0" rIns="0" bIns="0" rtlCol="0" anchor="t"/>
          <a:lstStyle/>
          <a:p>
            <a:pPr marL="342900" indent="-342900">
              <a:spcAft>
                <a:spcPts val="500"/>
              </a:spcAft>
              <a:buSzPct val="100000"/>
              <a:buChar char="•"/>
            </a:pPr>
            <a:r>
              <a:rPr lang="en-US" sz="1300" dirty="0">
                <a:solidFill>
                  <a:schemeClr val="tx1"/>
                </a:solidFill>
              </a:rPr>
              <a:t>Colatron: our main model, trained from scratch on 13,100 clips</a:t>
            </a:r>
            <a:endParaRPr lang="en-US" sz="1300" dirty="0"/>
          </a:p>
          <a:p>
            <a:pPr marL="342900" indent="-342900">
              <a:spcAft>
                <a:spcPts val="500"/>
              </a:spcAft>
              <a:buSzPct val="100000"/>
              <a:buChar char="•"/>
            </a:pPr>
            <a:r>
              <a:rPr lang="en-US" sz="1300" dirty="0">
                <a:solidFill>
                  <a:schemeClr val="tx1"/>
                </a:solidFill>
              </a:rPr>
              <a:t>Baseline: a simple model without attention, to compare against</a:t>
            </a:r>
            <a:endParaRPr lang="en-US" sz="1300" dirty="0"/>
          </a:p>
          <a:p>
            <a:pPr marL="342900" indent="-342900">
              <a:spcAft>
                <a:spcPts val="500"/>
              </a:spcAft>
              <a:buSzPct val="100000"/>
              <a:buChar char="•"/>
            </a:pPr>
            <a:r>
              <a:rPr lang="en-US" sz="1300" dirty="0">
                <a:solidFill>
                  <a:schemeClr val="tx1"/>
                </a:solidFill>
              </a:rPr>
              <a:t>Data preparation: text cleaning, sound pictures, train / test split</a:t>
            </a:r>
            <a:endParaRPr lang="en-US" sz="1300" dirty="0"/>
          </a:p>
          <a:p>
            <a:pPr marL="342900" indent="-342900">
              <a:spcAft>
                <a:spcPts val="500"/>
              </a:spcAft>
              <a:buSzPct val="100000"/>
              <a:buChar char="•"/>
            </a:pPr>
            <a:r>
              <a:rPr lang="en-US" sz="1300" dirty="0">
                <a:solidFill>
                  <a:schemeClr val="tx1"/>
                </a:solidFill>
              </a:rPr>
              <a:t>Griffin-Lim: a simple, non-AI way to turn pictures into audio</a:t>
            </a:r>
            <a:endParaRPr lang="en-US" sz="1300" dirty="0"/>
          </a:p>
          <a:p>
            <a:pPr marL="342900" indent="-342900">
              <a:spcAft>
                <a:spcPts val="500"/>
              </a:spcAft>
              <a:buSzPct val="100000"/>
              <a:buChar char="•"/>
            </a:pPr>
            <a:r>
              <a:rPr lang="en-US" sz="1300" dirty="0">
                <a:solidFill>
                  <a:schemeClr val="tx1"/>
                </a:solidFill>
              </a:rPr>
              <a:t>Scoring: how understandable it is, how close to the real voice</a:t>
            </a:r>
            <a:endParaRPr lang="en-US" sz="1300" dirty="0"/>
          </a:p>
          <a:p>
            <a:pPr marL="342900" indent="-342900">
              <a:spcAft>
                <a:spcPts val="500"/>
              </a:spcAft>
              <a:buSzPct val="100000"/>
              <a:buChar char="•"/>
            </a:pPr>
            <a:r>
              <a:rPr lang="en-US" sz="1300" dirty="0">
                <a:solidFill>
                  <a:schemeClr val="tx1"/>
                </a:solidFill>
              </a:rPr>
              <a:t>A web demo to try every model</a:t>
            </a:r>
            <a:endParaRPr lang="en-US" sz="1300" dirty="0"/>
          </a:p>
        </p:txBody>
      </p:sp>
      <p:sp>
        <p:nvSpPr>
          <p:cNvPr id="6" name="Pretrained card"/>
          <p:cNvSpPr/>
          <p:nvPr/>
        </p:nvSpPr>
        <p:spPr>
          <a:xfrm>
            <a:off x="5577840" y="1097280"/>
            <a:ext cx="3108960" cy="2514600"/>
          </a:xfrm>
          <a:prstGeom prst="roundRect">
            <a:avLst>
              <a:gd name="adj" fmla="val 2909"/>
            </a:avLst>
          </a:prstGeom>
          <a:solidFill>
            <a:srgbClr val="EEEDF3"/>
          </a:solidFill>
          <a:ln w="12700">
            <a:solidFill>
              <a:srgbClr val="EEEDF3"/>
            </a:solidFill>
            <a:prstDash val="solid"/>
          </a:ln>
        </p:spPr>
      </p:sp>
      <p:sp>
        <p:nvSpPr>
          <p:cNvPr id="7" name="Pretrained heading"/>
          <p:cNvSpPr txBox="1"/>
          <p:nvPr/>
        </p:nvSpPr>
        <p:spPr>
          <a:xfrm>
            <a:off x="5760720" y="1234440"/>
            <a:ext cx="2743200" cy="365760"/>
          </a:xfrm>
          <a:prstGeom prst="rect">
            <a:avLst/>
          </a:prstGeom>
          <a:noFill/>
          <a:ln/>
        </p:spPr>
        <p:txBody>
          <a:bodyPr wrap="square" lIns="0" tIns="0" rIns="0" bIns="0" rtlCol="0" anchor="ctr"/>
          <a:lstStyle/>
          <a:p>
            <a:pPr indent="0" marL="0">
              <a:buNone/>
            </a:pPr>
            <a:r>
              <a:rPr lang="en-US" sz="1600" b="1" dirty="0">
                <a:solidFill>
                  <a:schemeClr val="accent6"/>
                </a:solidFill>
              </a:rPr>
              <a:t>Pretrained (not ours)</a:t>
            </a:r>
            <a:endParaRPr lang="en-US" sz="1600" dirty="0"/>
          </a:p>
        </p:txBody>
      </p:sp>
      <p:sp>
        <p:nvSpPr>
          <p:cNvPr id="8" name="Pretrained list"/>
          <p:cNvSpPr txBox="1"/>
          <p:nvPr/>
        </p:nvSpPr>
        <p:spPr>
          <a:xfrm>
            <a:off x="5760720" y="1645920"/>
            <a:ext cx="2743200" cy="1920240"/>
          </a:xfrm>
          <a:prstGeom prst="rect">
            <a:avLst/>
          </a:prstGeom>
          <a:noFill/>
          <a:ln/>
        </p:spPr>
        <p:txBody>
          <a:bodyPr wrap="square" lIns="0" tIns="0" rIns="0" bIns="0" rtlCol="0" anchor="t"/>
          <a:lstStyle/>
          <a:p>
            <a:pPr indent="0" marL="0">
              <a:buNone/>
            </a:pPr>
            <a:r>
              <a:rPr lang="en-US" sz="1200" b="1" dirty="0">
                <a:solidFill>
                  <a:schemeClr val="tx1"/>
                </a:solidFill>
              </a:rPr>
              <a:t>Tacotron 2: reference only</a:t>
            </a:r>
            <a:endParaRPr lang="en-US" sz="1200" dirty="0"/>
          </a:p>
          <a:p>
            <a:pPr indent="0" marL="0">
              <a:buNone/>
            </a:pPr>
            <a:r>
              <a:rPr lang="en-US" sz="1200" dirty="0">
                <a:solidFill>
                  <a:schemeClr val="tx1"/>
                </a:solidFill>
              </a:rPr>
              <a:t>Google's model, only to compare against</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tx1"/>
                </a:solidFill>
              </a:rPr>
              <a:t>HiFi-GAN vocoder</a:t>
            </a:r>
            <a:endParaRPr lang="en-US" sz="1200" dirty="0"/>
          </a:p>
          <a:p>
            <a:pPr indent="0" marL="0">
              <a:buNone/>
            </a:pPr>
            <a:r>
              <a:rPr lang="en-US" sz="1200" dirty="0">
                <a:solidFill>
                  <a:schemeClr val="tx1"/>
                </a:solidFill>
              </a:rPr>
              <a:t>turns sound pictures into natural audio</a:t>
            </a:r>
            <a:endParaRPr lang="en-US" sz="1200" dirty="0"/>
          </a:p>
          <a:p>
            <a:pPr indent="0" marL="0">
              <a:buNone/>
            </a:pPr>
            <a:r>
              <a:rPr lang="en-US" sz="600" dirty="0">
                <a:solidFill>
                  <a:schemeClr val="tx1"/>
                </a:solidFill>
              </a:rPr>
              <a:t> </a:t>
            </a:r>
            <a:endParaRPr lang="en-US" sz="1200" dirty="0"/>
          </a:p>
          <a:p>
            <a:pPr indent="0" marL="0">
              <a:buNone/>
            </a:pPr>
            <a:r>
              <a:rPr lang="en-US" sz="1200" b="1" dirty="0">
                <a:solidFill>
                  <a:schemeClr val="tx1"/>
                </a:solidFill>
              </a:rPr>
              <a:t>Speech-to-text program</a:t>
            </a:r>
            <a:endParaRPr lang="en-US" sz="1200" dirty="0"/>
          </a:p>
          <a:p>
            <a:pPr indent="0" marL="0">
              <a:buNone/>
            </a:pPr>
            <a:r>
              <a:rPr lang="en-US" sz="1200" dirty="0">
                <a:solidFill>
                  <a:schemeClr val="tx1"/>
                </a:solidFill>
              </a:rPr>
              <a:t>only the judge: types what it hears</a:t>
            </a:r>
            <a:endParaRPr lang="en-US" sz="1200" dirty="0"/>
          </a:p>
        </p:txBody>
      </p:sp>
      <p:sp>
        <p:nvSpPr>
          <p:cNvPr id="9" name="Why pretrained"/>
          <p:cNvSpPr txBox="1"/>
          <p:nvPr/>
        </p:nvSpPr>
        <p:spPr>
          <a:xfrm>
            <a:off x="5577840" y="3749040"/>
            <a:ext cx="3108960" cy="777240"/>
          </a:xfrm>
          <a:prstGeom prst="rect">
            <a:avLst/>
          </a:prstGeom>
          <a:noFill/>
          <a:ln/>
        </p:spPr>
        <p:txBody>
          <a:bodyPr wrap="square" lIns="0" tIns="0" rIns="0" bIns="0" rtlCol="0" anchor="t"/>
          <a:lstStyle/>
          <a:p>
            <a:pPr indent="0" marL="0">
              <a:buNone/>
            </a:pPr>
            <a:r>
              <a:rPr lang="en-US" sz="1200" b="1" dirty="0">
                <a:solidFill>
                  <a:schemeClr val="tx1"/>
                </a:solidFill>
              </a:rPr>
              <a:t>Tacotron 2 is the yardstick: </a:t>
            </a:r>
            <a:pPr indent="0" marL="0">
              <a:buNone/>
            </a:pPr>
            <a:r>
              <a:rPr lang="en-US" sz="1200" dirty="0">
                <a:solidFill>
                  <a:schemeClr val="tx1"/>
                </a:solidFill>
              </a:rPr>
              <a:t>the same kind of model as Colatron, but much bigger.</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Data and text cleaning</a:t>
            </a:r>
            <a:endParaRPr lang="en-US" sz="3000" dirty="0"/>
          </a:p>
        </p:txBody>
      </p:sp>
      <p:sp>
        <p:nvSpPr>
          <p:cNvPr id="3" name="Fact 1 value"/>
          <p:cNvSpPr txBox="1"/>
          <p:nvPr/>
        </p:nvSpPr>
        <p:spPr>
          <a:xfrm>
            <a:off x="457200" y="109728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13,100</a:t>
            </a:r>
            <a:endParaRPr lang="en-US" sz="2800" dirty="0"/>
          </a:p>
        </p:txBody>
      </p:sp>
      <p:sp>
        <p:nvSpPr>
          <p:cNvPr id="4" name="Fact 1 label"/>
          <p:cNvSpPr txBox="1"/>
          <p:nvPr/>
        </p:nvSpPr>
        <p:spPr>
          <a:xfrm>
            <a:off x="457200" y="157276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in LJ Speech 1.1</a:t>
            </a:r>
            <a:endParaRPr lang="en-US" sz="1200" dirty="0"/>
          </a:p>
        </p:txBody>
      </p:sp>
      <p:sp>
        <p:nvSpPr>
          <p:cNvPr id="5" name="Fact 2 value"/>
          <p:cNvSpPr txBox="1"/>
          <p:nvPr/>
        </p:nvSpPr>
        <p:spPr>
          <a:xfrm>
            <a:off x="457200" y="196596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23.9 h</a:t>
            </a:r>
            <a:endParaRPr lang="en-US" sz="2800" dirty="0"/>
          </a:p>
        </p:txBody>
      </p:sp>
      <p:sp>
        <p:nvSpPr>
          <p:cNvPr id="6" name="Fact 2 label"/>
          <p:cNvSpPr txBox="1"/>
          <p:nvPr/>
        </p:nvSpPr>
        <p:spPr>
          <a:xfrm>
            <a:off x="457200" y="244144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one female speaker</a:t>
            </a:r>
            <a:endParaRPr lang="en-US" sz="1200" dirty="0"/>
          </a:p>
        </p:txBody>
      </p:sp>
      <p:sp>
        <p:nvSpPr>
          <p:cNvPr id="7" name="Fact 3 value"/>
          <p:cNvSpPr txBox="1"/>
          <p:nvPr/>
        </p:nvSpPr>
        <p:spPr>
          <a:xfrm>
            <a:off x="457200" y="283464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12,960</a:t>
            </a:r>
            <a:endParaRPr lang="en-US" sz="2800" dirty="0"/>
          </a:p>
        </p:txBody>
      </p:sp>
      <p:sp>
        <p:nvSpPr>
          <p:cNvPr id="8" name="Fact 3 label"/>
          <p:cNvSpPr txBox="1"/>
          <p:nvPr/>
        </p:nvSpPr>
        <p:spPr>
          <a:xfrm>
            <a:off x="457200" y="331012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clips used for training</a:t>
            </a:r>
            <a:endParaRPr lang="en-US" sz="1200" dirty="0"/>
          </a:p>
        </p:txBody>
      </p:sp>
      <p:sp>
        <p:nvSpPr>
          <p:cNvPr id="9" name="Fact 4 value"/>
          <p:cNvSpPr txBox="1"/>
          <p:nvPr/>
        </p:nvSpPr>
        <p:spPr>
          <a:xfrm>
            <a:off x="457200" y="3703320"/>
            <a:ext cx="2468880" cy="502920"/>
          </a:xfrm>
          <a:prstGeom prst="rect">
            <a:avLst/>
          </a:prstGeom>
          <a:noFill/>
          <a:ln/>
        </p:spPr>
        <p:txBody>
          <a:bodyPr wrap="square" lIns="0" tIns="0" rIns="0" bIns="0" rtlCol="0" anchor="ctr"/>
          <a:lstStyle/>
          <a:p>
            <a:pPr indent="0" marL="0">
              <a:buNone/>
            </a:pPr>
            <a:r>
              <a:rPr lang="en-US" sz="2800" b="1" dirty="0">
                <a:solidFill>
                  <a:schemeClr val="accent1"/>
                </a:solidFill>
                <a:latin typeface="Arial" pitchFamily="34" charset="0"/>
                <a:ea typeface="Arial" pitchFamily="34" charset="-122"/>
                <a:cs typeface="Arial" pitchFamily="34" charset="-120"/>
              </a:rPr>
              <a:t>100 / 40</a:t>
            </a:r>
            <a:endParaRPr lang="en-US" sz="2800" dirty="0"/>
          </a:p>
        </p:txBody>
      </p:sp>
      <p:sp>
        <p:nvSpPr>
          <p:cNvPr id="10" name="Fact 4 label"/>
          <p:cNvSpPr txBox="1"/>
          <p:nvPr/>
        </p:nvSpPr>
        <p:spPr>
          <a:xfrm>
            <a:off x="457200" y="4178808"/>
            <a:ext cx="2377440" cy="274320"/>
          </a:xfrm>
          <a:prstGeom prst="rect">
            <a:avLst/>
          </a:prstGeom>
          <a:noFill/>
          <a:ln/>
        </p:spPr>
        <p:txBody>
          <a:bodyPr wrap="square" lIns="0" tIns="0" rIns="0" bIns="0" rtlCol="0" anchor="ctr"/>
          <a:lstStyle/>
          <a:p>
            <a:pPr indent="0" marL="0">
              <a:buNone/>
            </a:pPr>
            <a:r>
              <a:rPr lang="en-US" sz="1200" dirty="0">
                <a:solidFill>
                  <a:schemeClr val="accent6"/>
                </a:solidFill>
              </a:rPr>
              <a:t>validation / test clips</a:t>
            </a:r>
            <a:endParaRPr lang="en-US" sz="1200" dirty="0"/>
          </a:p>
        </p:txBody>
      </p:sp>
      <p:sp>
        <p:nvSpPr>
          <p:cNvPr id="11" name="Cleaning example card"/>
          <p:cNvSpPr/>
          <p:nvPr/>
        </p:nvSpPr>
        <p:spPr>
          <a:xfrm>
            <a:off x="3108960" y="1097280"/>
            <a:ext cx="5577840" cy="1965960"/>
          </a:xfrm>
          <a:prstGeom prst="roundRect">
            <a:avLst>
              <a:gd name="adj" fmla="val 3721"/>
            </a:avLst>
          </a:prstGeom>
          <a:solidFill>
            <a:schemeClr val="bg2"/>
          </a:solidFill>
          <a:ln w="12700">
            <a:solidFill>
              <a:schemeClr val="bg2"/>
            </a:solidFill>
            <a:prstDash val="solid"/>
          </a:ln>
        </p:spPr>
      </p:sp>
      <p:sp>
        <p:nvSpPr>
          <p:cNvPr id="12" name="Cleaning example"/>
          <p:cNvSpPr txBox="1"/>
          <p:nvPr/>
        </p:nvSpPr>
        <p:spPr>
          <a:xfrm>
            <a:off x="3291840" y="1188720"/>
            <a:ext cx="5212080" cy="1783080"/>
          </a:xfrm>
          <a:prstGeom prst="rect">
            <a:avLst/>
          </a:prstGeom>
          <a:noFill/>
          <a:ln/>
        </p:spPr>
        <p:txBody>
          <a:bodyPr wrap="square" lIns="0" tIns="0" rIns="0" bIns="0" rtlCol="0" anchor="t"/>
          <a:lstStyle/>
          <a:p>
            <a:pPr indent="0" marL="0">
              <a:buNone/>
            </a:pPr>
            <a:r>
              <a:rPr lang="en-US" sz="1200" b="1" dirty="0">
                <a:solidFill>
                  <a:schemeClr val="accent6"/>
                </a:solidFill>
              </a:rPr>
              <a:t>Raw text</a:t>
            </a:r>
            <a:endParaRPr lang="en-US" sz="1400" dirty="0"/>
          </a:p>
          <a:p>
            <a:pPr indent="0" marL="0">
              <a:buNone/>
            </a:pPr>
            <a:r>
              <a:rPr lang="en-US" sz="1400" dirty="0">
                <a:solidFill>
                  <a:schemeClr val="tx1"/>
                </a:solidFill>
              </a:rPr>
              <a:t>Dr. Smith paid $42.50 in 1984.</a:t>
            </a:r>
            <a:endParaRPr lang="en-US" sz="1400" dirty="0"/>
          </a:p>
          <a:p>
            <a:pPr indent="0" marL="0">
              <a:buNone/>
            </a:pPr>
            <a:r>
              <a:rPr lang="en-US" sz="1200" b="1" dirty="0">
                <a:solidFill>
                  <a:schemeClr val="accent6"/>
                </a:solidFill>
              </a:rPr>
              <a:t>Cleaned</a:t>
            </a:r>
            <a:endParaRPr lang="en-US" sz="1400" dirty="0"/>
          </a:p>
          <a:p>
            <a:pPr indent="0" marL="0">
              <a:buNone/>
            </a:pPr>
            <a:r>
              <a:rPr lang="en-US" sz="1400" dirty="0">
                <a:solidFill>
                  <a:schemeClr val="tx1"/>
                </a:solidFill>
              </a:rPr>
              <a:t>doctor smith paid forty two dollars and fifty cents in nineteen eighty four.</a:t>
            </a:r>
            <a:endParaRPr lang="en-US" sz="1400" dirty="0"/>
          </a:p>
          <a:p>
            <a:pPr indent="0" marL="0">
              <a:buNone/>
            </a:pPr>
            <a:r>
              <a:rPr lang="en-US" sz="1200" b="1" dirty="0">
                <a:solidFill>
                  <a:schemeClr val="accent6"/>
                </a:solidFill>
              </a:rPr>
              <a:t>Each letter → one fixed number (37 symbols)</a:t>
            </a:r>
            <a:endParaRPr lang="en-US" sz="1400" dirty="0"/>
          </a:p>
          <a:p>
            <a:pPr indent="0" marL="0">
              <a:buNone/>
            </a:pPr>
            <a:r>
              <a:rPr lang="en-US" sz="1300" dirty="0">
                <a:solidFill>
                  <a:schemeClr val="tx1"/>
                </a:solidFill>
                <a:latin typeface="Courier New" pitchFamily="34" charset="0"/>
                <a:ea typeface="Courier New" pitchFamily="34" charset="-122"/>
                <a:cs typeface="Courier New" pitchFamily="34" charset="-120"/>
              </a:rPr>
              <a:t>d→5  o→16  c→4  t→21  …  same mapping on every run</a:t>
            </a:r>
            <a:endParaRPr lang="en-US" sz="1400" dirty="0"/>
          </a:p>
        </p:txBody>
      </p:sp>
      <p:sp>
        <p:nvSpPr>
          <p:cNvPr id="13" name="Audio steps"/>
          <p:cNvSpPr txBox="1"/>
          <p:nvPr/>
        </p:nvSpPr>
        <p:spPr>
          <a:xfrm>
            <a:off x="3108960" y="3246120"/>
            <a:ext cx="5577840" cy="123444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Each recording is turned into a picture of the sound</a:t>
            </a:r>
            <a:endParaRPr lang="en-US" sz="1400" dirty="0"/>
          </a:p>
          <a:p>
            <a:pPr marL="342900" indent="-342900">
              <a:spcAft>
                <a:spcPts val="400"/>
              </a:spcAft>
              <a:buSzPct val="100000"/>
              <a:buChar char="•"/>
            </a:pPr>
            <a:r>
              <a:rPr lang="en-US" sz="1400" dirty="0">
                <a:solidFill>
                  <a:schemeClr val="tx1"/>
                </a:solidFill>
              </a:rPr>
              <a:t>All 13,100 pictures made once, before training</a:t>
            </a:r>
            <a:endParaRPr lang="en-US" sz="1400" dirty="0"/>
          </a:p>
          <a:p>
            <a:pPr marL="342900" indent="-342900">
              <a:spcAft>
                <a:spcPts val="400"/>
              </a:spcAft>
              <a:buSzPct val="100000"/>
              <a:buChar char="•"/>
            </a:pPr>
            <a:r>
              <a:rPr lang="en-US" sz="1400" dirty="0">
                <a:solidFill>
                  <a:schemeClr val="tx1"/>
                </a:solidFill>
              </a:rPr>
              <a:t>40 test clips kept aside: never used for training</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Baseline: no attention</a:t>
            </a:r>
            <a:endParaRPr lang="en-US" sz="3000" dirty="0"/>
          </a:p>
        </p:txBody>
      </p:sp>
      <p:sp>
        <p:nvSpPr>
          <p:cNvPr id="3" name="Layer 1"/>
          <p:cNvSpPr/>
          <p:nvPr/>
        </p:nvSpPr>
        <p:spPr>
          <a:xfrm>
            <a:off x="457200" y="1051560"/>
            <a:ext cx="3931920" cy="457200"/>
          </a:xfrm>
          <a:prstGeom prst="roundRect">
            <a:avLst>
              <a:gd name="adj" fmla="val 16000"/>
            </a:avLst>
          </a:prstGeom>
          <a:solidFill>
            <a:schemeClr val="bg2"/>
          </a:solidFill>
          <a:ln w="12700">
            <a:solidFill>
              <a:schemeClr val="bg2"/>
            </a:solidFill>
            <a:prstDash val="solid"/>
          </a:ln>
        </p:spPr>
      </p:sp>
      <p:sp>
        <p:nvSpPr>
          <p:cNvPr id="4" name="Layer 1 text"/>
          <p:cNvSpPr txBox="1"/>
          <p:nvPr/>
        </p:nvSpPr>
        <p:spPr>
          <a:xfrm>
            <a:off x="640080" y="1051560"/>
            <a:ext cx="3566160" cy="457200"/>
          </a:xfrm>
          <a:prstGeom prst="rect">
            <a:avLst/>
          </a:prstGeom>
          <a:noFill/>
          <a:ln/>
        </p:spPr>
        <p:txBody>
          <a:bodyPr wrap="square" lIns="0" tIns="0" rIns="0" bIns="0" rtlCol="0" anchor="ctr"/>
          <a:lstStyle/>
          <a:p>
            <a:pPr indent="0" marL="0">
              <a:buNone/>
            </a:pPr>
            <a:r>
              <a:rPr lang="en-US" sz="1400" dirty="0">
                <a:solidFill>
                  <a:schemeClr val="tx1"/>
                </a:solidFill>
              </a:rPr>
              <a:t>Letters of the sentence</a:t>
            </a:r>
            <a:endParaRPr lang="en-US" sz="1400" dirty="0"/>
          </a:p>
        </p:txBody>
      </p:sp>
      <p:sp>
        <p:nvSpPr>
          <p:cNvPr id="5" name="Layer 2"/>
          <p:cNvSpPr/>
          <p:nvPr/>
        </p:nvSpPr>
        <p:spPr>
          <a:xfrm>
            <a:off x="457200" y="1627632"/>
            <a:ext cx="3931920" cy="457200"/>
          </a:xfrm>
          <a:prstGeom prst="roundRect">
            <a:avLst>
              <a:gd name="adj" fmla="val 16000"/>
            </a:avLst>
          </a:prstGeom>
          <a:solidFill>
            <a:schemeClr val="bg2"/>
          </a:solidFill>
          <a:ln w="12700">
            <a:solidFill>
              <a:schemeClr val="bg2"/>
            </a:solidFill>
            <a:prstDash val="solid"/>
          </a:ln>
        </p:spPr>
      </p:sp>
      <p:sp>
        <p:nvSpPr>
          <p:cNvPr id="6" name="Layer 2 text"/>
          <p:cNvSpPr txBox="1"/>
          <p:nvPr/>
        </p:nvSpPr>
        <p:spPr>
          <a:xfrm>
            <a:off x="640080" y="1627632"/>
            <a:ext cx="3566160" cy="457200"/>
          </a:xfrm>
          <a:prstGeom prst="rect">
            <a:avLst/>
          </a:prstGeom>
          <a:noFill/>
          <a:ln/>
        </p:spPr>
        <p:txBody>
          <a:bodyPr wrap="square" lIns="0" tIns="0" rIns="0" bIns="0" rtlCol="0" anchor="ctr"/>
          <a:lstStyle/>
          <a:p>
            <a:pPr indent="0" marL="0">
              <a:buNone/>
            </a:pPr>
            <a:r>
              <a:rPr lang="en-US" sz="1400" dirty="0">
                <a:solidFill>
                  <a:schemeClr val="tx1"/>
                </a:solidFill>
              </a:rPr>
              <a:t>Turn each letter into numbers</a:t>
            </a:r>
            <a:endParaRPr lang="en-US" sz="1400" dirty="0"/>
          </a:p>
        </p:txBody>
      </p:sp>
      <p:sp>
        <p:nvSpPr>
          <p:cNvPr id="7" name="Layer 3"/>
          <p:cNvSpPr/>
          <p:nvPr/>
        </p:nvSpPr>
        <p:spPr>
          <a:xfrm>
            <a:off x="457200" y="2203704"/>
            <a:ext cx="3931920" cy="457200"/>
          </a:xfrm>
          <a:prstGeom prst="roundRect">
            <a:avLst>
              <a:gd name="adj" fmla="val 16000"/>
            </a:avLst>
          </a:prstGeom>
          <a:solidFill>
            <a:schemeClr val="bg2"/>
          </a:solidFill>
          <a:ln w="12700">
            <a:solidFill>
              <a:schemeClr val="bg2"/>
            </a:solidFill>
            <a:prstDash val="solid"/>
          </a:ln>
        </p:spPr>
      </p:sp>
      <p:sp>
        <p:nvSpPr>
          <p:cNvPr id="8" name="Layer 3 text"/>
          <p:cNvSpPr txBox="1"/>
          <p:nvPr/>
        </p:nvSpPr>
        <p:spPr>
          <a:xfrm>
            <a:off x="640080" y="2203704"/>
            <a:ext cx="3566160" cy="457200"/>
          </a:xfrm>
          <a:prstGeom prst="rect">
            <a:avLst/>
          </a:prstGeom>
          <a:noFill/>
          <a:ln/>
        </p:spPr>
        <p:txBody>
          <a:bodyPr wrap="square" lIns="0" tIns="0" rIns="0" bIns="0" rtlCol="0" anchor="ctr"/>
          <a:lstStyle/>
          <a:p>
            <a:pPr indent="0" marL="0">
              <a:buNone/>
            </a:pPr>
            <a:r>
              <a:rPr lang="en-US" sz="1400" dirty="0">
                <a:solidFill>
                  <a:schemeClr val="tx1"/>
                </a:solidFill>
              </a:rPr>
              <a:t>Look at neighbouring letters</a:t>
            </a:r>
            <a:endParaRPr lang="en-US" sz="1400" dirty="0"/>
          </a:p>
        </p:txBody>
      </p:sp>
      <p:sp>
        <p:nvSpPr>
          <p:cNvPr id="9" name="Layer 4"/>
          <p:cNvSpPr/>
          <p:nvPr/>
        </p:nvSpPr>
        <p:spPr>
          <a:xfrm>
            <a:off x="457200" y="2779776"/>
            <a:ext cx="3931920" cy="457200"/>
          </a:xfrm>
          <a:prstGeom prst="roundRect">
            <a:avLst>
              <a:gd name="adj" fmla="val 16000"/>
            </a:avLst>
          </a:prstGeom>
          <a:solidFill>
            <a:schemeClr val="accent2"/>
          </a:solidFill>
          <a:ln w="12700">
            <a:solidFill>
              <a:schemeClr val="accent2"/>
            </a:solidFill>
            <a:prstDash val="solid"/>
          </a:ln>
        </p:spPr>
      </p:sp>
      <p:sp>
        <p:nvSpPr>
          <p:cNvPr id="10" name="Layer 4 text"/>
          <p:cNvSpPr txBox="1"/>
          <p:nvPr/>
        </p:nvSpPr>
        <p:spPr>
          <a:xfrm>
            <a:off x="640080" y="2779776"/>
            <a:ext cx="3566160" cy="457200"/>
          </a:xfrm>
          <a:prstGeom prst="rect">
            <a:avLst/>
          </a:prstGeom>
          <a:noFill/>
          <a:ln/>
        </p:spPr>
        <p:txBody>
          <a:bodyPr wrap="square" lIns="0" tIns="0" rIns="0" bIns="0" rtlCol="0" anchor="ctr"/>
          <a:lstStyle/>
          <a:p>
            <a:pPr indent="0" marL="0">
              <a:buNone/>
            </a:pPr>
            <a:r>
              <a:rPr lang="en-US" sz="1400" b="1" dirty="0">
                <a:solidFill>
                  <a:schemeClr val="bg1"/>
                </a:solidFill>
              </a:rPr>
              <a:t>Give every letter the same time (no attention)</a:t>
            </a:r>
            <a:endParaRPr lang="en-US" sz="1400" dirty="0"/>
          </a:p>
        </p:txBody>
      </p:sp>
      <p:sp>
        <p:nvSpPr>
          <p:cNvPr id="11" name="Layer 5"/>
          <p:cNvSpPr/>
          <p:nvPr/>
        </p:nvSpPr>
        <p:spPr>
          <a:xfrm>
            <a:off x="457200" y="3355848"/>
            <a:ext cx="3931920" cy="457200"/>
          </a:xfrm>
          <a:prstGeom prst="roundRect">
            <a:avLst>
              <a:gd name="adj" fmla="val 16000"/>
            </a:avLst>
          </a:prstGeom>
          <a:solidFill>
            <a:schemeClr val="bg2"/>
          </a:solidFill>
          <a:ln w="12700">
            <a:solidFill>
              <a:schemeClr val="bg2"/>
            </a:solidFill>
            <a:prstDash val="solid"/>
          </a:ln>
        </p:spPr>
      </p:sp>
      <p:sp>
        <p:nvSpPr>
          <p:cNvPr id="12" name="Layer 5 text"/>
          <p:cNvSpPr txBox="1"/>
          <p:nvPr/>
        </p:nvSpPr>
        <p:spPr>
          <a:xfrm>
            <a:off x="640080" y="3355848"/>
            <a:ext cx="3566160" cy="457200"/>
          </a:xfrm>
          <a:prstGeom prst="rect">
            <a:avLst/>
          </a:prstGeom>
          <a:noFill/>
          <a:ln/>
        </p:spPr>
        <p:txBody>
          <a:bodyPr wrap="square" lIns="0" tIns="0" rIns="0" bIns="0" rtlCol="0" anchor="ctr"/>
          <a:lstStyle/>
          <a:p>
            <a:pPr indent="0" marL="0">
              <a:buNone/>
            </a:pPr>
            <a:r>
              <a:rPr lang="en-US" sz="1400" dirty="0">
                <a:solidFill>
                  <a:schemeClr val="tx1"/>
                </a:solidFill>
              </a:rPr>
              <a:t>Draw the sound picture</a:t>
            </a:r>
            <a:endParaRPr lang="en-US" sz="1400" dirty="0"/>
          </a:p>
        </p:txBody>
      </p:sp>
      <p:sp>
        <p:nvSpPr>
          <p:cNvPr id="13" name="Layer 6"/>
          <p:cNvSpPr/>
          <p:nvPr/>
        </p:nvSpPr>
        <p:spPr>
          <a:xfrm>
            <a:off x="457200" y="3931920"/>
            <a:ext cx="3931920" cy="457200"/>
          </a:xfrm>
          <a:prstGeom prst="roundRect">
            <a:avLst>
              <a:gd name="adj" fmla="val 16000"/>
            </a:avLst>
          </a:prstGeom>
          <a:solidFill>
            <a:schemeClr val="bg2"/>
          </a:solidFill>
          <a:ln w="12700">
            <a:solidFill>
              <a:schemeClr val="bg2"/>
            </a:solidFill>
            <a:prstDash val="solid"/>
          </a:ln>
        </p:spPr>
      </p:sp>
      <p:sp>
        <p:nvSpPr>
          <p:cNvPr id="14" name="Layer 6 text"/>
          <p:cNvSpPr txBox="1"/>
          <p:nvPr/>
        </p:nvSpPr>
        <p:spPr>
          <a:xfrm>
            <a:off x="640080" y="3931920"/>
            <a:ext cx="3566160" cy="457200"/>
          </a:xfrm>
          <a:prstGeom prst="rect">
            <a:avLst/>
          </a:prstGeom>
          <a:noFill/>
          <a:ln/>
        </p:spPr>
        <p:txBody>
          <a:bodyPr wrap="square" lIns="0" tIns="0" rIns="0" bIns="0" rtlCol="0" anchor="ctr"/>
          <a:lstStyle/>
          <a:p>
            <a:pPr indent="0" marL="0">
              <a:buNone/>
            </a:pPr>
            <a:r>
              <a:rPr lang="en-US" sz="1400" dirty="0">
                <a:solidFill>
                  <a:schemeClr val="tx1"/>
                </a:solidFill>
              </a:rPr>
              <a:t>Turn the picture into audio</a:t>
            </a:r>
            <a:endParaRPr lang="en-US" sz="1400" dirty="0"/>
          </a:p>
        </p:txBody>
      </p:sp>
      <p:sp>
        <p:nvSpPr>
          <p:cNvPr id="15" name="Training heading"/>
          <p:cNvSpPr txBox="1"/>
          <p:nvPr/>
        </p:nvSpPr>
        <p:spPr>
          <a:xfrm>
            <a:off x="4754880" y="1051560"/>
            <a:ext cx="3931920" cy="365760"/>
          </a:xfrm>
          <a:prstGeom prst="rect">
            <a:avLst/>
          </a:prstGeom>
          <a:noFill/>
          <a:ln/>
        </p:spPr>
        <p:txBody>
          <a:bodyPr wrap="square" lIns="0" tIns="0" rIns="0" bIns="0" rtlCol="0" anchor="ctr"/>
          <a:lstStyle/>
          <a:p>
            <a:pPr indent="0" marL="0">
              <a:buNone/>
            </a:pPr>
            <a:r>
              <a:rPr lang="en-US" sz="1800" b="1" dirty="0">
                <a:solidFill>
                  <a:schemeClr val="accent1"/>
                </a:solidFill>
              </a:rPr>
              <a:t>Training</a:t>
            </a:r>
            <a:endParaRPr lang="en-US" sz="1800" dirty="0"/>
          </a:p>
        </p:txBody>
      </p:sp>
      <p:sp>
        <p:nvSpPr>
          <p:cNvPr id="16" name="Training list"/>
          <p:cNvSpPr txBox="1"/>
          <p:nvPr/>
        </p:nvSpPr>
        <p:spPr>
          <a:xfrm>
            <a:off x="4754880" y="1463040"/>
            <a:ext cx="3931920" cy="1554480"/>
          </a:xfrm>
          <a:prstGeom prst="rect">
            <a:avLst/>
          </a:prstGeom>
          <a:noFill/>
          <a:ln/>
        </p:spPr>
        <p:txBody>
          <a:bodyPr wrap="square" lIns="0" tIns="0" rIns="0" bIns="0" rtlCol="0" anchor="t"/>
          <a:lstStyle/>
          <a:p>
            <a:pPr marL="342900" indent="-342900">
              <a:spcAft>
                <a:spcPts val="400"/>
              </a:spcAft>
              <a:buSzPct val="100000"/>
              <a:buChar char="•"/>
            </a:pPr>
            <a:r>
              <a:rPr lang="en-US" sz="1400" dirty="0">
                <a:solidFill>
                  <a:schemeClr val="tx1"/>
                </a:solidFill>
              </a:rPr>
              <a:t>Trained on 324 clips</a:t>
            </a:r>
            <a:endParaRPr lang="en-US" sz="1400" dirty="0"/>
          </a:p>
          <a:p>
            <a:pPr marL="342900" indent="-342900">
              <a:spcAft>
                <a:spcPts val="400"/>
              </a:spcAft>
              <a:buSzPct val="100000"/>
              <a:buChar char="•"/>
            </a:pPr>
            <a:r>
              <a:rPr lang="en-US" sz="1400" dirty="0">
                <a:solidFill>
                  <a:schemeClr val="tx1"/>
                </a:solidFill>
              </a:rPr>
              <a:t>Small: about 0.9 million numbers</a:t>
            </a:r>
            <a:endParaRPr lang="en-US" sz="1400" dirty="0"/>
          </a:p>
          <a:p>
            <a:pPr marL="342900" indent="-342900">
              <a:spcAft>
                <a:spcPts val="400"/>
              </a:spcAft>
              <a:buSzPct val="100000"/>
              <a:buChar char="•"/>
            </a:pPr>
            <a:r>
              <a:rPr lang="en-US" sz="1400" dirty="0">
                <a:solidFill>
                  <a:schemeClr val="tx1"/>
                </a:solidFill>
              </a:rPr>
              <a:t>Learns by comparing its picture with the real one</a:t>
            </a:r>
            <a:endParaRPr lang="en-US" sz="1400" dirty="0"/>
          </a:p>
        </p:txBody>
      </p:sp>
      <p:sp>
        <p:nvSpPr>
          <p:cNvPr id="17" name="Why weak"/>
          <p:cNvSpPr txBox="1"/>
          <p:nvPr/>
        </p:nvSpPr>
        <p:spPr>
          <a:xfrm>
            <a:off x="4754880" y="3154680"/>
            <a:ext cx="3931920" cy="1280160"/>
          </a:xfrm>
          <a:prstGeom prst="rect">
            <a:avLst/>
          </a:prstGeom>
          <a:noFill/>
          <a:ln/>
        </p:spPr>
        <p:txBody>
          <a:bodyPr wrap="square" lIns="0" tIns="0" rIns="0" bIns="0" rtlCol="0" anchor="t"/>
          <a:lstStyle/>
          <a:p>
            <a:pPr indent="0" marL="0">
              <a:buNone/>
            </a:pPr>
            <a:r>
              <a:rPr lang="en-US" sz="1400" b="1" dirty="0">
                <a:solidFill>
                  <a:schemeClr val="tx1"/>
                </a:solidFill>
              </a:rPr>
              <a:t>Deliberately weak. </a:t>
            </a:r>
            <a:pPr indent="0" marL="0">
              <a:buNone/>
            </a:pPr>
            <a:r>
              <a:rPr lang="en-US" sz="1400" dirty="0">
                <a:solidFill>
                  <a:schemeClr val="tx1"/>
                </a:solidFill>
              </a:rPr>
              <a:t>Real speech gives some letters more time than others, and has pauses. This model can't learn that, so it sounds like static.</a:t>
            </a:r>
            <a:endParaRPr lang="en-US" sz="14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Colatron: our seq2seq model</a:t>
            </a:r>
            <a:endParaRPr lang="en-US" sz="3000" dirty="0"/>
          </a:p>
        </p:txBody>
      </p:sp>
      <p:sp>
        <p:nvSpPr>
          <p:cNvPr id="3" name="Colatron part 1 circle"/>
          <p:cNvSpPr/>
          <p:nvPr/>
        </p:nvSpPr>
        <p:spPr>
          <a:xfrm>
            <a:off x="457200" y="1143000"/>
            <a:ext cx="384048" cy="384048"/>
          </a:xfrm>
          <a:prstGeom prst="ellipse">
            <a:avLst/>
          </a:prstGeom>
          <a:solidFill>
            <a:schemeClr val="accent1"/>
          </a:solidFill>
          <a:ln w="12700">
            <a:solidFill>
              <a:schemeClr val="accent1"/>
            </a:solidFill>
            <a:prstDash val="solid"/>
          </a:ln>
        </p:spPr>
      </p:sp>
      <p:sp>
        <p:nvSpPr>
          <p:cNvPr id="4" name="Colatron part 1 label"/>
          <p:cNvSpPr txBox="1"/>
          <p:nvPr/>
        </p:nvSpPr>
        <p:spPr>
          <a:xfrm>
            <a:off x="457200" y="114300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Colatron part 1 name"/>
          <p:cNvSpPr txBox="1"/>
          <p:nvPr/>
        </p:nvSpPr>
        <p:spPr>
          <a:xfrm>
            <a:off x="1005840" y="1097280"/>
            <a:ext cx="3840480" cy="320040"/>
          </a:xfrm>
          <a:prstGeom prst="rect">
            <a:avLst/>
          </a:prstGeom>
          <a:noFill/>
          <a:ln/>
        </p:spPr>
        <p:txBody>
          <a:bodyPr wrap="square" lIns="0" tIns="0" rIns="0" bIns="0" rtlCol="0" anchor="ctr"/>
          <a:lstStyle/>
          <a:p>
            <a:pPr indent="0" marL="0">
              <a:buNone/>
            </a:pPr>
            <a:r>
              <a:rPr lang="en-US" sz="1600" b="1" dirty="0">
                <a:solidFill>
                  <a:schemeClr val="tx1"/>
                </a:solidFill>
              </a:rPr>
              <a:t>Encoder</a:t>
            </a:r>
            <a:endParaRPr lang="en-US" sz="1600" dirty="0"/>
          </a:p>
        </p:txBody>
      </p:sp>
      <p:sp>
        <p:nvSpPr>
          <p:cNvPr id="6" name="Colatron part 1 body"/>
          <p:cNvSpPr txBox="1"/>
          <p:nvPr/>
        </p:nvSpPr>
        <p:spPr>
          <a:xfrm>
            <a:off x="1005840" y="1417320"/>
            <a:ext cx="3840480" cy="457200"/>
          </a:xfrm>
          <a:prstGeom prst="rect">
            <a:avLst/>
          </a:prstGeom>
          <a:noFill/>
          <a:ln/>
        </p:spPr>
        <p:txBody>
          <a:bodyPr wrap="square" lIns="0" tIns="0" rIns="0" bIns="0" rtlCol="0" anchor="t"/>
          <a:lstStyle/>
          <a:p>
            <a:pPr indent="0" marL="0">
              <a:buNone/>
            </a:pPr>
            <a:r>
              <a:rPr lang="en-US" sz="1300" dirty="0">
                <a:solidFill>
                  <a:schemeClr val="accent6"/>
                </a:solidFill>
              </a:rPr>
              <a:t>reads the whole sentence, forwards and backwards</a:t>
            </a:r>
            <a:endParaRPr lang="en-US" sz="1300" dirty="0"/>
          </a:p>
        </p:txBody>
      </p:sp>
      <p:sp>
        <p:nvSpPr>
          <p:cNvPr id="7" name="Colatron part 2 circle"/>
          <p:cNvSpPr/>
          <p:nvPr/>
        </p:nvSpPr>
        <p:spPr>
          <a:xfrm>
            <a:off x="457200" y="1984248"/>
            <a:ext cx="384048" cy="384048"/>
          </a:xfrm>
          <a:prstGeom prst="ellipse">
            <a:avLst/>
          </a:prstGeom>
          <a:solidFill>
            <a:schemeClr val="accent1"/>
          </a:solidFill>
          <a:ln w="12700">
            <a:solidFill>
              <a:schemeClr val="accent1"/>
            </a:solidFill>
            <a:prstDash val="solid"/>
          </a:ln>
        </p:spPr>
      </p:sp>
      <p:sp>
        <p:nvSpPr>
          <p:cNvPr id="8" name="Colatron part 2 label"/>
          <p:cNvSpPr txBox="1"/>
          <p:nvPr/>
        </p:nvSpPr>
        <p:spPr>
          <a:xfrm>
            <a:off x="457200" y="1984248"/>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Colatron part 2 name"/>
          <p:cNvSpPr txBox="1"/>
          <p:nvPr/>
        </p:nvSpPr>
        <p:spPr>
          <a:xfrm>
            <a:off x="1005840" y="1938528"/>
            <a:ext cx="3840480" cy="320040"/>
          </a:xfrm>
          <a:prstGeom prst="rect">
            <a:avLst/>
          </a:prstGeom>
          <a:noFill/>
          <a:ln/>
        </p:spPr>
        <p:txBody>
          <a:bodyPr wrap="square" lIns="0" tIns="0" rIns="0" bIns="0" rtlCol="0" anchor="ctr"/>
          <a:lstStyle/>
          <a:p>
            <a:pPr indent="0" marL="0">
              <a:buNone/>
            </a:pPr>
            <a:r>
              <a:rPr lang="en-US" sz="1600" b="1" dirty="0">
                <a:solidFill>
                  <a:schemeClr val="tx1"/>
                </a:solidFill>
              </a:rPr>
              <a:t>Attention</a:t>
            </a:r>
            <a:endParaRPr lang="en-US" sz="1600" dirty="0"/>
          </a:p>
        </p:txBody>
      </p:sp>
      <p:sp>
        <p:nvSpPr>
          <p:cNvPr id="10" name="Colatron part 2 body"/>
          <p:cNvSpPr txBox="1"/>
          <p:nvPr/>
        </p:nvSpPr>
        <p:spPr>
          <a:xfrm>
            <a:off x="1005840" y="2258568"/>
            <a:ext cx="3840480" cy="457200"/>
          </a:xfrm>
          <a:prstGeom prst="rect">
            <a:avLst/>
          </a:prstGeom>
          <a:noFill/>
          <a:ln/>
        </p:spPr>
        <p:txBody>
          <a:bodyPr wrap="square" lIns="0" tIns="0" rIns="0" bIns="0" rtlCol="0" anchor="t"/>
          <a:lstStyle/>
          <a:p>
            <a:pPr indent="0" marL="0">
              <a:buNone/>
            </a:pPr>
            <a:r>
              <a:rPr lang="en-US" sz="1300" dirty="0">
                <a:solidFill>
                  <a:schemeClr val="accent6"/>
                </a:solidFill>
              </a:rPr>
              <a:t>the finger on the text: which letter are we saying now? It remembers where it was, so it moves forward</a:t>
            </a:r>
            <a:endParaRPr lang="en-US" sz="1300" dirty="0"/>
          </a:p>
        </p:txBody>
      </p:sp>
      <p:sp>
        <p:nvSpPr>
          <p:cNvPr id="11" name="Colatron part 3 circle"/>
          <p:cNvSpPr/>
          <p:nvPr/>
        </p:nvSpPr>
        <p:spPr>
          <a:xfrm>
            <a:off x="457200" y="2825496"/>
            <a:ext cx="384048" cy="384048"/>
          </a:xfrm>
          <a:prstGeom prst="ellipse">
            <a:avLst/>
          </a:prstGeom>
          <a:solidFill>
            <a:schemeClr val="accent1"/>
          </a:solidFill>
          <a:ln w="12700">
            <a:solidFill>
              <a:schemeClr val="accent1"/>
            </a:solidFill>
            <a:prstDash val="solid"/>
          </a:ln>
        </p:spPr>
      </p:sp>
      <p:sp>
        <p:nvSpPr>
          <p:cNvPr id="12" name="Colatron part 3 label"/>
          <p:cNvSpPr txBox="1"/>
          <p:nvPr/>
        </p:nvSpPr>
        <p:spPr>
          <a:xfrm>
            <a:off x="457200" y="28254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Colatron part 3 name"/>
          <p:cNvSpPr txBox="1"/>
          <p:nvPr/>
        </p:nvSpPr>
        <p:spPr>
          <a:xfrm>
            <a:off x="1005840" y="2779776"/>
            <a:ext cx="3840480" cy="320040"/>
          </a:xfrm>
          <a:prstGeom prst="rect">
            <a:avLst/>
          </a:prstGeom>
          <a:noFill/>
          <a:ln/>
        </p:spPr>
        <p:txBody>
          <a:bodyPr wrap="square" lIns="0" tIns="0" rIns="0" bIns="0" rtlCol="0" anchor="ctr"/>
          <a:lstStyle/>
          <a:p>
            <a:pPr indent="0" marL="0">
              <a:buNone/>
            </a:pPr>
            <a:r>
              <a:rPr lang="en-US" sz="1600" b="1" dirty="0">
                <a:solidFill>
                  <a:schemeClr val="tx1"/>
                </a:solidFill>
              </a:rPr>
              <a:t>Decoder</a:t>
            </a:r>
            <a:endParaRPr lang="en-US" sz="1600" dirty="0"/>
          </a:p>
        </p:txBody>
      </p:sp>
      <p:sp>
        <p:nvSpPr>
          <p:cNvPr id="14" name="Colatron part 3 body"/>
          <p:cNvSpPr txBox="1"/>
          <p:nvPr/>
        </p:nvSpPr>
        <p:spPr>
          <a:xfrm>
            <a:off x="1005840" y="3099816"/>
            <a:ext cx="3840480" cy="457200"/>
          </a:xfrm>
          <a:prstGeom prst="rect">
            <a:avLst/>
          </a:prstGeom>
          <a:noFill/>
          <a:ln/>
        </p:spPr>
        <p:txBody>
          <a:bodyPr wrap="square" lIns="0" tIns="0" rIns="0" bIns="0" rtlCol="0" anchor="t"/>
          <a:lstStyle/>
          <a:p>
            <a:pPr indent="0" marL="0">
              <a:buNone/>
            </a:pPr>
            <a:r>
              <a:rPr lang="en-US" sz="1300" dirty="0">
                <a:solidFill>
                  <a:schemeClr val="accent6"/>
                </a:solidFill>
              </a:rPr>
              <a:t>draws the sound picture a few columns at a time, and says when it is done</a:t>
            </a:r>
            <a:endParaRPr lang="en-US" sz="1300" dirty="0"/>
          </a:p>
        </p:txBody>
      </p:sp>
      <p:sp>
        <p:nvSpPr>
          <p:cNvPr id="15" name="Colatron part 4 circle"/>
          <p:cNvSpPr/>
          <p:nvPr/>
        </p:nvSpPr>
        <p:spPr>
          <a:xfrm>
            <a:off x="457200" y="3666744"/>
            <a:ext cx="384048" cy="384048"/>
          </a:xfrm>
          <a:prstGeom prst="ellipse">
            <a:avLst/>
          </a:prstGeom>
          <a:solidFill>
            <a:schemeClr val="accent1"/>
          </a:solidFill>
          <a:ln w="12700">
            <a:solidFill>
              <a:schemeClr val="accent1"/>
            </a:solidFill>
            <a:prstDash val="solid"/>
          </a:ln>
        </p:spPr>
      </p:sp>
      <p:sp>
        <p:nvSpPr>
          <p:cNvPr id="16" name="Colatron part 4 label"/>
          <p:cNvSpPr txBox="1"/>
          <p:nvPr/>
        </p:nvSpPr>
        <p:spPr>
          <a:xfrm>
            <a:off x="457200" y="3666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olatron part 4 name"/>
          <p:cNvSpPr txBox="1"/>
          <p:nvPr/>
        </p:nvSpPr>
        <p:spPr>
          <a:xfrm>
            <a:off x="1005840" y="3621024"/>
            <a:ext cx="3840480" cy="320040"/>
          </a:xfrm>
          <a:prstGeom prst="rect">
            <a:avLst/>
          </a:prstGeom>
          <a:noFill/>
          <a:ln/>
        </p:spPr>
        <p:txBody>
          <a:bodyPr wrap="square" lIns="0" tIns="0" rIns="0" bIns="0" rtlCol="0" anchor="ctr"/>
          <a:lstStyle/>
          <a:p>
            <a:pPr indent="0" marL="0">
              <a:buNone/>
            </a:pPr>
            <a:r>
              <a:rPr lang="en-US" sz="1600" b="1" dirty="0">
                <a:solidFill>
                  <a:schemeClr val="tx1"/>
                </a:solidFill>
              </a:rPr>
              <a:t>Post-net</a:t>
            </a:r>
            <a:endParaRPr lang="en-US" sz="1600" dirty="0"/>
          </a:p>
        </p:txBody>
      </p:sp>
      <p:sp>
        <p:nvSpPr>
          <p:cNvPr id="18" name="Colatron part 4 body"/>
          <p:cNvSpPr txBox="1"/>
          <p:nvPr/>
        </p:nvSpPr>
        <p:spPr>
          <a:xfrm>
            <a:off x="1005840" y="3941064"/>
            <a:ext cx="3840480" cy="457200"/>
          </a:xfrm>
          <a:prstGeom prst="rect">
            <a:avLst/>
          </a:prstGeom>
          <a:noFill/>
          <a:ln/>
        </p:spPr>
        <p:txBody>
          <a:bodyPr wrap="square" lIns="0" tIns="0" rIns="0" bIns="0" rtlCol="0" anchor="t"/>
          <a:lstStyle/>
          <a:p>
            <a:pPr indent="0" marL="0">
              <a:buNone/>
            </a:pPr>
            <a:r>
              <a:rPr lang="en-US" sz="1300" dirty="0">
                <a:solidFill>
                  <a:schemeClr val="accent6"/>
                </a:solidFill>
              </a:rPr>
              <a:t>cleans up the finished picture</a:t>
            </a:r>
            <a:endParaRPr lang="en-US" sz="1300" dirty="0"/>
          </a:p>
        </p:txBody>
      </p:sp>
      <p:sp>
        <p:nvSpPr>
          <p:cNvPr id="19" name="Seq2seq card"/>
          <p:cNvSpPr/>
          <p:nvPr/>
        </p:nvSpPr>
        <p:spPr>
          <a:xfrm>
            <a:off x="5120640" y="1097280"/>
            <a:ext cx="3566160" cy="3429000"/>
          </a:xfrm>
          <a:prstGeom prst="roundRect">
            <a:avLst>
              <a:gd name="adj" fmla="val 2133"/>
            </a:avLst>
          </a:prstGeom>
          <a:solidFill>
            <a:schemeClr val="bg2"/>
          </a:solidFill>
          <a:ln w="12700">
            <a:solidFill>
              <a:schemeClr val="bg2"/>
            </a:solidFill>
            <a:prstDash val="solid"/>
          </a:ln>
        </p:spPr>
      </p:sp>
      <p:sp>
        <p:nvSpPr>
          <p:cNvPr id="20" name="Seq2seq text"/>
          <p:cNvSpPr txBox="1"/>
          <p:nvPr/>
        </p:nvSpPr>
        <p:spPr>
          <a:xfrm>
            <a:off x="5303520" y="1234440"/>
            <a:ext cx="3200400" cy="3200400"/>
          </a:xfrm>
          <a:prstGeom prst="rect">
            <a:avLst/>
          </a:prstGeom>
          <a:noFill/>
          <a:ln/>
        </p:spPr>
        <p:txBody>
          <a:bodyPr wrap="square" lIns="0" tIns="0" rIns="0" bIns="0" rtlCol="0" anchor="t"/>
          <a:lstStyle/>
          <a:p>
            <a:pPr indent="0" marL="0">
              <a:buNone/>
            </a:pPr>
            <a:r>
              <a:rPr lang="en-US" sz="1600" b="1" dirty="0">
                <a:solidFill>
                  <a:schemeClr val="accent1"/>
                </a:solidFill>
              </a:rPr>
              <a:t>Sequence to sequence</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In: letters</a:t>
            </a:r>
            <a:endParaRPr lang="en-US" sz="1300" dirty="0"/>
          </a:p>
          <a:p>
            <a:pPr indent="0" marL="0">
              <a:buNone/>
            </a:pPr>
            <a:r>
              <a:rPr lang="en-US" sz="1300" dirty="0">
                <a:solidFill>
                  <a:schemeClr val="accent6"/>
                </a:solidFill>
              </a:rPr>
              <a:t>"hello" = 5 symbols</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Out: mel frames</a:t>
            </a:r>
            <a:endParaRPr lang="en-US" sz="1300" dirty="0"/>
          </a:p>
          <a:p>
            <a:pPr indent="0" marL="0">
              <a:buNone/>
            </a:pPr>
            <a:r>
              <a:rPr lang="en-US" sz="1300" dirty="0">
                <a:solidFill>
                  <a:schemeClr val="accent6"/>
                </a:solidFill>
              </a:rPr>
              <a:t>about 50 columns of the sound picture</a:t>
            </a:r>
            <a:endParaRPr lang="en-US" sz="1300" dirty="0"/>
          </a:p>
          <a:p>
            <a:pPr indent="0" marL="0">
              <a:buNone/>
            </a:pPr>
            <a:r>
              <a:rPr lang="en-US" sz="600" dirty="0">
                <a:solidFill>
                  <a:schemeClr val="tx1"/>
                </a:solidFill>
              </a:rPr>
              <a:t> </a:t>
            </a:r>
            <a:endParaRPr lang="en-US" sz="1300" dirty="0"/>
          </a:p>
          <a:p>
            <a:pPr indent="0" marL="0">
              <a:buNone/>
            </a:pPr>
            <a:r>
              <a:rPr lang="en-US" sz="1300" dirty="0">
                <a:solidFill>
                  <a:schemeClr val="tx1"/>
                </a:solidFill>
              </a:rPr>
              <a:t>Different lengths, so attention decides which letter each frame belongs to.</a:t>
            </a:r>
            <a:endParaRPr lang="en-US" sz="1300" dirty="0"/>
          </a:p>
          <a:p>
            <a:pPr indent="0" marL="0">
              <a:buNone/>
            </a:pPr>
            <a:r>
              <a:rPr lang="en-US" sz="600" dirty="0">
                <a:solidFill>
                  <a:schemeClr val="tx1"/>
                </a:solidFill>
              </a:rPr>
              <a:t> </a:t>
            </a:r>
            <a:endParaRPr lang="en-US" sz="1300" dirty="0"/>
          </a:p>
          <a:p>
            <a:pPr indent="0" marL="0">
              <a:buNone/>
            </a:pPr>
            <a:r>
              <a:rPr lang="en-US" sz="1300" b="1" dirty="0">
                <a:solidFill>
                  <a:schemeClr val="tx1"/>
                </a:solidFill>
              </a:rPr>
              <a:t>7.4M numbers, all starting random: it learned everything itself</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How Colatron learns</a:t>
            </a:r>
            <a:endParaRPr lang="en-US" sz="3000" dirty="0"/>
          </a:p>
        </p:txBody>
      </p:sp>
      <p:sp>
        <p:nvSpPr>
          <p:cNvPr id="3" name="Loop step 1 circle"/>
          <p:cNvSpPr/>
          <p:nvPr/>
        </p:nvSpPr>
        <p:spPr>
          <a:xfrm>
            <a:off x="457200" y="1088136"/>
            <a:ext cx="384048" cy="384048"/>
          </a:xfrm>
          <a:prstGeom prst="ellipse">
            <a:avLst/>
          </a:prstGeom>
          <a:solidFill>
            <a:schemeClr val="accent1"/>
          </a:solidFill>
          <a:ln w="12700">
            <a:solidFill>
              <a:schemeClr val="accent1"/>
            </a:solidFill>
            <a:prstDash val="solid"/>
          </a:ln>
        </p:spPr>
      </p:sp>
      <p:sp>
        <p:nvSpPr>
          <p:cNvPr id="4" name="Loop step 1 label"/>
          <p:cNvSpPr txBox="1"/>
          <p:nvPr/>
        </p:nvSpPr>
        <p:spPr>
          <a:xfrm>
            <a:off x="457200" y="108813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Loop step 1 head"/>
          <p:cNvSpPr txBox="1"/>
          <p:nvPr/>
        </p:nvSpPr>
        <p:spPr>
          <a:xfrm>
            <a:off x="1005840" y="1051560"/>
            <a:ext cx="3566160" cy="310896"/>
          </a:xfrm>
          <a:prstGeom prst="rect">
            <a:avLst/>
          </a:prstGeom>
          <a:noFill/>
          <a:ln/>
        </p:spPr>
        <p:txBody>
          <a:bodyPr wrap="square" lIns="0" tIns="0" rIns="0" bIns="0" rtlCol="0" anchor="ctr"/>
          <a:lstStyle/>
          <a:p>
            <a:pPr indent="0" marL="0">
              <a:buNone/>
            </a:pPr>
            <a:r>
              <a:rPr lang="en-US" sz="1500" b="1" dirty="0">
                <a:solidFill>
                  <a:schemeClr val="tx1"/>
                </a:solidFill>
              </a:rPr>
              <a:t>Take 64 recordings</a:t>
            </a:r>
            <a:endParaRPr lang="en-US" sz="1500" dirty="0"/>
          </a:p>
        </p:txBody>
      </p:sp>
      <p:sp>
        <p:nvSpPr>
          <p:cNvPr id="6" name="Loop step 1 body"/>
          <p:cNvSpPr txBox="1"/>
          <p:nvPr/>
        </p:nvSpPr>
        <p:spPr>
          <a:xfrm>
            <a:off x="1005840" y="1362456"/>
            <a:ext cx="3566160" cy="365760"/>
          </a:xfrm>
          <a:prstGeom prst="rect">
            <a:avLst/>
          </a:prstGeom>
          <a:noFill/>
          <a:ln/>
        </p:spPr>
        <p:txBody>
          <a:bodyPr wrap="square" lIns="0" tIns="0" rIns="0" bIns="0" rtlCol="0" anchor="t"/>
          <a:lstStyle/>
          <a:p>
            <a:pPr indent="0" marL="0">
              <a:buNone/>
            </a:pPr>
            <a:r>
              <a:rPr lang="en-US" sz="1200" dirty="0">
                <a:solidFill>
                  <a:schemeClr val="accent6"/>
                </a:solidFill>
              </a:rPr>
              <a:t>with the text that was read</a:t>
            </a:r>
            <a:endParaRPr lang="en-US" sz="1200" dirty="0"/>
          </a:p>
        </p:txBody>
      </p:sp>
      <p:sp>
        <p:nvSpPr>
          <p:cNvPr id="7" name="Loop step 2 circle"/>
          <p:cNvSpPr/>
          <p:nvPr/>
        </p:nvSpPr>
        <p:spPr>
          <a:xfrm>
            <a:off x="457200" y="1819656"/>
            <a:ext cx="384048" cy="384048"/>
          </a:xfrm>
          <a:prstGeom prst="ellipse">
            <a:avLst/>
          </a:prstGeom>
          <a:solidFill>
            <a:schemeClr val="accent1"/>
          </a:solidFill>
          <a:ln w="12700">
            <a:solidFill>
              <a:schemeClr val="accent1"/>
            </a:solidFill>
            <a:prstDash val="solid"/>
          </a:ln>
        </p:spPr>
      </p:sp>
      <p:sp>
        <p:nvSpPr>
          <p:cNvPr id="8" name="Loop step 2 label"/>
          <p:cNvSpPr txBox="1"/>
          <p:nvPr/>
        </p:nvSpPr>
        <p:spPr>
          <a:xfrm>
            <a:off x="457200" y="181965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Loop step 2 head"/>
          <p:cNvSpPr txBox="1"/>
          <p:nvPr/>
        </p:nvSpPr>
        <p:spPr>
          <a:xfrm>
            <a:off x="1005840" y="1783080"/>
            <a:ext cx="3566160" cy="310896"/>
          </a:xfrm>
          <a:prstGeom prst="rect">
            <a:avLst/>
          </a:prstGeom>
          <a:noFill/>
          <a:ln/>
        </p:spPr>
        <p:txBody>
          <a:bodyPr wrap="square" lIns="0" tIns="0" rIns="0" bIns="0" rtlCol="0" anchor="ctr"/>
          <a:lstStyle/>
          <a:p>
            <a:pPr indent="0" marL="0">
              <a:buNone/>
            </a:pPr>
            <a:r>
              <a:rPr lang="en-US" sz="1500" b="1" dirty="0">
                <a:solidFill>
                  <a:schemeClr val="tx1"/>
                </a:solidFill>
              </a:rPr>
              <a:t>Draw their sound pictures</a:t>
            </a:r>
            <a:endParaRPr lang="en-US" sz="1500" dirty="0"/>
          </a:p>
        </p:txBody>
      </p:sp>
      <p:sp>
        <p:nvSpPr>
          <p:cNvPr id="10" name="Loop step 2 body"/>
          <p:cNvSpPr txBox="1"/>
          <p:nvPr/>
        </p:nvSpPr>
        <p:spPr>
          <a:xfrm>
            <a:off x="1005840" y="2093976"/>
            <a:ext cx="3566160" cy="365760"/>
          </a:xfrm>
          <a:prstGeom prst="rect">
            <a:avLst/>
          </a:prstGeom>
          <a:noFill/>
          <a:ln/>
        </p:spPr>
        <p:txBody>
          <a:bodyPr wrap="square" lIns="0" tIns="0" rIns="0" bIns="0" rtlCol="0" anchor="t"/>
          <a:lstStyle/>
          <a:p>
            <a:pPr indent="0" marL="0">
              <a:buNone/>
            </a:pPr>
            <a:r>
              <a:rPr lang="en-US" sz="1200" dirty="0">
                <a:solidFill>
                  <a:schemeClr val="accent6"/>
                </a:solidFill>
              </a:rPr>
              <a:t>the model draws a picture for each sentence</a:t>
            </a:r>
            <a:endParaRPr lang="en-US" sz="1200" dirty="0"/>
          </a:p>
        </p:txBody>
      </p:sp>
      <p:sp>
        <p:nvSpPr>
          <p:cNvPr id="11" name="Loop step 3 circle"/>
          <p:cNvSpPr/>
          <p:nvPr/>
        </p:nvSpPr>
        <p:spPr>
          <a:xfrm>
            <a:off x="457200" y="2551176"/>
            <a:ext cx="384048" cy="384048"/>
          </a:xfrm>
          <a:prstGeom prst="ellipse">
            <a:avLst/>
          </a:prstGeom>
          <a:solidFill>
            <a:schemeClr val="accent1"/>
          </a:solidFill>
          <a:ln w="12700">
            <a:solidFill>
              <a:schemeClr val="accent1"/>
            </a:solidFill>
            <a:prstDash val="solid"/>
          </a:ln>
        </p:spPr>
      </p:sp>
      <p:sp>
        <p:nvSpPr>
          <p:cNvPr id="12" name="Loop step 3 label"/>
          <p:cNvSpPr txBox="1"/>
          <p:nvPr/>
        </p:nvSpPr>
        <p:spPr>
          <a:xfrm>
            <a:off x="457200" y="25511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Loop step 3 head"/>
          <p:cNvSpPr txBox="1"/>
          <p:nvPr/>
        </p:nvSpPr>
        <p:spPr>
          <a:xfrm>
            <a:off x="1005840" y="2514600"/>
            <a:ext cx="3566160" cy="310896"/>
          </a:xfrm>
          <a:prstGeom prst="rect">
            <a:avLst/>
          </a:prstGeom>
          <a:noFill/>
          <a:ln/>
        </p:spPr>
        <p:txBody>
          <a:bodyPr wrap="square" lIns="0" tIns="0" rIns="0" bIns="0" rtlCol="0" anchor="ctr"/>
          <a:lstStyle/>
          <a:p>
            <a:pPr indent="0" marL="0">
              <a:buNone/>
            </a:pPr>
            <a:r>
              <a:rPr lang="en-US" sz="1500" b="1" dirty="0">
                <a:solidFill>
                  <a:schemeClr val="tx1"/>
                </a:solidFill>
              </a:rPr>
              <a:t>Check the mistakes</a:t>
            </a:r>
            <a:endParaRPr lang="en-US" sz="1500" dirty="0"/>
          </a:p>
        </p:txBody>
      </p:sp>
      <p:sp>
        <p:nvSpPr>
          <p:cNvPr id="14" name="Loop step 3 body"/>
          <p:cNvSpPr txBox="1"/>
          <p:nvPr/>
        </p:nvSpPr>
        <p:spPr>
          <a:xfrm>
            <a:off x="1005840" y="2825496"/>
            <a:ext cx="3566160" cy="365760"/>
          </a:xfrm>
          <a:prstGeom prst="rect">
            <a:avLst/>
          </a:prstGeom>
          <a:noFill/>
          <a:ln/>
        </p:spPr>
        <p:txBody>
          <a:bodyPr wrap="square" lIns="0" tIns="0" rIns="0" bIns="0" rtlCol="0" anchor="t"/>
          <a:lstStyle/>
          <a:p>
            <a:pPr indent="0" marL="0">
              <a:buNone/>
            </a:pPr>
            <a:r>
              <a:rPr lang="en-US" sz="1200" dirty="0">
                <a:solidFill>
                  <a:schemeClr val="accent6"/>
                </a:solidFill>
              </a:rPr>
              <a:t>compare with the real recordings (the 3 checks on the right)</a:t>
            </a:r>
            <a:endParaRPr lang="en-US" sz="1200" dirty="0"/>
          </a:p>
        </p:txBody>
      </p:sp>
      <p:sp>
        <p:nvSpPr>
          <p:cNvPr id="15" name="Loop step 4 circle"/>
          <p:cNvSpPr/>
          <p:nvPr/>
        </p:nvSpPr>
        <p:spPr>
          <a:xfrm>
            <a:off x="457200" y="3282696"/>
            <a:ext cx="384048" cy="384048"/>
          </a:xfrm>
          <a:prstGeom prst="ellipse">
            <a:avLst/>
          </a:prstGeom>
          <a:solidFill>
            <a:schemeClr val="accent1"/>
          </a:solidFill>
          <a:ln w="12700">
            <a:solidFill>
              <a:schemeClr val="accent1"/>
            </a:solidFill>
            <a:prstDash val="solid"/>
          </a:ln>
        </p:spPr>
      </p:sp>
      <p:sp>
        <p:nvSpPr>
          <p:cNvPr id="16" name="Loop step 4 label"/>
          <p:cNvSpPr txBox="1"/>
          <p:nvPr/>
        </p:nvSpPr>
        <p:spPr>
          <a:xfrm>
            <a:off x="457200" y="328269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Loop step 4 head"/>
          <p:cNvSpPr txBox="1"/>
          <p:nvPr/>
        </p:nvSpPr>
        <p:spPr>
          <a:xfrm>
            <a:off x="1005840" y="3246120"/>
            <a:ext cx="3566160" cy="310896"/>
          </a:xfrm>
          <a:prstGeom prst="rect">
            <a:avLst/>
          </a:prstGeom>
          <a:noFill/>
          <a:ln/>
        </p:spPr>
        <p:txBody>
          <a:bodyPr wrap="square" lIns="0" tIns="0" rIns="0" bIns="0" rtlCol="0" anchor="ctr"/>
          <a:lstStyle/>
          <a:p>
            <a:pPr indent="0" marL="0">
              <a:buNone/>
            </a:pPr>
            <a:r>
              <a:rPr lang="en-US" sz="1500" b="1" dirty="0">
                <a:solidFill>
                  <a:schemeClr val="tx1"/>
                </a:solidFill>
              </a:rPr>
              <a:t>Adjust the model</a:t>
            </a:r>
            <a:endParaRPr lang="en-US" sz="1500" dirty="0"/>
          </a:p>
        </p:txBody>
      </p:sp>
      <p:sp>
        <p:nvSpPr>
          <p:cNvPr id="18" name="Loop step 4 body"/>
          <p:cNvSpPr txBox="1"/>
          <p:nvPr/>
        </p:nvSpPr>
        <p:spPr>
          <a:xfrm>
            <a:off x="1005840" y="3557016"/>
            <a:ext cx="3566160" cy="365760"/>
          </a:xfrm>
          <a:prstGeom prst="rect">
            <a:avLst/>
          </a:prstGeom>
          <a:noFill/>
          <a:ln/>
        </p:spPr>
        <p:txBody>
          <a:bodyPr wrap="square" lIns="0" tIns="0" rIns="0" bIns="0" rtlCol="0" anchor="t"/>
          <a:lstStyle/>
          <a:p>
            <a:pPr indent="0" marL="0">
              <a:buNone/>
            </a:pPr>
            <a:r>
              <a:rPr lang="en-US" sz="1200" dirty="0">
                <a:solidFill>
                  <a:schemeClr val="accent6"/>
                </a:solidFill>
              </a:rPr>
              <a:t>nudge its numbers to be a bit less wrong</a:t>
            </a:r>
            <a:endParaRPr lang="en-US" sz="1200" dirty="0"/>
          </a:p>
        </p:txBody>
      </p:sp>
      <p:sp>
        <p:nvSpPr>
          <p:cNvPr id="19" name="Loop repeat"/>
          <p:cNvSpPr txBox="1"/>
          <p:nvPr/>
        </p:nvSpPr>
        <p:spPr>
          <a:xfrm>
            <a:off x="1005840" y="3977640"/>
            <a:ext cx="3566160" cy="320040"/>
          </a:xfrm>
          <a:prstGeom prst="rect">
            <a:avLst/>
          </a:prstGeom>
          <a:noFill/>
          <a:ln/>
        </p:spPr>
        <p:txBody>
          <a:bodyPr wrap="square" lIns="0" tIns="0" rIns="0" bIns="0" rtlCol="0" anchor="ctr"/>
          <a:lstStyle/>
          <a:p>
            <a:pPr indent="0" marL="0">
              <a:buNone/>
            </a:pPr>
            <a:r>
              <a:rPr lang="en-US" sz="1400" b="1" dirty="0">
                <a:solidFill>
                  <a:schemeClr val="accent1"/>
                </a:solidFill>
              </a:rPr>
              <a:t>↻  repeat 18,000 times</a:t>
            </a:r>
            <a:endParaRPr lang="en-US" sz="1400" dirty="0"/>
          </a:p>
        </p:txBody>
      </p:sp>
      <p:sp>
        <p:nvSpPr>
          <p:cNvPr id="20" name="Loss card"/>
          <p:cNvSpPr/>
          <p:nvPr/>
        </p:nvSpPr>
        <p:spPr>
          <a:xfrm>
            <a:off x="4846320" y="1051560"/>
            <a:ext cx="3840480" cy="2148840"/>
          </a:xfrm>
          <a:prstGeom prst="roundRect">
            <a:avLst>
              <a:gd name="adj" fmla="val 3404"/>
            </a:avLst>
          </a:prstGeom>
          <a:solidFill>
            <a:schemeClr val="bg2"/>
          </a:solidFill>
          <a:ln w="12700">
            <a:solidFill>
              <a:schemeClr val="bg2"/>
            </a:solidFill>
            <a:prstDash val="solid"/>
          </a:ln>
        </p:spPr>
      </p:sp>
      <p:sp>
        <p:nvSpPr>
          <p:cNvPr id="21" name="Loss text"/>
          <p:cNvSpPr txBox="1"/>
          <p:nvPr/>
        </p:nvSpPr>
        <p:spPr>
          <a:xfrm>
            <a:off x="5029200" y="1188720"/>
            <a:ext cx="3520440" cy="1920240"/>
          </a:xfrm>
          <a:prstGeom prst="rect">
            <a:avLst/>
          </a:prstGeom>
          <a:noFill/>
          <a:ln/>
        </p:spPr>
        <p:txBody>
          <a:bodyPr wrap="square" lIns="0" tIns="0" rIns="0" bIns="0" rtlCol="0" anchor="t"/>
          <a:lstStyle/>
          <a:p>
            <a:pPr indent="0" marL="0">
              <a:spcAft>
                <a:spcPts val="600"/>
              </a:spcAft>
              <a:buNone/>
            </a:pPr>
            <a:r>
              <a:rPr lang="en-US" sz="1600" b="1" dirty="0">
                <a:solidFill>
                  <a:schemeClr val="accent1"/>
                </a:solidFill>
              </a:rPr>
              <a:t>The 3 checks</a:t>
            </a:r>
            <a:endParaRPr lang="en-US" sz="1300" dirty="0"/>
          </a:p>
          <a:p>
            <a:pPr indent="0" marL="0">
              <a:spcAft>
                <a:spcPts val="600"/>
              </a:spcAft>
              <a:buNone/>
            </a:pPr>
            <a:r>
              <a:rPr lang="en-US" sz="600" dirty="0">
                <a:solidFill>
                  <a:schemeClr val="tx1"/>
                </a:solidFill>
              </a:rPr>
              <a:t> </a:t>
            </a:r>
            <a:endParaRPr lang="en-US" sz="1300" dirty="0"/>
          </a:p>
          <a:p>
            <a:pPr indent="0" marL="0">
              <a:spcAft>
                <a:spcPts val="600"/>
              </a:spcAft>
              <a:buNone/>
            </a:pPr>
            <a:r>
              <a:rPr lang="en-US" sz="1300" b="1" dirty="0">
                <a:solidFill>
                  <a:schemeClr val="tx1"/>
                </a:solidFill>
              </a:rPr>
              <a:t>Picture: </a:t>
            </a:r>
            <a:pPr indent="0" marL="0">
              <a:spcAft>
                <a:spcPts val="600"/>
              </a:spcAft>
              <a:buNone/>
            </a:pPr>
            <a:r>
              <a:rPr lang="en-US" sz="1300" dirty="0">
                <a:solidFill>
                  <a:schemeClr val="tx1"/>
                </a:solidFill>
              </a:rPr>
              <a:t>does it match the real one?</a:t>
            </a:r>
            <a:endParaRPr lang="en-US" sz="1300" dirty="0"/>
          </a:p>
          <a:p>
            <a:pPr indent="0" marL="0">
              <a:spcAft>
                <a:spcPts val="600"/>
              </a:spcAft>
              <a:buNone/>
            </a:pPr>
            <a:r>
              <a:rPr lang="en-US" sz="1300" b="1" dirty="0">
                <a:solidFill>
                  <a:schemeClr val="tx1"/>
                </a:solidFill>
              </a:rPr>
              <a:t>Stop: </a:t>
            </a:r>
            <a:pPr indent="0" marL="0">
              <a:spcAft>
                <a:spcPts val="600"/>
              </a:spcAft>
              <a:buNone/>
            </a:pPr>
            <a:r>
              <a:rPr lang="en-US" sz="1300" dirty="0">
                <a:solidFill>
                  <a:schemeClr val="tx1"/>
                </a:solidFill>
              </a:rPr>
              <a:t>did it end at the right time?</a:t>
            </a:r>
            <a:endParaRPr lang="en-US" sz="1300" dirty="0"/>
          </a:p>
          <a:p>
            <a:pPr indent="0" marL="0">
              <a:spcAft>
                <a:spcPts val="600"/>
              </a:spcAft>
              <a:buNone/>
            </a:pPr>
            <a:r>
              <a:rPr lang="en-US" sz="1300" b="1" dirty="0">
                <a:solidFill>
                  <a:schemeClr val="accent2"/>
                </a:solidFill>
              </a:rPr>
              <a:t>Reading order: </a:t>
            </a:r>
            <a:pPr indent="0" marL="0">
              <a:spcAft>
                <a:spcPts val="600"/>
              </a:spcAft>
              <a:buNone/>
            </a:pPr>
            <a:r>
              <a:rPr lang="en-US" sz="1300" dirty="0">
                <a:solidFill>
                  <a:schemeClr val="tx1"/>
                </a:solidFill>
              </a:rPr>
              <a:t>is the finger moving left to right?</a:t>
            </a:r>
            <a:endParaRPr lang="en-US" sz="1300" dirty="0"/>
          </a:p>
          <a:p>
            <a:pPr indent="0" marL="0">
              <a:spcAft>
                <a:spcPts val="600"/>
              </a:spcAft>
              <a:buNone/>
            </a:pPr>
            <a:r>
              <a:rPr lang="en-US" sz="600" dirty="0">
                <a:solidFill>
                  <a:schemeClr val="tx1"/>
                </a:solidFill>
              </a:rPr>
              <a:t> </a:t>
            </a:r>
            <a:endParaRPr lang="en-US" sz="1300" dirty="0"/>
          </a:p>
          <a:p>
            <a:pPr indent="0" marL="0">
              <a:spcAft>
                <a:spcPts val="600"/>
              </a:spcAft>
              <a:buNone/>
            </a:pPr>
            <a:r>
              <a:rPr lang="en-US" sz="1200" b="1" dirty="0">
                <a:solidFill>
                  <a:schemeClr val="accent2"/>
                </a:solidFill>
              </a:rPr>
              <a:t>The reading-order check is what the 2018 project was missing.</a:t>
            </a:r>
            <a:endParaRPr lang="en-US" sz="1300" dirty="0"/>
          </a:p>
        </p:txBody>
      </p:sp>
      <p:sp>
        <p:nvSpPr>
          <p:cNvPr id="22" name="Run card 1"/>
          <p:cNvSpPr/>
          <p:nvPr/>
        </p:nvSpPr>
        <p:spPr>
          <a:xfrm>
            <a:off x="4846320" y="3337560"/>
            <a:ext cx="1874520" cy="777240"/>
          </a:xfrm>
          <a:prstGeom prst="roundRect">
            <a:avLst>
              <a:gd name="adj" fmla="val 9412"/>
            </a:avLst>
          </a:prstGeom>
          <a:solidFill>
            <a:schemeClr val="bg1"/>
          </a:solidFill>
          <a:ln w="15875">
            <a:solidFill>
              <a:srgbClr val="A8A2C2"/>
            </a:solidFill>
            <a:prstDash val="solid"/>
          </a:ln>
        </p:spPr>
      </p:sp>
      <p:sp>
        <p:nvSpPr>
          <p:cNvPr id="23" name="Run 1 head"/>
          <p:cNvSpPr txBox="1"/>
          <p:nvPr/>
        </p:nvSpPr>
        <p:spPr>
          <a:xfrm>
            <a:off x="4956048" y="3401568"/>
            <a:ext cx="1691640" cy="292608"/>
          </a:xfrm>
          <a:prstGeom prst="rect">
            <a:avLst/>
          </a:prstGeom>
          <a:noFill/>
          <a:ln/>
        </p:spPr>
        <p:txBody>
          <a:bodyPr wrap="square" lIns="0" tIns="0" rIns="0" bIns="0" rtlCol="0" anchor="ctr"/>
          <a:lstStyle/>
          <a:p>
            <a:pPr indent="0" marL="0">
              <a:buNone/>
            </a:pPr>
            <a:r>
              <a:rPr lang="en-US" sz="1300" b="1" dirty="0">
                <a:solidFill>
                  <a:schemeClr val="tx1"/>
                </a:solidFill>
              </a:rPr>
              <a:t>Laptop CPU</a:t>
            </a:r>
            <a:endParaRPr lang="en-US" sz="1300" dirty="0"/>
          </a:p>
        </p:txBody>
      </p:sp>
      <p:sp>
        <p:nvSpPr>
          <p:cNvPr id="24" name="Run 1 body"/>
          <p:cNvSpPr txBox="1"/>
          <p:nvPr/>
        </p:nvSpPr>
        <p:spPr>
          <a:xfrm>
            <a:off x="4956048" y="3694176"/>
            <a:ext cx="1691640" cy="320040"/>
          </a:xfrm>
          <a:prstGeom prst="rect">
            <a:avLst/>
          </a:prstGeom>
          <a:noFill/>
          <a:ln/>
        </p:spPr>
        <p:txBody>
          <a:bodyPr wrap="square" lIns="0" tIns="0" rIns="0" bIns="0" rtlCol="0" anchor="ctr"/>
          <a:lstStyle/>
          <a:p>
            <a:pPr indent="0" marL="0">
              <a:buNone/>
            </a:pPr>
            <a:r>
              <a:rPr lang="en-US" sz="1200" dirty="0">
                <a:solidFill>
                  <a:schemeClr val="accent6"/>
                </a:solidFill>
              </a:rPr>
              <a:t>steps 0 to 1,000</a:t>
            </a:r>
            <a:endParaRPr lang="en-US" sz="1200" dirty="0"/>
          </a:p>
        </p:txBody>
      </p:sp>
      <p:sp>
        <p:nvSpPr>
          <p:cNvPr id="25" name="Run card 2"/>
          <p:cNvSpPr/>
          <p:nvPr/>
        </p:nvSpPr>
        <p:spPr>
          <a:xfrm>
            <a:off x="6812280" y="3337560"/>
            <a:ext cx="1874520" cy="777240"/>
          </a:xfrm>
          <a:prstGeom prst="roundRect">
            <a:avLst>
              <a:gd name="adj" fmla="val 9412"/>
            </a:avLst>
          </a:prstGeom>
          <a:solidFill>
            <a:schemeClr val="bg1"/>
          </a:solidFill>
          <a:ln w="15875">
            <a:solidFill>
              <a:srgbClr val="A8A2C2"/>
            </a:solidFill>
            <a:prstDash val="solid"/>
          </a:ln>
        </p:spPr>
      </p:sp>
      <p:sp>
        <p:nvSpPr>
          <p:cNvPr id="26" name="Run 2 head"/>
          <p:cNvSpPr txBox="1"/>
          <p:nvPr/>
        </p:nvSpPr>
        <p:spPr>
          <a:xfrm>
            <a:off x="6922008" y="3401568"/>
            <a:ext cx="1691640" cy="292608"/>
          </a:xfrm>
          <a:prstGeom prst="rect">
            <a:avLst/>
          </a:prstGeom>
          <a:noFill/>
          <a:ln/>
        </p:spPr>
        <p:txBody>
          <a:bodyPr wrap="square" lIns="0" tIns="0" rIns="0" bIns="0" rtlCol="0" anchor="ctr"/>
          <a:lstStyle/>
          <a:p>
            <a:pPr indent="0" marL="0">
              <a:buNone/>
            </a:pPr>
            <a:r>
              <a:rPr lang="en-US" sz="1300" b="1" dirty="0">
                <a:solidFill>
                  <a:schemeClr val="tx1"/>
                </a:solidFill>
              </a:rPr>
              <a:t>Free Colab T4 GPU</a:t>
            </a:r>
            <a:endParaRPr lang="en-US" sz="1300" dirty="0"/>
          </a:p>
        </p:txBody>
      </p:sp>
      <p:sp>
        <p:nvSpPr>
          <p:cNvPr id="27" name="Run 2 body"/>
          <p:cNvSpPr txBox="1"/>
          <p:nvPr/>
        </p:nvSpPr>
        <p:spPr>
          <a:xfrm>
            <a:off x="6922008" y="3694176"/>
            <a:ext cx="1691640" cy="320040"/>
          </a:xfrm>
          <a:prstGeom prst="rect">
            <a:avLst/>
          </a:prstGeom>
          <a:noFill/>
          <a:ln/>
        </p:spPr>
        <p:txBody>
          <a:bodyPr wrap="square" lIns="0" tIns="0" rIns="0" bIns="0" rtlCol="0" anchor="ctr"/>
          <a:lstStyle/>
          <a:p>
            <a:pPr indent="0" marL="0">
              <a:buNone/>
            </a:pPr>
            <a:r>
              <a:rPr lang="en-US" sz="1200" dirty="0">
                <a:solidFill>
                  <a:schemeClr val="accent6"/>
                </a:solidFill>
              </a:rPr>
              <a:t>steps 1,000 to 18,000</a:t>
            </a:r>
            <a:endParaRPr lang="en-US" sz="1200" dirty="0"/>
          </a:p>
        </p:txBody>
      </p:sp>
      <p:sp>
        <p:nvSpPr>
          <p:cNvPr id="28" name="Run footnote"/>
          <p:cNvSpPr txBox="1"/>
          <p:nvPr/>
        </p:nvSpPr>
        <p:spPr>
          <a:xfrm>
            <a:off x="4846320" y="4187952"/>
            <a:ext cx="3840480" cy="457200"/>
          </a:xfrm>
          <a:prstGeom prst="rect">
            <a:avLst/>
          </a:prstGeom>
          <a:noFill/>
          <a:ln/>
        </p:spPr>
        <p:txBody>
          <a:bodyPr wrap="square" lIns="0" tIns="0" rIns="0" bIns="0" rtlCol="0" anchor="t"/>
          <a:lstStyle/>
          <a:p>
            <a:pPr indent="0" marL="0">
              <a:buNone/>
            </a:pPr>
            <a:r>
              <a:rPr lang="en-US" sz="1100" dirty="0">
                <a:solidFill>
                  <a:schemeClr val="accent6"/>
                </a:solidFill>
              </a:rPr>
              <a:t>5.3 h in total. Every 1,000 rounds we test it on 100 unseen clips and keep the best version.</a:t>
            </a:r>
            <a:endParaRPr lang="en-US" sz="11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Attention learns to read in order</a:t>
            </a:r>
            <a:endParaRPr lang="en-US" sz="3000" dirty="0"/>
          </a:p>
        </p:txBody>
      </p:sp>
      <p:pic>
        <p:nvPicPr>
          <p:cNvPr id="3" name="Training progress figure" descr="Colatron's attention at three training steps, validation mel loss and word error rate over training.">    </p:cNvPr>
          <p:cNvPicPr>
            <a:picLocks noChangeAspect="1"/>
          </p:cNvPicPr>
          <p:nvPr/>
        </p:nvPicPr>
        <p:blipFill>
          <a:blip r:embed="rId1"/>
          <a:stretch>
            <a:fillRect/>
          </a:stretch>
        </p:blipFill>
        <p:spPr>
          <a:xfrm>
            <a:off x="457200" y="1005840"/>
            <a:ext cx="5852160" cy="3172968"/>
          </a:xfrm>
          <a:prstGeom prst="rect">
            <a:avLst/>
          </a:prstGeom>
        </p:spPr>
      </p:pic>
      <p:sp>
        <p:nvSpPr>
          <p:cNvPr id="4" name="Monotonic value"/>
          <p:cNvSpPr txBox="1"/>
          <p:nvPr/>
        </p:nvSpPr>
        <p:spPr>
          <a:xfrm>
            <a:off x="6537960" y="1097280"/>
            <a:ext cx="2148840" cy="640080"/>
          </a:xfrm>
          <a:prstGeom prst="rect">
            <a:avLst/>
          </a:prstGeom>
          <a:noFill/>
          <a:ln/>
        </p:spPr>
        <p:txBody>
          <a:bodyPr wrap="square" lIns="0" tIns="0" rIns="0" bIns="0" rtlCol="0" anchor="ctr"/>
          <a:lstStyle/>
          <a:p>
            <a:pPr indent="0" marL="0">
              <a:buNone/>
            </a:pPr>
            <a:r>
              <a:rPr lang="en-US" sz="3400" b="1" dirty="0">
                <a:solidFill>
                  <a:schemeClr val="accent1"/>
                </a:solidFill>
                <a:latin typeface="Arial" pitchFamily="34" charset="0"/>
                <a:ea typeface="Arial" pitchFamily="34" charset="-122"/>
                <a:cs typeface="Arial" pitchFamily="34" charset="-120"/>
              </a:rPr>
              <a:t>99–100%</a:t>
            </a:r>
            <a:endParaRPr lang="en-US" sz="3400" dirty="0"/>
          </a:p>
        </p:txBody>
      </p:sp>
      <p:sp>
        <p:nvSpPr>
          <p:cNvPr id="5" name="Monotonic label"/>
          <p:cNvSpPr txBox="1"/>
          <p:nvPr/>
        </p:nvSpPr>
        <p:spPr>
          <a:xfrm>
            <a:off x="6537960" y="1737360"/>
            <a:ext cx="2148840" cy="685800"/>
          </a:xfrm>
          <a:prstGeom prst="rect">
            <a:avLst/>
          </a:prstGeom>
          <a:noFill/>
          <a:ln/>
        </p:spPr>
        <p:txBody>
          <a:bodyPr wrap="square" lIns="0" tIns="0" rIns="0" bIns="0" rtlCol="0" anchor="ctr"/>
          <a:lstStyle/>
          <a:p>
            <a:pPr indent="0" marL="0">
              <a:buNone/>
            </a:pPr>
            <a:r>
              <a:rPr lang="en-US" sz="1200" dirty="0">
                <a:solidFill>
                  <a:schemeClr val="accent6"/>
                </a:solidFill>
              </a:rPr>
              <a:t>of the time the finger moves forward, never back</a:t>
            </a:r>
            <a:endParaRPr lang="en-US" sz="1200" dirty="0"/>
          </a:p>
        </p:txBody>
      </p:sp>
      <p:sp>
        <p:nvSpPr>
          <p:cNvPr id="6" name="Progress takeaway"/>
          <p:cNvSpPr txBox="1"/>
          <p:nvPr/>
        </p:nvSpPr>
        <p:spPr>
          <a:xfrm>
            <a:off x="6537960" y="2651760"/>
            <a:ext cx="2148840" cy="1463040"/>
          </a:xfrm>
          <a:prstGeom prst="rect">
            <a:avLst/>
          </a:prstGeom>
          <a:noFill/>
          <a:ln/>
        </p:spPr>
        <p:txBody>
          <a:bodyPr wrap="square" lIns="0" tIns="0" rIns="0" bIns="0" rtlCol="0" anchor="t"/>
          <a:lstStyle/>
          <a:p>
            <a:pPr indent="0" marL="0">
              <a:buNone/>
            </a:pPr>
            <a:r>
              <a:rPr lang="en-US" sz="1300" b="1" dirty="0">
                <a:solidFill>
                  <a:schemeClr val="tx1"/>
                </a:solidFill>
              </a:rPr>
              <a:t>The diagonal line means reading the text in order. It appeared within the first 500 rounds, which the 2018 project never managed.</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Speaking a new sentence</a:t>
            </a:r>
            <a:endParaRPr lang="en-US" sz="3000" dirty="0"/>
          </a:p>
        </p:txBody>
      </p:sp>
      <p:sp>
        <p:nvSpPr>
          <p:cNvPr id="3" name="Flow 1"/>
          <p:cNvSpPr/>
          <p:nvPr/>
        </p:nvSpPr>
        <p:spPr>
          <a:xfrm>
            <a:off x="457200" y="1188720"/>
            <a:ext cx="1234440" cy="822960"/>
          </a:xfrm>
          <a:prstGeom prst="roundRect">
            <a:avLst>
              <a:gd name="adj" fmla="val 8889"/>
            </a:avLst>
          </a:prstGeom>
          <a:solidFill>
            <a:schemeClr val="bg1"/>
          </a:solidFill>
          <a:ln w="15875">
            <a:solidFill>
              <a:srgbClr val="A8A2C2"/>
            </a:solidFill>
            <a:prstDash val="solid"/>
          </a:ln>
        </p:spPr>
      </p:sp>
      <p:sp>
        <p:nvSpPr>
          <p:cNvPr id="4" name="Flow 1 name"/>
          <p:cNvSpPr txBox="1"/>
          <p:nvPr/>
        </p:nvSpPr>
        <p:spPr>
          <a:xfrm>
            <a:off x="457200" y="1188720"/>
            <a:ext cx="1234440" cy="822960"/>
          </a:xfrm>
          <a:prstGeom prst="rect">
            <a:avLst/>
          </a:prstGeom>
          <a:noFill/>
          <a:ln/>
        </p:spPr>
        <p:txBody>
          <a:bodyPr wrap="square" lIns="0" tIns="0" rIns="0" bIns="0" rtlCol="0" anchor="ctr"/>
          <a:lstStyle/>
          <a:p>
            <a:pPr algn="ctr" indent="0" marL="0">
              <a:buNone/>
            </a:pPr>
            <a:r>
              <a:rPr lang="en-US" sz="1400" b="1" dirty="0">
                <a:solidFill>
                  <a:schemeClr val="tx1"/>
                </a:solidFill>
              </a:rPr>
              <a:t>Clean text</a:t>
            </a:r>
            <a:endParaRPr lang="en-US" sz="1400" dirty="0"/>
          </a:p>
        </p:txBody>
      </p:sp>
      <p:sp>
        <p:nvSpPr>
          <p:cNvPr id="5" name="Flow 1 detail"/>
          <p:cNvSpPr txBox="1"/>
          <p:nvPr/>
        </p:nvSpPr>
        <p:spPr>
          <a:xfrm>
            <a:off x="457200" y="2103120"/>
            <a:ext cx="1234440" cy="868680"/>
          </a:xfrm>
          <a:prstGeom prst="rect">
            <a:avLst/>
          </a:prstGeom>
          <a:noFill/>
          <a:ln/>
        </p:spPr>
        <p:txBody>
          <a:bodyPr wrap="square" lIns="0" tIns="0" rIns="0" bIns="0" rtlCol="0" anchor="t"/>
          <a:lstStyle/>
          <a:p>
            <a:pPr algn="ctr" indent="0" marL="0">
              <a:buNone/>
            </a:pPr>
            <a:r>
              <a:rPr lang="en-US" sz="1100" dirty="0">
                <a:solidFill>
                  <a:schemeClr val="accent6"/>
                </a:solidFill>
              </a:rPr>
              <a:t>"$42" → "forty two dollars"</a:t>
            </a:r>
            <a:endParaRPr lang="en-US" sz="1100" dirty="0"/>
          </a:p>
        </p:txBody>
      </p:sp>
      <p:sp>
        <p:nvSpPr>
          <p:cNvPr id="6" name="Flow arrow 1"/>
          <p:cNvSpPr/>
          <p:nvPr/>
        </p:nvSpPr>
        <p:spPr>
          <a:xfrm>
            <a:off x="1728216" y="1490472"/>
            <a:ext cx="91440" cy="219456"/>
          </a:xfrm>
          <a:prstGeom prst="chevron">
            <a:avLst/>
          </a:prstGeom>
          <a:solidFill>
            <a:srgbClr val="6E6A85"/>
          </a:solidFill>
          <a:ln w="12700">
            <a:solidFill>
              <a:srgbClr val="6E6A85"/>
            </a:solidFill>
            <a:prstDash val="solid"/>
          </a:ln>
        </p:spPr>
      </p:sp>
      <p:sp>
        <p:nvSpPr>
          <p:cNvPr id="7" name="Flow 2"/>
          <p:cNvSpPr/>
          <p:nvPr/>
        </p:nvSpPr>
        <p:spPr>
          <a:xfrm>
            <a:off x="1856232" y="1188720"/>
            <a:ext cx="1234440" cy="822960"/>
          </a:xfrm>
          <a:prstGeom prst="roundRect">
            <a:avLst>
              <a:gd name="adj" fmla="val 8889"/>
            </a:avLst>
          </a:prstGeom>
          <a:solidFill>
            <a:schemeClr val="accent1"/>
          </a:solidFill>
          <a:ln w="12700">
            <a:solidFill>
              <a:schemeClr val="accent1"/>
            </a:solidFill>
            <a:prstDash val="solid"/>
          </a:ln>
        </p:spPr>
      </p:sp>
      <p:sp>
        <p:nvSpPr>
          <p:cNvPr id="8" name="Flow 2 name"/>
          <p:cNvSpPr txBox="1"/>
          <p:nvPr/>
        </p:nvSpPr>
        <p:spPr>
          <a:xfrm>
            <a:off x="1856232" y="1188720"/>
            <a:ext cx="1234440" cy="822960"/>
          </a:xfrm>
          <a:prstGeom prst="rect">
            <a:avLst/>
          </a:prstGeom>
          <a:noFill/>
          <a:ln/>
        </p:spPr>
        <p:txBody>
          <a:bodyPr wrap="square" lIns="0" tIns="0" rIns="0" bIns="0" rtlCol="0" anchor="ctr"/>
          <a:lstStyle/>
          <a:p>
            <a:pPr algn="ctr" indent="0" marL="0">
              <a:buNone/>
            </a:pPr>
            <a:r>
              <a:rPr lang="en-US" sz="1400" b="1" dirty="0">
                <a:solidFill>
                  <a:schemeClr val="bg1"/>
                </a:solidFill>
              </a:rPr>
              <a:t>Encoder</a:t>
            </a:r>
            <a:endParaRPr lang="en-US" sz="1400" dirty="0"/>
          </a:p>
        </p:txBody>
      </p:sp>
      <p:sp>
        <p:nvSpPr>
          <p:cNvPr id="9" name="Flow 2 detail"/>
          <p:cNvSpPr txBox="1"/>
          <p:nvPr/>
        </p:nvSpPr>
        <p:spPr>
          <a:xfrm>
            <a:off x="1856232" y="2103120"/>
            <a:ext cx="1234440" cy="868680"/>
          </a:xfrm>
          <a:prstGeom prst="rect">
            <a:avLst/>
          </a:prstGeom>
          <a:noFill/>
          <a:ln/>
        </p:spPr>
        <p:txBody>
          <a:bodyPr wrap="square" lIns="0" tIns="0" rIns="0" bIns="0" rtlCol="0" anchor="t"/>
          <a:lstStyle/>
          <a:p>
            <a:pPr algn="ctr" indent="0" marL="0">
              <a:buNone/>
            </a:pPr>
            <a:r>
              <a:rPr lang="en-US" sz="1100" dirty="0">
                <a:solidFill>
                  <a:schemeClr val="accent6"/>
                </a:solidFill>
              </a:rPr>
              <a:t>reads the whole sentence</a:t>
            </a:r>
            <a:endParaRPr lang="en-US" sz="1100" dirty="0"/>
          </a:p>
        </p:txBody>
      </p:sp>
      <p:sp>
        <p:nvSpPr>
          <p:cNvPr id="10" name="Flow arrow 2"/>
          <p:cNvSpPr/>
          <p:nvPr/>
        </p:nvSpPr>
        <p:spPr>
          <a:xfrm>
            <a:off x="3127248" y="1490472"/>
            <a:ext cx="91440" cy="219456"/>
          </a:xfrm>
          <a:prstGeom prst="chevron">
            <a:avLst/>
          </a:prstGeom>
          <a:solidFill>
            <a:srgbClr val="6E6A85"/>
          </a:solidFill>
          <a:ln w="12700">
            <a:solidFill>
              <a:srgbClr val="6E6A85"/>
            </a:solidFill>
            <a:prstDash val="solid"/>
          </a:ln>
        </p:spPr>
      </p:sp>
      <p:sp>
        <p:nvSpPr>
          <p:cNvPr id="11" name="Flow 3"/>
          <p:cNvSpPr/>
          <p:nvPr/>
        </p:nvSpPr>
        <p:spPr>
          <a:xfrm>
            <a:off x="3255264" y="1188720"/>
            <a:ext cx="1234440" cy="822960"/>
          </a:xfrm>
          <a:prstGeom prst="roundRect">
            <a:avLst>
              <a:gd name="adj" fmla="val 8889"/>
            </a:avLst>
          </a:prstGeom>
          <a:solidFill>
            <a:schemeClr val="accent1"/>
          </a:solidFill>
          <a:ln w="12700">
            <a:solidFill>
              <a:schemeClr val="accent1"/>
            </a:solidFill>
            <a:prstDash val="solid"/>
          </a:ln>
        </p:spPr>
      </p:sp>
      <p:sp>
        <p:nvSpPr>
          <p:cNvPr id="12" name="Flow 3 name"/>
          <p:cNvSpPr txBox="1"/>
          <p:nvPr/>
        </p:nvSpPr>
        <p:spPr>
          <a:xfrm>
            <a:off x="3255264" y="1188720"/>
            <a:ext cx="1234440" cy="822960"/>
          </a:xfrm>
          <a:prstGeom prst="rect">
            <a:avLst/>
          </a:prstGeom>
          <a:noFill/>
          <a:ln/>
        </p:spPr>
        <p:txBody>
          <a:bodyPr wrap="square" lIns="0" tIns="0" rIns="0" bIns="0" rtlCol="0" anchor="ctr"/>
          <a:lstStyle/>
          <a:p>
            <a:pPr algn="ctr" indent="0" marL="0">
              <a:buNone/>
            </a:pPr>
            <a:r>
              <a:rPr lang="en-US" sz="1400" b="1" dirty="0">
                <a:solidFill>
                  <a:schemeClr val="bg1"/>
                </a:solidFill>
              </a:rPr>
              <a:t>Decoder</a:t>
            </a:r>
            <a:endParaRPr lang="en-US" sz="1400" dirty="0"/>
          </a:p>
        </p:txBody>
      </p:sp>
      <p:sp>
        <p:nvSpPr>
          <p:cNvPr id="13" name="Flow 3 detail"/>
          <p:cNvSpPr txBox="1"/>
          <p:nvPr/>
        </p:nvSpPr>
        <p:spPr>
          <a:xfrm>
            <a:off x="3255264" y="2103120"/>
            <a:ext cx="1234440" cy="868680"/>
          </a:xfrm>
          <a:prstGeom prst="rect">
            <a:avLst/>
          </a:prstGeom>
          <a:noFill/>
          <a:ln/>
        </p:spPr>
        <p:txBody>
          <a:bodyPr wrap="square" lIns="0" tIns="0" rIns="0" bIns="0" rtlCol="0" anchor="t"/>
          <a:lstStyle/>
          <a:p>
            <a:pPr algn="ctr" indent="0" marL="0">
              <a:buNone/>
            </a:pPr>
            <a:r>
              <a:rPr lang="en-US" sz="1100" dirty="0">
                <a:solidFill>
                  <a:schemeClr val="accent6"/>
                </a:solidFill>
              </a:rPr>
              <a:t>finger on a letter, draw a few columns, repeat</a:t>
            </a:r>
            <a:endParaRPr lang="en-US" sz="1100" dirty="0"/>
          </a:p>
        </p:txBody>
      </p:sp>
      <p:sp>
        <p:nvSpPr>
          <p:cNvPr id="14" name="Flow arrow 3"/>
          <p:cNvSpPr/>
          <p:nvPr/>
        </p:nvSpPr>
        <p:spPr>
          <a:xfrm>
            <a:off x="4526280" y="1490472"/>
            <a:ext cx="91440" cy="219456"/>
          </a:xfrm>
          <a:prstGeom prst="chevron">
            <a:avLst/>
          </a:prstGeom>
          <a:solidFill>
            <a:srgbClr val="6E6A85"/>
          </a:solidFill>
          <a:ln w="12700">
            <a:solidFill>
              <a:srgbClr val="6E6A85"/>
            </a:solidFill>
            <a:prstDash val="solid"/>
          </a:ln>
        </p:spPr>
      </p:sp>
      <p:sp>
        <p:nvSpPr>
          <p:cNvPr id="15" name="Flow 4"/>
          <p:cNvSpPr/>
          <p:nvPr/>
        </p:nvSpPr>
        <p:spPr>
          <a:xfrm>
            <a:off x="4654296" y="1188720"/>
            <a:ext cx="1234440" cy="822960"/>
          </a:xfrm>
          <a:prstGeom prst="roundRect">
            <a:avLst>
              <a:gd name="adj" fmla="val 8889"/>
            </a:avLst>
          </a:prstGeom>
          <a:solidFill>
            <a:schemeClr val="accent2"/>
          </a:solidFill>
          <a:ln w="12700">
            <a:solidFill>
              <a:schemeClr val="accent2"/>
            </a:solidFill>
            <a:prstDash val="solid"/>
          </a:ln>
        </p:spPr>
      </p:sp>
      <p:sp>
        <p:nvSpPr>
          <p:cNvPr id="16" name="Flow 4 name"/>
          <p:cNvSpPr txBox="1"/>
          <p:nvPr/>
        </p:nvSpPr>
        <p:spPr>
          <a:xfrm>
            <a:off x="4654296" y="1188720"/>
            <a:ext cx="1234440" cy="822960"/>
          </a:xfrm>
          <a:prstGeom prst="rect">
            <a:avLst/>
          </a:prstGeom>
          <a:noFill/>
          <a:ln/>
        </p:spPr>
        <p:txBody>
          <a:bodyPr wrap="square" lIns="0" tIns="0" rIns="0" bIns="0" rtlCol="0" anchor="ctr"/>
          <a:lstStyle/>
          <a:p>
            <a:pPr algn="ctr" indent="0" marL="0">
              <a:buNone/>
            </a:pPr>
            <a:r>
              <a:rPr lang="en-US" sz="1400" b="1" dirty="0">
                <a:solidFill>
                  <a:schemeClr val="bg1"/>
                </a:solidFill>
              </a:rPr>
              <a:t>Stop rule</a:t>
            </a:r>
            <a:endParaRPr lang="en-US" sz="1400" dirty="0"/>
          </a:p>
        </p:txBody>
      </p:sp>
      <p:sp>
        <p:nvSpPr>
          <p:cNvPr id="17" name="Flow 4 detail"/>
          <p:cNvSpPr txBox="1"/>
          <p:nvPr/>
        </p:nvSpPr>
        <p:spPr>
          <a:xfrm>
            <a:off x="4654296" y="2103120"/>
            <a:ext cx="1234440" cy="868680"/>
          </a:xfrm>
          <a:prstGeom prst="rect">
            <a:avLst/>
          </a:prstGeom>
          <a:noFill/>
          <a:ln/>
        </p:spPr>
        <p:txBody>
          <a:bodyPr wrap="square" lIns="0" tIns="0" rIns="0" bIns="0" rtlCol="0" anchor="t"/>
          <a:lstStyle/>
          <a:p>
            <a:pPr algn="ctr" indent="0" marL="0">
              <a:buNone/>
            </a:pPr>
            <a:r>
              <a:rPr lang="en-US" sz="1100" dirty="0">
                <a:solidFill>
                  <a:schemeClr val="accent6"/>
                </a:solidFill>
              </a:rPr>
              <a:t>only stop once it reaches the end of the text</a:t>
            </a:r>
            <a:endParaRPr lang="en-US" sz="1100" dirty="0"/>
          </a:p>
        </p:txBody>
      </p:sp>
      <p:sp>
        <p:nvSpPr>
          <p:cNvPr id="18" name="Flow arrow 4"/>
          <p:cNvSpPr/>
          <p:nvPr/>
        </p:nvSpPr>
        <p:spPr>
          <a:xfrm>
            <a:off x="5925312" y="1490472"/>
            <a:ext cx="91440" cy="219456"/>
          </a:xfrm>
          <a:prstGeom prst="chevron">
            <a:avLst/>
          </a:prstGeom>
          <a:solidFill>
            <a:srgbClr val="6E6A85"/>
          </a:solidFill>
          <a:ln w="12700">
            <a:solidFill>
              <a:srgbClr val="6E6A85"/>
            </a:solidFill>
            <a:prstDash val="solid"/>
          </a:ln>
        </p:spPr>
      </p:sp>
      <p:sp>
        <p:nvSpPr>
          <p:cNvPr id="19" name="Flow 5"/>
          <p:cNvSpPr/>
          <p:nvPr/>
        </p:nvSpPr>
        <p:spPr>
          <a:xfrm>
            <a:off x="6053328" y="1188720"/>
            <a:ext cx="1234440" cy="822960"/>
          </a:xfrm>
          <a:prstGeom prst="roundRect">
            <a:avLst>
              <a:gd name="adj" fmla="val 8889"/>
            </a:avLst>
          </a:prstGeom>
          <a:solidFill>
            <a:schemeClr val="accent1"/>
          </a:solidFill>
          <a:ln w="12700">
            <a:solidFill>
              <a:schemeClr val="accent1"/>
            </a:solidFill>
            <a:prstDash val="solid"/>
          </a:ln>
        </p:spPr>
      </p:sp>
      <p:sp>
        <p:nvSpPr>
          <p:cNvPr id="20" name="Flow 5 name"/>
          <p:cNvSpPr txBox="1"/>
          <p:nvPr/>
        </p:nvSpPr>
        <p:spPr>
          <a:xfrm>
            <a:off x="6053328" y="1188720"/>
            <a:ext cx="1234440" cy="822960"/>
          </a:xfrm>
          <a:prstGeom prst="rect">
            <a:avLst/>
          </a:prstGeom>
          <a:noFill/>
          <a:ln/>
        </p:spPr>
        <p:txBody>
          <a:bodyPr wrap="square" lIns="0" tIns="0" rIns="0" bIns="0" rtlCol="0" anchor="ctr"/>
          <a:lstStyle/>
          <a:p>
            <a:pPr algn="ctr" indent="0" marL="0">
              <a:buNone/>
            </a:pPr>
            <a:r>
              <a:rPr lang="en-US" sz="1400" b="1" dirty="0">
                <a:solidFill>
                  <a:schemeClr val="bg1"/>
                </a:solidFill>
              </a:rPr>
              <a:t>Post-net</a:t>
            </a:r>
            <a:endParaRPr lang="en-US" sz="1400" dirty="0"/>
          </a:p>
        </p:txBody>
      </p:sp>
      <p:sp>
        <p:nvSpPr>
          <p:cNvPr id="21" name="Flow 5 detail"/>
          <p:cNvSpPr txBox="1"/>
          <p:nvPr/>
        </p:nvSpPr>
        <p:spPr>
          <a:xfrm>
            <a:off x="6053328" y="2103120"/>
            <a:ext cx="1234440" cy="868680"/>
          </a:xfrm>
          <a:prstGeom prst="rect">
            <a:avLst/>
          </a:prstGeom>
          <a:noFill/>
          <a:ln/>
        </p:spPr>
        <p:txBody>
          <a:bodyPr wrap="square" lIns="0" tIns="0" rIns="0" bIns="0" rtlCol="0" anchor="t"/>
          <a:lstStyle/>
          <a:p>
            <a:pPr algn="ctr" indent="0" marL="0">
              <a:buNone/>
            </a:pPr>
            <a:r>
              <a:rPr lang="en-US" sz="1100" dirty="0">
                <a:solidFill>
                  <a:schemeClr val="accent6"/>
                </a:solidFill>
              </a:rPr>
              <a:t>cleans up the picture</a:t>
            </a:r>
            <a:endParaRPr lang="en-US" sz="1100" dirty="0"/>
          </a:p>
        </p:txBody>
      </p:sp>
      <p:sp>
        <p:nvSpPr>
          <p:cNvPr id="22" name="Flow arrow 5"/>
          <p:cNvSpPr/>
          <p:nvPr/>
        </p:nvSpPr>
        <p:spPr>
          <a:xfrm>
            <a:off x="7324344" y="1490472"/>
            <a:ext cx="91440" cy="219456"/>
          </a:xfrm>
          <a:prstGeom prst="chevron">
            <a:avLst/>
          </a:prstGeom>
          <a:solidFill>
            <a:srgbClr val="6E6A85"/>
          </a:solidFill>
          <a:ln w="12700">
            <a:solidFill>
              <a:srgbClr val="6E6A85"/>
            </a:solidFill>
            <a:prstDash val="solid"/>
          </a:ln>
        </p:spPr>
      </p:sp>
      <p:sp>
        <p:nvSpPr>
          <p:cNvPr id="23" name="Flow 6"/>
          <p:cNvSpPr/>
          <p:nvPr/>
        </p:nvSpPr>
        <p:spPr>
          <a:xfrm>
            <a:off x="7452360" y="1188720"/>
            <a:ext cx="1234440" cy="822960"/>
          </a:xfrm>
          <a:prstGeom prst="roundRect">
            <a:avLst>
              <a:gd name="adj" fmla="val 8889"/>
            </a:avLst>
          </a:prstGeom>
          <a:solidFill>
            <a:schemeClr val="accent4"/>
          </a:solidFill>
          <a:ln w="12700">
            <a:solidFill>
              <a:schemeClr val="accent4"/>
            </a:solidFill>
            <a:prstDash val="solid"/>
          </a:ln>
        </p:spPr>
      </p:sp>
      <p:sp>
        <p:nvSpPr>
          <p:cNvPr id="24" name="Flow 6 name"/>
          <p:cNvSpPr txBox="1"/>
          <p:nvPr/>
        </p:nvSpPr>
        <p:spPr>
          <a:xfrm>
            <a:off x="7452360" y="1188720"/>
            <a:ext cx="1234440" cy="822960"/>
          </a:xfrm>
          <a:prstGeom prst="rect">
            <a:avLst/>
          </a:prstGeom>
          <a:noFill/>
          <a:ln/>
        </p:spPr>
        <p:txBody>
          <a:bodyPr wrap="square" lIns="0" tIns="0" rIns="0" bIns="0" rtlCol="0" anchor="ctr"/>
          <a:lstStyle/>
          <a:p>
            <a:pPr algn="ctr" indent="0" marL="0">
              <a:buNone/>
            </a:pPr>
            <a:r>
              <a:rPr lang="en-US" sz="1400" b="1" dirty="0">
                <a:solidFill>
                  <a:schemeClr val="bg1"/>
                </a:solidFill>
              </a:rPr>
              <a:t>Vocoder</a:t>
            </a:r>
            <a:endParaRPr lang="en-US" sz="1400" dirty="0"/>
          </a:p>
        </p:txBody>
      </p:sp>
      <p:sp>
        <p:nvSpPr>
          <p:cNvPr id="25" name="Flow 6 detail"/>
          <p:cNvSpPr txBox="1"/>
          <p:nvPr/>
        </p:nvSpPr>
        <p:spPr>
          <a:xfrm>
            <a:off x="7452360" y="2103120"/>
            <a:ext cx="1234440" cy="868680"/>
          </a:xfrm>
          <a:prstGeom prst="rect">
            <a:avLst/>
          </a:prstGeom>
          <a:noFill/>
          <a:ln/>
        </p:spPr>
        <p:txBody>
          <a:bodyPr wrap="square" lIns="0" tIns="0" rIns="0" bIns="0" rtlCol="0" anchor="t"/>
          <a:lstStyle/>
          <a:p>
            <a:pPr algn="ctr" indent="0" marL="0">
              <a:buNone/>
            </a:pPr>
            <a:r>
              <a:rPr lang="en-US" sz="1100" dirty="0">
                <a:solidFill>
                  <a:schemeClr val="accent6"/>
                </a:solidFill>
              </a:rPr>
              <a:t>picture → audio</a:t>
            </a:r>
            <a:endParaRPr lang="en-US" sz="1100" dirty="0"/>
          </a:p>
        </p:txBody>
      </p:sp>
      <p:sp>
        <p:nvSpPr>
          <p:cNvPr id="26" name="Speak note card"/>
          <p:cNvSpPr/>
          <p:nvPr/>
        </p:nvSpPr>
        <p:spPr>
          <a:xfrm>
            <a:off x="457200" y="3154680"/>
            <a:ext cx="4023360" cy="1143000"/>
          </a:xfrm>
          <a:prstGeom prst="roundRect">
            <a:avLst>
              <a:gd name="adj" fmla="val 6400"/>
            </a:avLst>
          </a:prstGeom>
          <a:solidFill>
            <a:schemeClr val="bg2"/>
          </a:solidFill>
          <a:ln w="12700">
            <a:solidFill>
              <a:schemeClr val="bg2"/>
            </a:solidFill>
            <a:prstDash val="solid"/>
          </a:ln>
        </p:spPr>
      </p:sp>
      <p:sp>
        <p:nvSpPr>
          <p:cNvPr id="27" name="Speak note"/>
          <p:cNvSpPr txBox="1"/>
          <p:nvPr/>
        </p:nvSpPr>
        <p:spPr>
          <a:xfrm>
            <a:off x="640080" y="3273552"/>
            <a:ext cx="3657600" cy="1234440"/>
          </a:xfrm>
          <a:prstGeom prst="rect">
            <a:avLst/>
          </a:prstGeom>
          <a:noFill/>
          <a:ln/>
        </p:spPr>
        <p:txBody>
          <a:bodyPr wrap="square" lIns="0" tIns="0" rIns="0" bIns="0" rtlCol="0" anchor="t"/>
          <a:lstStyle/>
          <a:p>
            <a:pPr indent="0" marL="0">
              <a:buNone/>
            </a:pPr>
            <a:r>
              <a:rPr lang="en-US" sz="1200" b="1" dirty="0">
                <a:solidFill>
                  <a:schemeClr val="accent1"/>
                </a:solidFill>
              </a:rPr>
              <a:t>No real audio to copy any more</a:t>
            </a:r>
            <a:endParaRPr lang="en-US" sz="1200" dirty="0"/>
          </a:p>
          <a:p>
            <a:pPr indent="0" marL="0">
              <a:buNone/>
            </a:pPr>
            <a:r>
              <a:rPr lang="en-US" sz="1200" dirty="0">
                <a:solidFill>
                  <a:schemeClr val="tx1"/>
                </a:solidFill>
              </a:rPr>
              <a:t>In training it could peek at the real recording. Now it only has its own drawing to continue from, until it reaches the end of the text.</a:t>
            </a:r>
            <a:endParaRPr lang="en-US" sz="1200" dirty="0"/>
          </a:p>
        </p:txBody>
      </p:sp>
      <p:sp>
        <p:nvSpPr>
          <p:cNvPr id="28" name="Vocoder note card"/>
          <p:cNvSpPr/>
          <p:nvPr/>
        </p:nvSpPr>
        <p:spPr>
          <a:xfrm>
            <a:off x="4663440" y="3154680"/>
            <a:ext cx="4023360" cy="1143000"/>
          </a:xfrm>
          <a:prstGeom prst="roundRect">
            <a:avLst>
              <a:gd name="adj" fmla="val 6400"/>
            </a:avLst>
          </a:prstGeom>
          <a:solidFill>
            <a:schemeClr val="bg2"/>
          </a:solidFill>
          <a:ln w="12700">
            <a:solidFill>
              <a:schemeClr val="bg2"/>
            </a:solidFill>
            <a:prstDash val="solid"/>
          </a:ln>
        </p:spPr>
      </p:sp>
      <p:sp>
        <p:nvSpPr>
          <p:cNvPr id="29" name="Vocoder note"/>
          <p:cNvSpPr txBox="1"/>
          <p:nvPr/>
        </p:nvSpPr>
        <p:spPr>
          <a:xfrm>
            <a:off x="4846320" y="3273552"/>
            <a:ext cx="3657600" cy="1234440"/>
          </a:xfrm>
          <a:prstGeom prst="rect">
            <a:avLst/>
          </a:prstGeom>
          <a:noFill/>
          <a:ln/>
        </p:spPr>
        <p:txBody>
          <a:bodyPr wrap="square" lIns="0" tIns="0" rIns="0" bIns="0" rtlCol="0" anchor="t"/>
          <a:lstStyle/>
          <a:p>
            <a:pPr indent="0" marL="0">
              <a:buNone/>
            </a:pPr>
            <a:r>
              <a:rPr lang="en-US" sz="1200" b="1" dirty="0">
                <a:solidFill>
                  <a:schemeClr val="accent4"/>
                </a:solidFill>
              </a:rPr>
              <a:t>The vocoder only turns our picture into sound</a:t>
            </a:r>
            <a:endParaRPr lang="en-US" sz="1200" dirty="0"/>
          </a:p>
          <a:p>
            <a:pPr marL="342900" indent="-342900">
              <a:buSzPct val="100000"/>
              <a:buChar char="•"/>
            </a:pPr>
            <a:r>
              <a:rPr lang="en-US" sz="1200" dirty="0">
                <a:solidFill>
                  <a:schemeClr val="tx1"/>
                </a:solidFill>
              </a:rPr>
              <a:t>Griffin-Lim (simple, no AI): 9.3% of words wrong, robotic</a:t>
            </a:r>
            <a:endParaRPr lang="en-US" sz="1200" dirty="0"/>
          </a:p>
          <a:p>
            <a:pPr marL="342900" indent="-342900">
              <a:buSzPct val="100000"/>
              <a:buChar char="•"/>
            </a:pPr>
            <a:r>
              <a:rPr lang="en-US" sz="1200" dirty="0">
                <a:solidFill>
                  <a:schemeClr val="tx1"/>
                </a:solidFill>
              </a:rPr>
              <a:t>HiFi-GAN (pretrained AI): 8.8% wrong, natural</a:t>
            </a:r>
            <a:endParaRPr lang="en-US" sz="1200" dirty="0"/>
          </a:p>
          <a:p>
            <a:pPr indent="0" marL="0">
              <a:buNone/>
            </a:pPr>
            <a:r>
              <a:rPr lang="en-US" sz="1200" dirty="0">
                <a:solidFill>
                  <a:schemeClr val="tx1"/>
                </a:solidFill>
              </a:rPr>
              <a:t>Same picture in both, so the words come from our model.</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Can a listener understand it?</a:t>
            </a:r>
            <a:endParaRPr lang="en-US" sz="3000" dirty="0"/>
          </a:p>
        </p:txBody>
      </p:sp>
      <p:graphicFrame>
        <p:nvGraphicFramePr>
          <p:cNvPr id="3" name="Word error rate chart" descr=""/>
          <p:cNvGraphicFramePr/>
          <p:nvPr/>
        </p:nvGraphicFramePr>
        <p:xfrm>
          <a:off x="457200" y="100584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Colatron WER value"/>
          <p:cNvSpPr txBox="1"/>
          <p:nvPr/>
        </p:nvSpPr>
        <p:spPr>
          <a:xfrm>
            <a:off x="5852160" y="1097280"/>
            <a:ext cx="2834640" cy="640080"/>
          </a:xfrm>
          <a:prstGeom prst="rect">
            <a:avLst/>
          </a:prstGeom>
          <a:noFill/>
          <a:ln/>
        </p:spPr>
        <p:txBody>
          <a:bodyPr wrap="square" lIns="0" tIns="0" rIns="0" bIns="0" rtlCol="0" anchor="ctr"/>
          <a:lstStyle/>
          <a:p>
            <a:pPr indent="0" marL="0">
              <a:buNone/>
            </a:pPr>
            <a:r>
              <a:rPr lang="en-US" sz="4000" b="1" dirty="0">
                <a:solidFill>
                  <a:schemeClr val="accent1"/>
                </a:solidFill>
                <a:latin typeface="Arial" pitchFamily="34" charset="0"/>
                <a:ea typeface="Arial" pitchFamily="34" charset="-122"/>
                <a:cs typeface="Arial" pitchFamily="34" charset="-120"/>
              </a:rPr>
              <a:t>9%</a:t>
            </a:r>
            <a:endParaRPr lang="en-US" sz="4000" dirty="0"/>
          </a:p>
        </p:txBody>
      </p:sp>
      <p:sp>
        <p:nvSpPr>
          <p:cNvPr id="5" name="Colatron WER label"/>
          <p:cNvSpPr txBox="1"/>
          <p:nvPr/>
        </p:nvSpPr>
        <p:spPr>
          <a:xfrm>
            <a:off x="5852160" y="1737360"/>
            <a:ext cx="2834640" cy="685800"/>
          </a:xfrm>
          <a:prstGeom prst="rect">
            <a:avLst/>
          </a:prstGeom>
          <a:noFill/>
          <a:ln/>
        </p:spPr>
        <p:txBody>
          <a:bodyPr wrap="square" lIns="0" tIns="0" rIns="0" bIns="0" rtlCol="0" anchor="ctr"/>
          <a:lstStyle/>
          <a:p>
            <a:pPr indent="0" marL="0">
              <a:buNone/>
            </a:pPr>
            <a:r>
              <a:rPr lang="en-US" sz="1300" dirty="0">
                <a:solidFill>
                  <a:schemeClr val="accent6"/>
                </a:solidFill>
              </a:rPr>
              <a:t>of words wrong for our model, versus 100% for the baseline and 16% for Tacotron 2</a:t>
            </a:r>
            <a:endParaRPr lang="en-US" sz="1300" dirty="0"/>
          </a:p>
        </p:txBody>
      </p:sp>
      <p:sp>
        <p:nvSpPr>
          <p:cNvPr id="6" name="WER method"/>
          <p:cNvSpPr txBox="1"/>
          <p:nvPr/>
        </p:nvSpPr>
        <p:spPr>
          <a:xfrm>
            <a:off x="5852160" y="2468880"/>
            <a:ext cx="2834640" cy="21031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A speech-to-text program listens and types what it hears</a:t>
            </a:r>
            <a:endParaRPr lang="en-US" sz="1200" dirty="0"/>
          </a:p>
          <a:p>
            <a:pPr marL="342900" indent="-342900">
              <a:spcAft>
                <a:spcPts val="400"/>
              </a:spcAft>
              <a:buSzPct val="100000"/>
              <a:buChar char="•"/>
            </a:pPr>
            <a:r>
              <a:rPr lang="en-US" sz="1200" dirty="0">
                <a:solidFill>
                  <a:schemeClr val="tx1"/>
                </a:solidFill>
              </a:rPr>
              <a:t>We count the words it gets wrong (WER)</a:t>
            </a:r>
            <a:endParaRPr lang="en-US" sz="1200" dirty="0"/>
          </a:p>
          <a:p>
            <a:pPr marL="342900" indent="-342900">
              <a:spcAft>
                <a:spcPts val="400"/>
              </a:spcAft>
              <a:buSzPct val="100000"/>
              <a:buChar char="•"/>
            </a:pPr>
            <a:r>
              <a:rPr lang="en-US" sz="1200" dirty="0">
                <a:solidFill>
                  <a:schemeClr val="tx1"/>
                </a:solidFill>
              </a:rPr>
              <a:t>20 test sentences the model never saw</a:t>
            </a:r>
            <a:endParaRPr lang="en-US" sz="1200" dirty="0"/>
          </a:p>
          <a:p>
            <a:pPr marL="342900" indent="-342900">
              <a:spcAft>
                <a:spcPts val="400"/>
              </a:spcAft>
              <a:buSzPct val="100000"/>
              <a:buChar char="•"/>
            </a:pPr>
            <a:r>
              <a:rPr lang="en-US" sz="1200" dirty="0">
                <a:solidFill>
                  <a:schemeClr val="tx1"/>
                </a:solidFill>
              </a:rPr>
              <a:t>Even real recordings get 5% wrong</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Distance to the real recording</a:t>
            </a:r>
            <a:endParaRPr lang="en-US" sz="3000" dirty="0"/>
          </a:p>
        </p:txBody>
      </p:sp>
      <p:graphicFrame>
        <p:nvGraphicFramePr>
          <p:cNvPr id="3" name="Mel distance chart" descr=""/>
          <p:cNvGraphicFramePr/>
          <p:nvPr/>
        </p:nvGraphicFramePr>
        <p:xfrm>
          <a:off x="457200" y="1005840"/>
          <a:ext cx="5120640" cy="3566160"/>
        </p:xfrm>
        <a:graphic xmlns:a="http://schemas.openxmlformats.org/drawingml/2006/main">
          <a:graphicData uri="http://schemas.openxmlformats.org/drawingml/2006/chart">
            <c:chart xmlns:c="http://schemas.openxmlformats.org/drawingml/2006/chart" r:id="rId1"/>
          </a:graphicData>
        </a:graphic>
      </p:graphicFrame>
      <p:sp>
        <p:nvSpPr>
          <p:cNvPr id="4" name="Improvement value"/>
          <p:cNvSpPr txBox="1"/>
          <p:nvPr/>
        </p:nvSpPr>
        <p:spPr>
          <a:xfrm>
            <a:off x="5852160" y="1097280"/>
            <a:ext cx="2834640" cy="640080"/>
          </a:xfrm>
          <a:prstGeom prst="rect">
            <a:avLst/>
          </a:prstGeom>
          <a:noFill/>
          <a:ln/>
        </p:spPr>
        <p:txBody>
          <a:bodyPr wrap="square" lIns="0" tIns="0" rIns="0" bIns="0" rtlCol="0" anchor="ctr"/>
          <a:lstStyle/>
          <a:p>
            <a:pPr indent="0" marL="0">
              <a:buNone/>
            </a:pPr>
            <a:r>
              <a:rPr lang="en-US" sz="3600" b="1" dirty="0">
                <a:solidFill>
                  <a:schemeClr val="accent1"/>
                </a:solidFill>
                <a:latin typeface="Arial" pitchFamily="34" charset="0"/>
                <a:ea typeface="Arial" pitchFamily="34" charset="-122"/>
                <a:cs typeface="Arial" pitchFamily="34" charset="-120"/>
              </a:rPr>
              <a:t>33% lower</a:t>
            </a:r>
            <a:endParaRPr lang="en-US" sz="3600" dirty="0"/>
          </a:p>
        </p:txBody>
      </p:sp>
      <p:sp>
        <p:nvSpPr>
          <p:cNvPr id="5" name="Improvement label"/>
          <p:cNvSpPr txBox="1"/>
          <p:nvPr/>
        </p:nvSpPr>
        <p:spPr>
          <a:xfrm>
            <a:off x="5852160" y="1691640"/>
            <a:ext cx="2834640" cy="594360"/>
          </a:xfrm>
          <a:prstGeom prst="rect">
            <a:avLst/>
          </a:prstGeom>
          <a:noFill/>
          <a:ln/>
        </p:spPr>
        <p:txBody>
          <a:bodyPr wrap="square" lIns="0" tIns="0" rIns="0" bIns="0" rtlCol="0" anchor="ctr"/>
          <a:lstStyle/>
          <a:p>
            <a:pPr indent="0" marL="0">
              <a:buNone/>
            </a:pPr>
            <a:r>
              <a:rPr lang="en-US" sz="1300" dirty="0">
                <a:solidFill>
                  <a:schemeClr val="accent6"/>
                </a:solidFill>
              </a:rPr>
              <a:t>closer to the real recording than the baseline (same vocoder for both)</a:t>
            </a:r>
            <a:endParaRPr lang="en-US" sz="1300" dirty="0"/>
          </a:p>
        </p:txBody>
      </p:sp>
      <p:sp>
        <p:nvSpPr>
          <p:cNvPr id="6" name="Method list"/>
          <p:cNvSpPr txBox="1"/>
          <p:nvPr/>
        </p:nvSpPr>
        <p:spPr>
          <a:xfrm>
            <a:off x="5852160" y="2423160"/>
            <a:ext cx="2834640" cy="109728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chemeClr val="tx1"/>
                </a:solidFill>
              </a:rPr>
              <a:t>Same 20 test sentences</a:t>
            </a:r>
            <a:endParaRPr lang="en-US" sz="1200" dirty="0"/>
          </a:p>
          <a:p>
            <a:pPr marL="342900" indent="-342900">
              <a:spcAft>
                <a:spcPts val="400"/>
              </a:spcAft>
              <a:buSzPct val="100000"/>
              <a:buChar char="•"/>
            </a:pPr>
            <a:r>
              <a:rPr lang="en-US" sz="1200" dirty="0">
                <a:solidFill>
                  <a:schemeClr val="tx1"/>
                </a:solidFill>
              </a:rPr>
              <a:t>Compare our sound picture with the real recording's</a:t>
            </a:r>
            <a:endParaRPr lang="en-US" sz="1200" dirty="0"/>
          </a:p>
          <a:p>
            <a:pPr marL="342900" indent="-342900">
              <a:spcAft>
                <a:spcPts val="400"/>
              </a:spcAft>
              <a:buSzPct val="100000"/>
              <a:buChar char="•"/>
            </a:pPr>
            <a:r>
              <a:rPr lang="en-US" sz="1200" dirty="0">
                <a:solidFill>
                  <a:schemeClr val="tx1"/>
                </a:solidFill>
              </a:rPr>
              <a:t>Line them up in time first, since speed can differ</a:t>
            </a:r>
            <a:endParaRPr lang="en-US" sz="1200" dirty="0"/>
          </a:p>
        </p:txBody>
      </p:sp>
      <p:sp>
        <p:nvSpPr>
          <p:cNvPr id="7" name="Caveat"/>
          <p:cNvSpPr txBox="1"/>
          <p:nvPr/>
        </p:nvSpPr>
        <p:spPr>
          <a:xfrm>
            <a:off x="5852160" y="3611880"/>
            <a:ext cx="2834640" cy="914400"/>
          </a:xfrm>
          <a:prstGeom prst="rect">
            <a:avLst/>
          </a:prstGeom>
          <a:noFill/>
          <a:ln/>
        </p:spPr>
        <p:txBody>
          <a:bodyPr wrap="square" lIns="0" tIns="0" rIns="0" bIns="0" rtlCol="0" anchor="t"/>
          <a:lstStyle/>
          <a:p>
            <a:pPr indent="0" marL="0">
              <a:buNone/>
            </a:pPr>
            <a:r>
              <a:rPr lang="en-US" sz="1200" b="1" dirty="0">
                <a:solidFill>
                  <a:schemeClr val="accent6"/>
                </a:solidFill>
              </a:rPr>
              <a:t>Caveat: </a:t>
            </a:r>
            <a:pPr indent="0" marL="0">
              <a:buNone/>
            </a:pPr>
            <a:r>
              <a:rPr lang="en-US" sz="1200" dirty="0">
                <a:solidFill>
                  <a:schemeClr val="accent6"/>
                </a:solidFill>
              </a:rPr>
              <a:t>Tacotron 2 was pretrained on all of LJ Speech, so it may have seen these clips. Colatron never did.</a:t>
            </a:r>
            <a:endParaRPr lang="en-US" sz="12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What the three models produce</a:t>
            </a:r>
            <a:endParaRPr lang="en-US" sz="3000" dirty="0"/>
          </a:p>
        </p:txBody>
      </p:sp>
      <p:pic>
        <p:nvPicPr>
          <p:cNvPr id="3" name="Three system mel plot" descr="Mel spectrograms of the same sentence from the baseline, Colatron and Tacotron 2.">    </p:cNvPr>
          <p:cNvPicPr>
            <a:picLocks noChangeAspect="1"/>
          </p:cNvPicPr>
          <p:nvPr/>
        </p:nvPicPr>
        <p:blipFill>
          <a:blip r:embed="rId1"/>
          <a:stretch>
            <a:fillRect/>
          </a:stretch>
        </p:blipFill>
        <p:spPr>
          <a:xfrm>
            <a:off x="457200" y="1005840"/>
            <a:ext cx="5120640" cy="3584448"/>
          </a:xfrm>
          <a:prstGeom prst="rect">
            <a:avLst/>
          </a:prstGeom>
        </p:spPr>
      </p:pic>
      <p:sp>
        <p:nvSpPr>
          <p:cNvPr id="4" name="Baseline reads"/>
          <p:cNvSpPr txBox="1"/>
          <p:nvPr/>
        </p:nvSpPr>
        <p:spPr>
          <a:xfrm>
            <a:off x="5852160" y="1051560"/>
            <a:ext cx="2834640" cy="960120"/>
          </a:xfrm>
          <a:prstGeom prst="rect">
            <a:avLst/>
          </a:prstGeom>
          <a:noFill/>
          <a:ln/>
        </p:spPr>
        <p:txBody>
          <a:bodyPr wrap="square" lIns="0" tIns="0" rIns="0" bIns="0" rtlCol="0" anchor="t"/>
          <a:lstStyle/>
          <a:p>
            <a:pPr indent="0" marL="0">
              <a:buNone/>
            </a:pPr>
            <a:r>
              <a:rPr lang="en-US" sz="1300" b="1" dirty="0">
                <a:solidFill>
                  <a:schemeClr val="accent2"/>
                </a:solidFill>
              </a:rPr>
              <a:t>Baseline</a:t>
            </a:r>
            <a:endParaRPr lang="en-US" sz="1300" dirty="0"/>
          </a:p>
          <a:p>
            <a:pPr indent="0" marL="0">
              <a:buNone/>
            </a:pPr>
            <a:r>
              <a:rPr lang="en-US" sz="1300" dirty="0">
                <a:solidFill>
                  <a:schemeClr val="tx1"/>
                </a:solidFill>
              </a:rPr>
              <a:t>One smooth blur: without timing it predicts the average sound.</a:t>
            </a:r>
            <a:endParaRPr lang="en-US" sz="1300" dirty="0"/>
          </a:p>
        </p:txBody>
      </p:sp>
      <p:sp>
        <p:nvSpPr>
          <p:cNvPr id="5" name="Colatron reads"/>
          <p:cNvSpPr txBox="1"/>
          <p:nvPr/>
        </p:nvSpPr>
        <p:spPr>
          <a:xfrm>
            <a:off x="5852160" y="2057400"/>
            <a:ext cx="2834640" cy="960120"/>
          </a:xfrm>
          <a:prstGeom prst="rect">
            <a:avLst/>
          </a:prstGeom>
          <a:noFill/>
          <a:ln/>
        </p:spPr>
        <p:txBody>
          <a:bodyPr wrap="square" lIns="0" tIns="0" rIns="0" bIns="0" rtlCol="0" anchor="t"/>
          <a:lstStyle/>
          <a:p>
            <a:pPr indent="0" marL="0">
              <a:buNone/>
            </a:pPr>
            <a:r>
              <a:rPr lang="en-US" sz="1300" b="1" dirty="0">
                <a:solidFill>
                  <a:schemeClr val="accent1"/>
                </a:solidFill>
              </a:rPr>
              <a:t>Colatron (ours)</a:t>
            </a:r>
            <a:endParaRPr lang="en-US" sz="1300" dirty="0"/>
          </a:p>
          <a:p>
            <a:pPr indent="0" marL="0">
              <a:buNone/>
            </a:pPr>
            <a:r>
              <a:rPr lang="en-US" sz="1300" dirty="0">
                <a:solidFill>
                  <a:schemeClr val="tx1"/>
                </a:solidFill>
              </a:rPr>
              <a:t>You can see syllables and pauses: attention gives it timing.</a:t>
            </a:r>
            <a:endParaRPr lang="en-US" sz="1300" dirty="0"/>
          </a:p>
        </p:txBody>
      </p:sp>
      <p:sp>
        <p:nvSpPr>
          <p:cNvPr id="6" name="Tacotron reads"/>
          <p:cNvSpPr txBox="1"/>
          <p:nvPr/>
        </p:nvSpPr>
        <p:spPr>
          <a:xfrm>
            <a:off x="5852160" y="3063240"/>
            <a:ext cx="2834640" cy="960120"/>
          </a:xfrm>
          <a:prstGeom prst="rect">
            <a:avLst/>
          </a:prstGeom>
          <a:noFill/>
          <a:ln/>
        </p:spPr>
        <p:txBody>
          <a:bodyPr wrap="square" lIns="0" tIns="0" rIns="0" bIns="0" rtlCol="0" anchor="t"/>
          <a:lstStyle/>
          <a:p>
            <a:pPr indent="0" marL="0">
              <a:buNone/>
            </a:pPr>
            <a:r>
              <a:rPr lang="en-US" sz="1300" b="1" dirty="0">
                <a:solidFill>
                  <a:schemeClr val="accent6"/>
                </a:solidFill>
              </a:rPr>
              <a:t>Tacotron 2 (reference)</a:t>
            </a:r>
            <a:endParaRPr lang="en-US" sz="1300" dirty="0"/>
          </a:p>
          <a:p>
            <a:pPr indent="0" marL="0">
              <a:buNone/>
            </a:pPr>
            <a:r>
              <a:rPr lang="en-US" sz="1300" dirty="0">
                <a:solidFill>
                  <a:schemeClr val="tx1"/>
                </a:solidFill>
              </a:rPr>
              <a:t>Even sharper: 4× bigger and trained for days on big GPUs.</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457200" y="274320"/>
            <a:ext cx="8229600" cy="685800"/>
          </a:xfrm>
          <a:prstGeom prst="rect">
            <a:avLst/>
          </a:prstGeom>
          <a:noFill/>
          <a:ln/>
        </p:spPr>
        <p:txBody>
          <a:bodyPr wrap="square" lIns="0" tIns="0" rIns="0" bIns="0" rtlCol="0" anchor="ctr"/>
          <a:lstStyle/>
          <a:p>
            <a:pPr algn="l" indent="0" marL="0">
              <a:buNone/>
            </a:pPr>
            <a:r>
              <a:rPr lang="en-US" sz="3000" b="1" dirty="0">
                <a:solidFill>
                  <a:schemeClr val="tx2"/>
                </a:solidFill>
                <a:latin typeface="Arial" pitchFamily="34" charset="0"/>
                <a:ea typeface="Arial" pitchFamily="34" charset="-122"/>
                <a:cs typeface="Arial" pitchFamily="34" charset="-120"/>
              </a:rPr>
              <a:t>Conclusions</a:t>
            </a:r>
            <a:endParaRPr lang="en-US" sz="3000" dirty="0"/>
          </a:p>
        </p:txBody>
      </p:sp>
      <p:sp>
        <p:nvSpPr>
          <p:cNvPr id="3" name="Conclusion 1 circle"/>
          <p:cNvSpPr/>
          <p:nvPr/>
        </p:nvSpPr>
        <p:spPr>
          <a:xfrm>
            <a:off x="457200" y="1097280"/>
            <a:ext cx="384048" cy="384048"/>
          </a:xfrm>
          <a:prstGeom prst="ellipse">
            <a:avLst/>
          </a:prstGeom>
          <a:solidFill>
            <a:schemeClr val="accent1"/>
          </a:solidFill>
          <a:ln w="12700">
            <a:solidFill>
              <a:schemeClr val="accent1"/>
            </a:solidFill>
            <a:prstDash val="solid"/>
          </a:ln>
        </p:spPr>
      </p:sp>
      <p:sp>
        <p:nvSpPr>
          <p:cNvPr id="4" name="Conclusion 1 label"/>
          <p:cNvSpPr txBox="1"/>
          <p:nvPr/>
        </p:nvSpPr>
        <p:spPr>
          <a:xfrm>
            <a:off x="457200" y="1097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5" name="Conclusion 1 head"/>
          <p:cNvSpPr txBox="1"/>
          <p:nvPr/>
        </p:nvSpPr>
        <p:spPr>
          <a:xfrm>
            <a:off x="1005840" y="1051560"/>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Attention + data fix the 2018 failure</a:t>
            </a:r>
            <a:endParaRPr lang="en-US" sz="1500" dirty="0"/>
          </a:p>
        </p:txBody>
      </p:sp>
      <p:sp>
        <p:nvSpPr>
          <p:cNvPr id="6" name="Conclusion 1 body"/>
          <p:cNvSpPr txBox="1"/>
          <p:nvPr/>
        </p:nvSpPr>
        <p:spPr>
          <a:xfrm>
            <a:off x="1005840" y="1353312"/>
            <a:ext cx="4572000" cy="384048"/>
          </a:xfrm>
          <a:prstGeom prst="rect">
            <a:avLst/>
          </a:prstGeom>
          <a:noFill/>
          <a:ln/>
        </p:spPr>
        <p:txBody>
          <a:bodyPr wrap="square" lIns="0" tIns="0" rIns="0" bIns="0" rtlCol="0" anchor="t"/>
          <a:lstStyle/>
          <a:p>
            <a:pPr indent="0" marL="0">
              <a:buNone/>
            </a:pPr>
            <a:r>
              <a:rPr lang="en-US" sz="1200" dirty="0">
                <a:solidFill>
                  <a:schemeClr val="accent6"/>
                </a:solidFill>
              </a:rPr>
              <a:t>Our model reads the text in order (99–100% of the time); the 2018 model never did.</a:t>
            </a:r>
            <a:endParaRPr lang="en-US" sz="1200" dirty="0"/>
          </a:p>
        </p:txBody>
      </p:sp>
      <p:sp>
        <p:nvSpPr>
          <p:cNvPr id="7" name="Conclusion 2 circle"/>
          <p:cNvSpPr/>
          <p:nvPr/>
        </p:nvSpPr>
        <p:spPr>
          <a:xfrm>
            <a:off x="457200" y="1810512"/>
            <a:ext cx="384048" cy="384048"/>
          </a:xfrm>
          <a:prstGeom prst="ellipse">
            <a:avLst/>
          </a:prstGeom>
          <a:solidFill>
            <a:schemeClr val="accent1"/>
          </a:solidFill>
          <a:ln w="12700">
            <a:solidFill>
              <a:schemeClr val="accent1"/>
            </a:solidFill>
            <a:prstDash val="solid"/>
          </a:ln>
        </p:spPr>
      </p:sp>
      <p:sp>
        <p:nvSpPr>
          <p:cNvPr id="8" name="Conclusion 2 label"/>
          <p:cNvSpPr txBox="1"/>
          <p:nvPr/>
        </p:nvSpPr>
        <p:spPr>
          <a:xfrm>
            <a:off x="457200" y="1810512"/>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Conclusion 2 head"/>
          <p:cNvSpPr txBox="1"/>
          <p:nvPr/>
        </p:nvSpPr>
        <p:spPr>
          <a:xfrm>
            <a:off x="1005840" y="1764792"/>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Learned timing is essential</a:t>
            </a:r>
            <a:endParaRPr lang="en-US" sz="1500" dirty="0"/>
          </a:p>
        </p:txBody>
      </p:sp>
      <p:sp>
        <p:nvSpPr>
          <p:cNvPr id="10" name="Conclusion 2 body"/>
          <p:cNvSpPr txBox="1"/>
          <p:nvPr/>
        </p:nvSpPr>
        <p:spPr>
          <a:xfrm>
            <a:off x="1005840" y="2066544"/>
            <a:ext cx="4572000" cy="384048"/>
          </a:xfrm>
          <a:prstGeom prst="rect">
            <a:avLst/>
          </a:prstGeom>
          <a:noFill/>
          <a:ln/>
        </p:spPr>
        <p:txBody>
          <a:bodyPr wrap="square" lIns="0" tIns="0" rIns="0" bIns="0" rtlCol="0" anchor="t"/>
          <a:lstStyle/>
          <a:p>
            <a:pPr indent="0" marL="0">
              <a:buNone/>
            </a:pPr>
            <a:r>
              <a:rPr lang="en-US" sz="1200" dirty="0">
                <a:solidFill>
                  <a:schemeClr val="accent6"/>
                </a:solidFill>
              </a:rPr>
              <a:t>Without attention: 100% of words wrong. With attention: 9%.</a:t>
            </a:r>
            <a:endParaRPr lang="en-US" sz="1200" dirty="0"/>
          </a:p>
        </p:txBody>
      </p:sp>
      <p:sp>
        <p:nvSpPr>
          <p:cNvPr id="11" name="Conclusion 3 circle"/>
          <p:cNvSpPr/>
          <p:nvPr/>
        </p:nvSpPr>
        <p:spPr>
          <a:xfrm>
            <a:off x="457200" y="2523744"/>
            <a:ext cx="384048" cy="384048"/>
          </a:xfrm>
          <a:prstGeom prst="ellipse">
            <a:avLst/>
          </a:prstGeom>
          <a:solidFill>
            <a:schemeClr val="accent1"/>
          </a:solidFill>
          <a:ln w="12700">
            <a:solidFill>
              <a:schemeClr val="accent1"/>
            </a:solidFill>
            <a:prstDash val="solid"/>
          </a:ln>
        </p:spPr>
      </p:sp>
      <p:sp>
        <p:nvSpPr>
          <p:cNvPr id="12" name="Conclusion 3 label"/>
          <p:cNvSpPr txBox="1"/>
          <p:nvPr/>
        </p:nvSpPr>
        <p:spPr>
          <a:xfrm>
            <a:off x="457200" y="2523744"/>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3" name="Conclusion 3 head"/>
          <p:cNvSpPr txBox="1"/>
          <p:nvPr/>
        </p:nvSpPr>
        <p:spPr>
          <a:xfrm>
            <a:off x="1005840" y="2478024"/>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Understood better than the reference</a:t>
            </a:r>
            <a:endParaRPr lang="en-US" sz="1500" dirty="0"/>
          </a:p>
        </p:txBody>
      </p:sp>
      <p:sp>
        <p:nvSpPr>
          <p:cNvPr id="14" name="Conclusion 3 body"/>
          <p:cNvSpPr txBox="1"/>
          <p:nvPr/>
        </p:nvSpPr>
        <p:spPr>
          <a:xfrm>
            <a:off x="1005840" y="2779776"/>
            <a:ext cx="4572000" cy="384048"/>
          </a:xfrm>
          <a:prstGeom prst="rect">
            <a:avLst/>
          </a:prstGeom>
          <a:noFill/>
          <a:ln/>
        </p:spPr>
        <p:txBody>
          <a:bodyPr wrap="square" lIns="0" tIns="0" rIns="0" bIns="0" rtlCol="0" anchor="t"/>
          <a:lstStyle/>
          <a:p>
            <a:pPr indent="0" marL="0">
              <a:buNone/>
            </a:pPr>
            <a:r>
              <a:rPr lang="en-US" sz="1200" dirty="0">
                <a:solidFill>
                  <a:schemeClr val="accent6"/>
                </a:solidFill>
              </a:rPr>
              <a:t>Pretrained Tacotron 2 (4× larger, days on GPUs) scores 16% on the same clips, though it still sounds more natural.</a:t>
            </a:r>
            <a:endParaRPr lang="en-US" sz="1200" dirty="0"/>
          </a:p>
        </p:txBody>
      </p:sp>
      <p:sp>
        <p:nvSpPr>
          <p:cNvPr id="15" name="Conclusion 4 circle"/>
          <p:cNvSpPr/>
          <p:nvPr/>
        </p:nvSpPr>
        <p:spPr>
          <a:xfrm>
            <a:off x="457200" y="3236976"/>
            <a:ext cx="384048" cy="384048"/>
          </a:xfrm>
          <a:prstGeom prst="ellipse">
            <a:avLst/>
          </a:prstGeom>
          <a:solidFill>
            <a:schemeClr val="accent1"/>
          </a:solidFill>
          <a:ln w="12700">
            <a:solidFill>
              <a:schemeClr val="accent1"/>
            </a:solidFill>
            <a:prstDash val="solid"/>
          </a:ln>
        </p:spPr>
      </p:sp>
      <p:sp>
        <p:nvSpPr>
          <p:cNvPr id="16" name="Conclusion 4 label"/>
          <p:cNvSpPr txBox="1"/>
          <p:nvPr/>
        </p:nvSpPr>
        <p:spPr>
          <a:xfrm>
            <a:off x="457200" y="3236976"/>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4</a:t>
            </a:r>
            <a:endParaRPr lang="en-US" sz="1400" dirty="0"/>
          </a:p>
        </p:txBody>
      </p:sp>
      <p:sp>
        <p:nvSpPr>
          <p:cNvPr id="17" name="Conclusion 4 head"/>
          <p:cNvSpPr txBox="1"/>
          <p:nvPr/>
        </p:nvSpPr>
        <p:spPr>
          <a:xfrm>
            <a:off x="1005840" y="3191256"/>
            <a:ext cx="4572000" cy="301752"/>
          </a:xfrm>
          <a:prstGeom prst="rect">
            <a:avLst/>
          </a:prstGeom>
          <a:noFill/>
          <a:ln/>
        </p:spPr>
        <p:txBody>
          <a:bodyPr wrap="square" lIns="0" tIns="0" rIns="0" bIns="0" rtlCol="0" anchor="ctr"/>
          <a:lstStyle/>
          <a:p>
            <a:pPr indent="0" marL="0">
              <a:buNone/>
            </a:pPr>
            <a:r>
              <a:rPr lang="en-US" sz="1500" b="1" dirty="0">
                <a:solidFill>
                  <a:schemeClr val="tx1"/>
                </a:solidFill>
              </a:rPr>
              <a:t>Cheap to train, runs on a laptop</a:t>
            </a:r>
            <a:endParaRPr lang="en-US" sz="1500" dirty="0"/>
          </a:p>
        </p:txBody>
      </p:sp>
      <p:sp>
        <p:nvSpPr>
          <p:cNvPr id="18" name="Conclusion 4 body"/>
          <p:cNvSpPr txBox="1"/>
          <p:nvPr/>
        </p:nvSpPr>
        <p:spPr>
          <a:xfrm>
            <a:off x="1005840" y="3493008"/>
            <a:ext cx="4572000" cy="384048"/>
          </a:xfrm>
          <a:prstGeom prst="rect">
            <a:avLst/>
          </a:prstGeom>
          <a:noFill/>
          <a:ln/>
        </p:spPr>
        <p:txBody>
          <a:bodyPr wrap="square" lIns="0" tIns="0" rIns="0" bIns="0" rtlCol="0" anchor="t"/>
          <a:lstStyle/>
          <a:p>
            <a:pPr indent="0" marL="0">
              <a:buNone/>
            </a:pPr>
            <a:r>
              <a:rPr lang="en-US" sz="1200" dirty="0">
                <a:solidFill>
                  <a:schemeClr val="accent6"/>
                </a:solidFill>
              </a:rPr>
              <a:t>5.3 hours of training on a laptop and a free Google GPU; runs on a normal laptop.</a:t>
            </a:r>
            <a:endParaRPr lang="en-US" sz="1200" dirty="0"/>
          </a:p>
        </p:txBody>
      </p:sp>
      <p:sp>
        <p:nvSpPr>
          <p:cNvPr id="19" name="Limitations card"/>
          <p:cNvSpPr/>
          <p:nvPr/>
        </p:nvSpPr>
        <p:spPr>
          <a:xfrm>
            <a:off x="5852160" y="1051560"/>
            <a:ext cx="2834640" cy="2788920"/>
          </a:xfrm>
          <a:prstGeom prst="roundRect">
            <a:avLst>
              <a:gd name="adj" fmla="val 2623"/>
            </a:avLst>
          </a:prstGeom>
          <a:solidFill>
            <a:schemeClr val="bg2"/>
          </a:solidFill>
          <a:ln w="12700">
            <a:solidFill>
              <a:schemeClr val="bg2"/>
            </a:solidFill>
            <a:prstDash val="solid"/>
          </a:ln>
        </p:spPr>
      </p:sp>
      <p:sp>
        <p:nvSpPr>
          <p:cNvPr id="20" name="Limitations"/>
          <p:cNvSpPr txBox="1"/>
          <p:nvPr/>
        </p:nvSpPr>
        <p:spPr>
          <a:xfrm>
            <a:off x="6035040" y="1188720"/>
            <a:ext cx="2514600" cy="2560320"/>
          </a:xfrm>
          <a:prstGeom prst="rect">
            <a:avLst/>
          </a:prstGeom>
          <a:noFill/>
          <a:ln/>
        </p:spPr>
        <p:txBody>
          <a:bodyPr wrap="square" lIns="0" tIns="0" rIns="0" bIns="0" rtlCol="0" anchor="t"/>
          <a:lstStyle/>
          <a:p>
            <a:pPr indent="0" marL="0">
              <a:spcAft>
                <a:spcPts val="400"/>
              </a:spcAft>
              <a:buNone/>
            </a:pPr>
            <a:r>
              <a:rPr lang="en-US" sz="1600" b="1" dirty="0">
                <a:solidFill>
                  <a:schemeClr val="accent1"/>
                </a:solidFill>
              </a:rPr>
              <a:t>Limitations</a:t>
            </a:r>
            <a:endParaRPr lang="en-US" sz="1300" dirty="0"/>
          </a:p>
          <a:p>
            <a:pPr indent="0" marL="0">
              <a:spcAft>
                <a:spcPts val="400"/>
              </a:spcAft>
              <a:buNone/>
            </a:pPr>
            <a:r>
              <a:rPr lang="en-US" sz="600" dirty="0">
                <a:solidFill>
                  <a:schemeClr val="tx1"/>
                </a:solidFill>
              </a:rPr>
              <a:t> </a:t>
            </a:r>
            <a:endParaRPr lang="en-US" sz="1300" dirty="0"/>
          </a:p>
          <a:p>
            <a:pPr marL="342900" indent="-342900">
              <a:spcAft>
                <a:spcPts val="400"/>
              </a:spcAft>
              <a:buSzPct val="100000"/>
              <a:buChar char="•"/>
            </a:pPr>
            <a:r>
              <a:rPr lang="en-US" sz="1300" dirty="0">
                <a:solidFill>
                  <a:schemeClr val="tx1"/>
                </a:solidFill>
              </a:rPr>
              <a:t>Less natural than Tacotron 2 (slightly robotic)</a:t>
            </a:r>
            <a:endParaRPr lang="en-US" sz="1300" dirty="0"/>
          </a:p>
          <a:p>
            <a:pPr marL="342900" indent="-342900">
              <a:spcAft>
                <a:spcPts val="400"/>
              </a:spcAft>
              <a:buSzPct val="100000"/>
              <a:buChar char="•"/>
            </a:pPr>
            <a:r>
              <a:rPr lang="en-US" sz="1300" dirty="0">
                <a:solidFill>
                  <a:schemeClr val="tx1"/>
                </a:solidFill>
              </a:rPr>
              <a:t>Uses a pretrained HiFi-GAN vocoder</a:t>
            </a:r>
            <a:endParaRPr lang="en-US" sz="1300" dirty="0"/>
          </a:p>
          <a:p>
            <a:pPr marL="342900" indent="-342900">
              <a:spcAft>
                <a:spcPts val="400"/>
              </a:spcAft>
              <a:buSzPct val="100000"/>
              <a:buChar char="•"/>
            </a:pPr>
            <a:r>
              <a:rPr lang="en-US" sz="1300" dirty="0">
                <a:solidFill>
                  <a:schemeClr val="tx1"/>
                </a:solidFill>
              </a:rPr>
              <a:t>One speaker, English only</a:t>
            </a:r>
            <a:endParaRPr lang="en-US" sz="1300" dirty="0"/>
          </a:p>
          <a:p>
            <a:pPr marL="342900" indent="-342900">
              <a:spcAft>
                <a:spcPts val="400"/>
              </a:spcAft>
              <a:buSzPct val="100000"/>
              <a:buChar char="•"/>
            </a:pPr>
            <a:r>
              <a:rPr lang="en-US" sz="1300" dirty="0">
                <a:solidFill>
                  <a:schemeClr val="tx1"/>
                </a:solidFill>
              </a:rPr>
              <a:t>No human listening test (MOS)</a:t>
            </a:r>
            <a:endParaRPr lang="en-US" sz="1300" dirty="0"/>
          </a:p>
          <a:p>
            <a:pPr indent="0" marL="0">
              <a:spcAft>
                <a:spcPts val="400"/>
              </a:spcAft>
              <a:buNone/>
            </a:pPr>
            <a:r>
              <a:rPr lang="en-US" sz="600" dirty="0">
                <a:solidFill>
                  <a:schemeClr val="tx1"/>
                </a:solidFill>
              </a:rPr>
              <a:t> </a:t>
            </a:r>
            <a:endParaRPr lang="en-US" sz="1300" dirty="0"/>
          </a:p>
          <a:p>
            <a:pPr indent="0" marL="0">
              <a:spcAft>
                <a:spcPts val="400"/>
              </a:spcAft>
              <a:buNone/>
            </a:pPr>
            <a:r>
              <a:rPr lang="en-US" sz="1300" i="1" dirty="0">
                <a:solidFill>
                  <a:schemeClr val="tx1"/>
                </a:solidFill>
              </a:rPr>
              <a:t>Next: train longer on a GPU</a:t>
            </a:r>
            <a:endParaRPr lang="en-US" sz="1300" dirty="0"/>
          </a:p>
        </p:txBody>
      </p:sp>
      <p:sp>
        <p:nvSpPr>
          <p:cNvPr id="25" name="Slide Number Placeholder 0"/>
          <p:cNvSpPr>
            <a:spLocks noGrp="1"/>
          </p:cNvSpPr>
          <p:nvPr>
            <p:ph type="sldNum" sz="quarter" idx="4294967295"/>
          </p:nvPr>
        </p:nvSpPr>
        <p:spPr>
          <a:xfrm>
            <a:off x="8229600" y="4754880"/>
            <a:ext cx="45720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1417320"/>
            <a:ext cx="8046720" cy="1005840"/>
          </a:xfrm>
          <a:prstGeom prst="rect">
            <a:avLst/>
          </a:prstGeom>
          <a:noFill/>
          <a:ln/>
        </p:spPr>
        <p:txBody>
          <a:bodyPr wrap="square" lIns="0" tIns="0" rIns="0" bIns="0" rtlCol="0" anchor="b"/>
          <a:lstStyle/>
          <a:p>
            <a:pPr algn="l" indent="0" marL="0">
              <a:buNone/>
            </a:pPr>
            <a:r>
              <a:rPr lang="en-US" sz="4800" b="1" dirty="0">
                <a:solidFill>
                  <a:schemeClr val="bg1"/>
                </a:solidFill>
                <a:latin typeface="Arial" pitchFamily="34" charset="0"/>
                <a:ea typeface="Arial" pitchFamily="34" charset="-122"/>
                <a:cs typeface="Arial" pitchFamily="34" charset="-120"/>
              </a:rPr>
              <a:t>Live demo</a:t>
            </a:r>
            <a:endParaRPr lang="en-US" sz="4800" dirty="0"/>
          </a:p>
        </p:txBody>
      </p:sp>
      <p:sp>
        <p:nvSpPr>
          <p:cNvPr id="3" name="Text 0"/>
          <p:cNvSpPr/>
          <p:nvPr>
            <p:ph idx="101" type="body" hasCustomPrompt="1"/>
          </p:nvPr>
        </p:nvSpPr>
        <p:spPr>
          <a:xfrm>
            <a:off x="548640" y="2514600"/>
            <a:ext cx="8046720" cy="548640"/>
          </a:xfrm>
          <a:prstGeom prst="rect">
            <a:avLst/>
          </a:prstGeom>
          <a:noFill/>
          <a:ln/>
        </p:spPr>
        <p:txBody>
          <a:bodyPr wrap="square" lIns="0" tIns="0" rIns="0" bIns="0" rtlCol="0" anchor="t"/>
          <a:lstStyle/>
          <a:p>
            <a:pPr indent="0" marL="0">
              <a:buNone/>
            </a:pPr>
            <a:r>
              <a:rPr lang="en-US" sz="2000" dirty="0">
                <a:solidFill>
                  <a:schemeClr val="bg2"/>
                </a:solidFill>
                <a:latin typeface="Courier New" pitchFamily="34" charset="0"/>
                <a:ea typeface="Courier New" pitchFamily="34" charset="-122"/>
                <a:cs typeface="Courier New" pitchFamily="34" charset="-120"/>
              </a:rPr>
              <a:t>python app/app.py  →  http://127.0.0.1:7860</a:t>
            </a:r>
            <a:endParaRPr lang="en-US" sz="2000" dirty="0"/>
          </a:p>
        </p:txBody>
      </p:sp>
      <p:sp>
        <p:nvSpPr>
          <p:cNvPr id="4" name="Demo step 1 circle"/>
          <p:cNvSpPr/>
          <p:nvPr/>
        </p:nvSpPr>
        <p:spPr>
          <a:xfrm>
            <a:off x="548640" y="3383280"/>
            <a:ext cx="384048" cy="384048"/>
          </a:xfrm>
          <a:prstGeom prst="ellipse">
            <a:avLst/>
          </a:prstGeom>
          <a:solidFill>
            <a:schemeClr val="accent2"/>
          </a:solidFill>
          <a:ln w="12700">
            <a:solidFill>
              <a:schemeClr val="accent2"/>
            </a:solidFill>
            <a:prstDash val="solid"/>
          </a:ln>
        </p:spPr>
      </p:sp>
      <p:sp>
        <p:nvSpPr>
          <p:cNvPr id="5" name="Demo step 1 label"/>
          <p:cNvSpPr txBox="1"/>
          <p:nvPr/>
        </p:nvSpPr>
        <p:spPr>
          <a:xfrm>
            <a:off x="5486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1</a:t>
            </a:r>
            <a:endParaRPr lang="en-US" sz="1400" dirty="0"/>
          </a:p>
        </p:txBody>
      </p:sp>
      <p:sp>
        <p:nvSpPr>
          <p:cNvPr id="6" name="Demo step 1 text"/>
          <p:cNvSpPr txBox="1"/>
          <p:nvPr/>
        </p:nvSpPr>
        <p:spPr>
          <a:xfrm>
            <a:off x="10515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Type a sentence</a:t>
            </a:r>
            <a:endParaRPr lang="en-US" sz="1500" dirty="0"/>
          </a:p>
        </p:txBody>
      </p:sp>
      <p:sp>
        <p:nvSpPr>
          <p:cNvPr id="7" name="Demo step 2 circle"/>
          <p:cNvSpPr/>
          <p:nvPr/>
        </p:nvSpPr>
        <p:spPr>
          <a:xfrm>
            <a:off x="3291840" y="3383280"/>
            <a:ext cx="384048" cy="384048"/>
          </a:xfrm>
          <a:prstGeom prst="ellipse">
            <a:avLst/>
          </a:prstGeom>
          <a:solidFill>
            <a:schemeClr val="accent2"/>
          </a:solidFill>
          <a:ln w="12700">
            <a:solidFill>
              <a:schemeClr val="accent2"/>
            </a:solidFill>
            <a:prstDash val="solid"/>
          </a:ln>
        </p:spPr>
      </p:sp>
      <p:sp>
        <p:nvSpPr>
          <p:cNvPr id="8" name="Demo step 2 label"/>
          <p:cNvSpPr txBox="1"/>
          <p:nvPr/>
        </p:nvSpPr>
        <p:spPr>
          <a:xfrm>
            <a:off x="32918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2</a:t>
            </a:r>
            <a:endParaRPr lang="en-US" sz="1400" dirty="0"/>
          </a:p>
        </p:txBody>
      </p:sp>
      <p:sp>
        <p:nvSpPr>
          <p:cNvPr id="9" name="Demo step 2 text"/>
          <p:cNvSpPr txBox="1"/>
          <p:nvPr/>
        </p:nvSpPr>
        <p:spPr>
          <a:xfrm>
            <a:off x="37947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Choose a system</a:t>
            </a:r>
            <a:endParaRPr lang="en-US" sz="1500" dirty="0"/>
          </a:p>
        </p:txBody>
      </p:sp>
      <p:sp>
        <p:nvSpPr>
          <p:cNvPr id="10" name="Demo step 3 circle"/>
          <p:cNvSpPr/>
          <p:nvPr/>
        </p:nvSpPr>
        <p:spPr>
          <a:xfrm>
            <a:off x="6035040" y="3383280"/>
            <a:ext cx="384048" cy="384048"/>
          </a:xfrm>
          <a:prstGeom prst="ellipse">
            <a:avLst/>
          </a:prstGeom>
          <a:solidFill>
            <a:schemeClr val="accent2"/>
          </a:solidFill>
          <a:ln w="12700">
            <a:solidFill>
              <a:schemeClr val="accent2"/>
            </a:solidFill>
            <a:prstDash val="solid"/>
          </a:ln>
        </p:spPr>
      </p:sp>
      <p:sp>
        <p:nvSpPr>
          <p:cNvPr id="11" name="Demo step 3 label"/>
          <p:cNvSpPr txBox="1"/>
          <p:nvPr/>
        </p:nvSpPr>
        <p:spPr>
          <a:xfrm>
            <a:off x="6035040" y="3383280"/>
            <a:ext cx="384048" cy="384048"/>
          </a:xfrm>
          <a:prstGeom prst="rect">
            <a:avLst/>
          </a:prstGeom>
          <a:noFill/>
          <a:ln/>
        </p:spPr>
        <p:txBody>
          <a:bodyPr wrap="square" lIns="0" tIns="0" rIns="0" bIns="0" rtlCol="0" anchor="ctr"/>
          <a:lstStyle/>
          <a:p>
            <a:pPr algn="ctr" indent="0" marL="0">
              <a:buNone/>
            </a:pPr>
            <a:r>
              <a:rPr lang="en-US" sz="1400" b="1" dirty="0">
                <a:solidFill>
                  <a:schemeClr val="bg1"/>
                </a:solidFill>
              </a:rPr>
              <a:t>3</a:t>
            </a:r>
            <a:endParaRPr lang="en-US" sz="1400" dirty="0"/>
          </a:p>
        </p:txBody>
      </p:sp>
      <p:sp>
        <p:nvSpPr>
          <p:cNvPr id="12" name="Demo step 3 text"/>
          <p:cNvSpPr txBox="1"/>
          <p:nvPr/>
        </p:nvSpPr>
        <p:spPr>
          <a:xfrm>
            <a:off x="6537960" y="3383280"/>
            <a:ext cx="2103120" cy="384048"/>
          </a:xfrm>
          <a:prstGeom prst="rect">
            <a:avLst/>
          </a:prstGeom>
          <a:noFill/>
          <a:ln/>
        </p:spPr>
        <p:txBody>
          <a:bodyPr wrap="square" lIns="0" tIns="0" rIns="0" bIns="0" rtlCol="0" anchor="ctr"/>
          <a:lstStyle/>
          <a:p>
            <a:pPr indent="0" marL="0">
              <a:buNone/>
            </a:pPr>
            <a:r>
              <a:rPr lang="en-US" sz="1500" dirty="0">
                <a:solidFill>
                  <a:schemeClr val="bg1"/>
                </a:solidFill>
              </a:rPr>
              <a:t>Hear it, see the attention</a:t>
            </a:r>
            <a:endParaRPr lang="en-US" sz="1500" dirty="0"/>
          </a:p>
        </p:txBody>
      </p:sp>
      <p:sp>
        <p:nvSpPr>
          <p:cNvPr id="13" name="Demo fallback"/>
          <p:cNvSpPr txBox="1"/>
          <p:nvPr/>
        </p:nvSpPr>
        <p:spPr>
          <a:xfrm>
            <a:off x="548640" y="4251960"/>
            <a:ext cx="8046720" cy="320040"/>
          </a:xfrm>
          <a:prstGeom prst="rect">
            <a:avLst/>
          </a:prstGeom>
          <a:noFill/>
          <a:ln/>
        </p:spPr>
        <p:txBody>
          <a:bodyPr wrap="square" lIns="0" tIns="0" rIns="0" bIns="0" rtlCol="0" anchor="ctr"/>
          <a:lstStyle/>
          <a:p>
            <a:pPr indent="0" marL="0">
              <a:buNone/>
            </a:pPr>
            <a:r>
              <a:rPr lang="en-US" sz="1200" dirty="0">
                <a:solidFill>
                  <a:schemeClr val="accent3"/>
                </a:solidFill>
              </a:rPr>
              <a:t>Backup: pre-generated audio in samples/</a:t>
            </a:r>
            <a:endParaRPr lang="en-US" sz="1200" dirty="0"/>
          </a:p>
        </p:txBody>
      </p:sp>
    </p:spTree>
  </p:cSld>
  <p:clrMapOvr>
    <a:masterClrMapping/>
  </p:clrMapOvr>
</p:sld>
</file>

<file path=ppt/theme/theme1.xml><?xml version="1.0" encoding="utf-8"?>
<a:theme xmlns:a="http://schemas.openxmlformats.org/drawingml/2006/main" name="Colatron">
  <a:themeElements>
    <a:clrScheme name="Colatron">
      <a:dk1>
        <a:srgbClr val="1C1A2E"/>
      </a:dk1>
      <a:lt1>
        <a:srgbClr val="FFFFFF"/>
      </a:lt1>
      <a:dk2>
        <a:srgbClr val="251E52"/>
      </a:dk2>
      <a:lt2>
        <a:srgbClr val="F1EEFA"/>
      </a:lt2>
      <a:accent1>
        <a:srgbClr val="5B3FD9"/>
      </a:accent1>
      <a:accent2>
        <a:srgbClr val="FF6B57"/>
      </a:accent2>
      <a:accent3>
        <a:srgbClr val="A8A2C2"/>
      </a:accent3>
      <a:accent4>
        <a:srgbClr val="2BA89A"/>
      </a:accent4>
      <a:accent5>
        <a:srgbClr val="F2B33D"/>
      </a:accent5>
      <a:accent6>
        <a:srgbClr val="6E6A85"/>
      </a:accent6>
      <a:hlink>
        <a:srgbClr val="5B3FD9"/>
      </a:hlink>
      <a:folHlink>
        <a:srgbClr val="6E6A85"/>
      </a:folHlink>
    </a:clrScheme>
    <a:fontScheme name="Colatron">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Colatron: End-to-End Text-to-Speech</dc:title>
  <dc:subject>PptxGenJS Presentation</dc:subject>
  <dc:creator>Mann Mehta, Marapareddy Deekshitha</dc:creator>
  <cp:lastModifiedBy>Mann Mehta, Marapareddy Deekshitha</cp:lastModifiedBy>
  <cp:revision>1</cp:revision>
  <dcterms:created xsi:type="dcterms:W3CDTF">2026-10-13T18:42:07Z</dcterms:created>
  <dcterms:modified xsi:type="dcterms:W3CDTF">2026-10-13T18:42:07Z</dcterms:modified>
</cp:coreProperties>
</file>