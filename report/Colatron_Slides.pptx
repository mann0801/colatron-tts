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charts/chart1.xml" ContentType="application/vnd.openxmlformats-officedocument.drawingml.chart+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2.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charts/chart3.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73b817ab-3b8c-a674-44a0-9dcfcf7539a0}">
          <p14:sldIdLst>
            <p14:sldId id="256"/>
            <p14:sldId id="257"/>
            <p14:sldId id="258"/>
          </p14:sldIdLst>
        </p14:section>
        <p14:section name="Approach" id="{8309499c-b86a-6c74-b86c-c334858c405e}">
          <p14:sldIdLst>
            <p14:sldId id="259"/>
            <p14:sldId id="260"/>
            <p14:sldId id="261"/>
            <p14:sldId id="262"/>
            <p14:sldId id="263"/>
          </p14:sldIdLst>
        </p14:section>
        <p14:section name="Results" id="{db1ce793-16e7-b7a0-012a-90e4cb0d710a}">
          <p14:sldIdLst>
            <p14:sldId id="264"/>
            <p14:sldId id="265"/>
            <p14:sldId id="266"/>
            <p14:sldId id="267"/>
            <p14:sldId id="268"/>
          </p14:sldIdLst>
        </p14:section>
        <p14:section name="Wrap-up" id="{21ea0b92-548d-ad77-e280-2b376d5be6c7}">
          <p14:sldIdLst>
            <p14:sldId id="269"/>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C1A2E"/>
                </a:solidFill>
                <a:latin typeface="+mn-lt"/>
              </a:defRPr>
            </a:pPr>
            <a:r>
              <a:rPr sz="1300" b="0" i="0" u="none" strike="noStrike">
                <a:solidFill>
                  <a:srgbClr val="1C1A2E"/>
                </a:solidFill>
                <a:latin typeface="+mn-lt"/>
              </a:rPr>
              <a:t>Their listening scores (MOS, out of 5)</a:t>
            </a:r>
          </a:p>
        </c:rich>
      </c:tx>
      <c:layout/>
      <c:overlay val="0"/>
    </c:title>
    <c:autoTitleDeleted val="0"/>
    <c:plotArea>
      <c:layout/>
      <c:barChart>
        <c:barDir val="col"/>
        <c:grouping val="clustered"/>
        <c:varyColors val="0"/>
        <c:ser>
          <c:idx val="0"/>
          <c:order val="0"/>
          <c:tx>
            <c:strRef>
              <c:f>Sheet1!$B$1</c:f>
              <c:strCache>
                <c:ptCount val="1"/>
                <c:pt idx="0">
                  <c:v>MOS</c:v>
                </c:pt>
              </c:strCache>
            </c:strRef>
          </c:tx>
          <c:spPr>
            <a:solidFill>
              <a:srgbClr val="A8A2C2"/>
            </a:solidFill>
            <a:effectLst/>
          </c:spPr>
          <c:invertIfNegative val="0"/>
          <c:dLbls>
            <c:numFmt formatCode="0.0#" sourceLinked="0"/>
            <c:txPr>
              <a:bodyPr/>
              <a:lstStyle/>
              <a:p>
                <a:pPr>
                  <a:defRPr b="0" i="0" strike="noStrike" sz="1200" u="none">
                    <a:solidFill>
                      <a:srgbClr val="1C1A2E"/>
                    </a:solidFill>
                    <a:latin typeface="+mn-lt"/>
                  </a:defRPr>
                </a:pPr>
              </a:p>
            </c:txPr>
            <c:showLegendKey val="0"/>
            <c:showVal val="1"/>
            <c:showCatName val="0"/>
            <c:showSerName val="0"/>
            <c:showPercent val="0"/>
            <c:showBubbleSize val="0"/>
            <c:showLeaderLines val="0"/>
          </c:dLbls>
          <c:dPt>
            <c:idx val="0"/>
            <c:invertIfNegative val="0"/>
            <c:bubble3D val="0"/>
            <c:spPr>
              <a:solidFill>
                <a:srgbClr val="A8A2C2"/>
              </a:solidFill>
              <a:effectLst/>
            </c:spPr>
          </c:dPt>
          <c:dPt>
            <c:idx val="1"/>
            <c:invertIfNegative val="0"/>
            <c:bubble3D val="0"/>
            <c:spPr>
              <a:solidFill>
                <a:srgbClr val="A8A2C2"/>
              </a:solidFill>
              <a:effectLst/>
            </c:spPr>
          </c:dPt>
          <c:dPt>
            <c:idx val="2"/>
            <c:invertIfNegative val="0"/>
            <c:bubble3D val="0"/>
            <c:spPr>
              <a:solidFill>
                <a:srgbClr val="FF6B57"/>
              </a:solidFill>
              <a:effectLst/>
            </c:spPr>
          </c:dPt>
          <c:dPt>
            <c:idx val="3"/>
            <c:invertIfNegative val="0"/>
            <c:bubble3D val="0"/>
            <c:spPr>
              <a:solidFill>
                <a:srgbClr val="6E6A85"/>
              </a:solidFill>
              <a:effectLst/>
            </c:spPr>
          </c:dPt>
          <c:cat>
            <c:multiLvlStrRef>
              <c:f>Sheet1!$A$2:$A$5</c:f>
              <c:multiLvlStrCache>
                <c:ptCount val="4"/>
                <c:lvl>
                  <c:pt idx="0">
                    <c:v>SVR</c:v>
                  </c:pt>
                  <c:pt idx="1">
                    <c:v>Simple NN</c:v>
                  </c:pt>
                  <c:pt idx="2">
                    <c:v>Seq2seq</c:v>
                  </c:pt>
                  <c:pt idx="3">
                    <c:v>Tacotron*</c:v>
                  </c:pt>
                </c:lvl>
              </c:multiLvlStrCache>
            </c:multiLvlStrRef>
          </c:cat>
          <c:val>
            <c:numRef>
              <c:f>Sheet1!$B$2:$B$5</c:f>
              <c:numCache>
                <c:formatCode>General</c:formatCode>
                <c:ptCount val="4"/>
                <c:pt idx="0">
                  <c:v>1</c:v>
                </c:pt>
                <c:pt idx="1">
                  <c:v>1.7</c:v>
                </c:pt>
                <c:pt idx="2">
                  <c:v>2.5</c:v>
                </c:pt>
                <c:pt idx="3">
                  <c:v>3.82</c:v>
                </c:pt>
              </c:numCache>
            </c:numRef>
          </c:val>
        </c:ser>
        <c:dLbls>
          <c:numFmt formatCode="0.0#" sourceLinked="0"/>
          <c:txPr>
            <a:bodyPr/>
            <a:lstStyle/>
            <a:p>
              <a:pPr>
                <a:defRPr b="0" i="0" strike="noStrike" sz="1200" u="none">
                  <a:solidFill>
                    <a:srgbClr val="1C1A2E"/>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E6A85"/>
                </a:solidFill>
                <a:latin typeface="+mn-lt"/>
              </a:defRPr>
            </a:pPr>
            <a:endParaRPr lang="en-US"/>
          </a:p>
        </c:txPr>
        <c:crossAx val="2094734552"/>
        <c:crosses val="autoZero"/>
        <c:auto val="1"/>
        <c:lblAlgn val="ctr"/>
        <c:noMultiLvlLbl val="1"/>
      </c:catAx>
      <c:valAx>
        <c:axId val="2094734552"/>
        <c:scaling>
          <c:orientation val="minMax"/>
          <c:max val="5"/>
          <c:min val="0"/>
        </c:scaling>
        <c:delete val="0"/>
        <c:axPos val="l"/>
        <c:majorGridlines>
          <c:spPr>
            <a:ln w="9525" cap="flat">
              <a:solidFill>
                <a:srgbClr val="E6E3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E6A85"/>
                </a:solidFill>
                <a:latin typeface="+mn-lt"/>
              </a:defRPr>
            </a:pPr>
            <a:endParaRPr lang="en-US"/>
          </a:p>
        </c:txPr>
        <c:crossAx val="2094734554"/>
        <c:crosses val="autoZero"/>
        <c:crossBetween val="between"/>
        <c:majorUnit val="1"/>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C1A2E"/>
                </a:solidFill>
                <a:latin typeface="+mn-lt"/>
              </a:defRPr>
            </a:pPr>
            <a:r>
              <a:rPr sz="1300" b="0" i="0" u="none" strike="noStrike">
                <a:solidFill>
                  <a:srgbClr val="1C1A2E"/>
                </a:solidFill>
                <a:latin typeface="+mn-lt"/>
              </a:rPr>
              <a:t>Word error rate of a speech recogniser (lower is better)</a:t>
            </a:r>
          </a:p>
        </c:rich>
      </c:tx>
      <c:layout/>
      <c:overlay val="0"/>
    </c:title>
    <c:autoTitleDeleted val="0"/>
    <c:plotArea>
      <c:layout/>
      <c:barChart>
        <c:barDir val="col"/>
        <c:grouping val="clustered"/>
        <c:varyColors val="0"/>
        <c:ser>
          <c:idx val="0"/>
          <c:order val="0"/>
          <c:tx>
            <c:strRef>
              <c:f>Sheet1!$B$1</c:f>
              <c:strCache>
                <c:ptCount val="1"/>
                <c:pt idx="0">
                  <c:v>WER</c:v>
                </c:pt>
              </c:strCache>
            </c:strRef>
          </c:tx>
          <c:spPr>
            <a:solidFill>
              <a:srgbClr val="A8A2C2"/>
            </a:solidFill>
            <a:effectLst/>
          </c:spPr>
          <c:invertIfNegative val="0"/>
          <c:dLbls>
            <c:numFmt formatCode="0&quot;%&quot;" sourceLinked="0"/>
            <c:txPr>
              <a:bodyPr/>
              <a:lstStyle/>
              <a:p>
                <a:pPr>
                  <a:defRPr b="0" i="0" strike="noStrike" sz="1200" u="none">
                    <a:solidFill>
                      <a:srgbClr val="1C1A2E"/>
                    </a:solidFill>
                    <a:latin typeface="+mn-lt"/>
                  </a:defRPr>
                </a:pPr>
              </a:p>
            </c:txPr>
            <c:showLegendKey val="0"/>
            <c:showVal val="1"/>
            <c:showCatName val="0"/>
            <c:showSerName val="0"/>
            <c:showPercent val="0"/>
            <c:showBubbleSize val="0"/>
            <c:showLeaderLines val="0"/>
          </c:dLbls>
          <c:dPt>
            <c:idx val="0"/>
            <c:invertIfNegative val="0"/>
            <c:bubble3D val="0"/>
            <c:spPr>
              <a:solidFill>
                <a:srgbClr val="A8A2C2"/>
              </a:solidFill>
              <a:effectLst/>
            </c:spPr>
          </c:dPt>
          <c:dPt>
            <c:idx val="1"/>
            <c:invertIfNegative val="0"/>
            <c:bubble3D val="0"/>
            <c:spPr>
              <a:solidFill>
                <a:srgbClr val="FF6B57"/>
              </a:solidFill>
              <a:effectLst/>
            </c:spPr>
          </c:dPt>
          <c:dPt>
            <c:idx val="2"/>
            <c:invertIfNegative val="0"/>
            <c:bubble3D val="0"/>
            <c:spPr>
              <a:solidFill>
                <a:srgbClr val="5B3FD9"/>
              </a:solidFill>
              <a:effectLst/>
            </c:spPr>
          </c:dPt>
          <c:dPt>
            <c:idx val="3"/>
            <c:invertIfNegative val="0"/>
            <c:bubble3D val="0"/>
            <c:spPr>
              <a:solidFill>
                <a:srgbClr val="5B3FD9"/>
              </a:solidFill>
              <a:effectLst/>
            </c:spPr>
          </c:dPt>
          <c:dPt>
            <c:idx val="4"/>
            <c:invertIfNegative val="0"/>
            <c:bubble3D val="0"/>
            <c:spPr>
              <a:solidFill>
                <a:srgbClr val="6E6A85"/>
              </a:solidFill>
              <a:effectLst/>
            </c:spPr>
          </c:dPt>
          <c:cat>
            <c:multiLvlStrRef>
              <c:f>Sheet1!$A$2:$A$6</c:f>
              <c:multiLvlStrCache>
                <c:ptCount val="5"/>
                <c:lvl>
                  <c:pt idx="0">
                    <c:v>Real recording</c:v>
                  </c:pt>
                  <c:pt idx="1">
                    <c:v>Baseline</c:v>
                  </c:pt>
                  <c:pt idx="2">
                    <c:v>Colatron + GL</c:v>
                  </c:pt>
                  <c:pt idx="3">
                    <c:v>Colatron + HiFi-GAN</c:v>
                  </c:pt>
                  <c:pt idx="4">
                    <c:v>Tacotron 2 + HiFi-GAN</c:v>
                  </c:pt>
                </c:lvl>
              </c:multiLvlStrCache>
            </c:multiLvlStrRef>
          </c:cat>
          <c:val>
            <c:numRef>
              <c:f>Sheet1!$B$2:$B$6</c:f>
              <c:numCache>
                <c:formatCode>General</c:formatCode>
                <c:ptCount val="5"/>
                <c:pt idx="0">
                  <c:v>5.050000000000001</c:v>
                </c:pt>
                <c:pt idx="1">
                  <c:v>99.76</c:v>
                </c:pt>
                <c:pt idx="2">
                  <c:v>9.25</c:v>
                </c:pt>
                <c:pt idx="3">
                  <c:v>8.85</c:v>
                </c:pt>
                <c:pt idx="4">
                  <c:v>16.18</c:v>
                </c:pt>
              </c:numCache>
            </c:numRef>
          </c:val>
        </c:ser>
        <c:dLbls>
          <c:numFmt formatCode="0&quot;%&quot;" sourceLinked="0"/>
          <c:txPr>
            <a:bodyPr/>
            <a:lstStyle/>
            <a:p>
              <a:pPr>
                <a:defRPr b="0" i="0" strike="noStrike" sz="1200" u="none">
                  <a:solidFill>
                    <a:srgbClr val="1C1A2E"/>
                  </a:solidFill>
                  <a:latin typeface="+mn-lt"/>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E6A85"/>
                </a:solidFill>
                <a:latin typeface="+mn-lt"/>
              </a:defRPr>
            </a:pPr>
            <a:endParaRPr lang="en-US"/>
          </a:p>
        </c:txPr>
        <c:crossAx val="2094734552"/>
        <c:crosses val="autoZero"/>
        <c:auto val="1"/>
        <c:lblAlgn val="ctr"/>
        <c:noMultiLvlLbl val="1"/>
      </c:catAx>
      <c:valAx>
        <c:axId val="2094734552"/>
        <c:scaling>
          <c:orientation val="minMax"/>
          <c:max val="110"/>
          <c:min val="0"/>
        </c:scaling>
        <c:delete val="0"/>
        <c:axPos val="l"/>
        <c:majorGridlines>
          <c:spPr>
            <a:ln w="9525" cap="flat">
              <a:solidFill>
                <a:srgbClr val="E6E3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E6A85"/>
                </a:solidFill>
                <a:latin typeface="+mn-lt"/>
              </a:defRPr>
            </a:pPr>
            <a:endParaRPr lang="en-US"/>
          </a:p>
        </c:txPr>
        <c:crossAx val="2094734554"/>
        <c:crosses val="autoZero"/>
        <c:crossBetween val="between"/>
        <c:majorUnit val="25"/>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C1A2E"/>
                </a:solidFill>
                <a:latin typeface="+mn-lt"/>
              </a:defRPr>
            </a:pPr>
            <a:r>
              <a:rPr sz="1300" b="0" i="0" u="none" strike="noStrike">
                <a:solidFill>
                  <a:srgbClr val="1C1A2E"/>
                </a:solidFill>
                <a:latin typeface="+mn-lt"/>
              </a:rPr>
              <a:t>Mel L1 distance to the real recording (lower is better)</a:t>
            </a:r>
          </a:p>
        </c:rich>
      </c:tx>
      <c:layout/>
      <c:overlay val="0"/>
    </c:title>
    <c:autoTitleDeleted val="0"/>
    <c:plotArea>
      <c:layout/>
      <c:barChart>
        <c:barDir val="col"/>
        <c:grouping val="clustered"/>
        <c:varyColors val="0"/>
        <c:ser>
          <c:idx val="0"/>
          <c:order val="0"/>
          <c:tx>
            <c:strRef>
              <c:f>Sheet1!$B$1</c:f>
              <c:strCache>
                <c:ptCount val="1"/>
                <c:pt idx="0">
                  <c:v>Mel L1</c:v>
                </c:pt>
              </c:strCache>
            </c:strRef>
          </c:tx>
          <c:spPr>
            <a:solidFill>
              <a:srgbClr val="FF6B57"/>
            </a:solidFill>
            <a:effectLst/>
          </c:spPr>
          <c:invertIfNegative val="0"/>
          <c:dLbls>
            <c:numFmt formatCode="0.00" sourceLinked="0"/>
            <c:txPr>
              <a:bodyPr/>
              <a:lstStyle/>
              <a:p>
                <a:pPr>
                  <a:defRPr b="0" i="0" strike="noStrike" sz="1200" u="none">
                    <a:solidFill>
                      <a:srgbClr val="1C1A2E"/>
                    </a:solidFill>
                    <a:latin typeface="+mn-lt"/>
                  </a:defRPr>
                </a:pPr>
              </a:p>
            </c:txPr>
            <c:showLegendKey val="0"/>
            <c:showVal val="1"/>
            <c:showCatName val="0"/>
            <c:showSerName val="0"/>
            <c:showPercent val="0"/>
            <c:showBubbleSize val="0"/>
            <c:showLeaderLines val="0"/>
          </c:dLbls>
          <c:dPt>
            <c:idx val="0"/>
            <c:invertIfNegative val="0"/>
            <c:bubble3D val="0"/>
            <c:spPr>
              <a:solidFill>
                <a:srgbClr val="FF6B57"/>
              </a:solidFill>
              <a:effectLst/>
            </c:spPr>
          </c:dPt>
          <c:dPt>
            <c:idx val="1"/>
            <c:invertIfNegative val="0"/>
            <c:bubble3D val="0"/>
            <c:spPr>
              <a:solidFill>
                <a:srgbClr val="5B3FD9"/>
              </a:solidFill>
              <a:effectLst/>
            </c:spPr>
          </c:dPt>
          <c:dPt>
            <c:idx val="2"/>
            <c:invertIfNegative val="0"/>
            <c:bubble3D val="0"/>
            <c:spPr>
              <a:solidFill>
                <a:srgbClr val="5B3FD9"/>
              </a:solidFill>
              <a:effectLst/>
            </c:spPr>
          </c:dPt>
          <c:dPt>
            <c:idx val="3"/>
            <c:invertIfNegative val="0"/>
            <c:bubble3D val="0"/>
            <c:spPr>
              <a:solidFill>
                <a:srgbClr val="6E6A85"/>
              </a:solidFill>
              <a:effectLst/>
            </c:spPr>
          </c:dPt>
          <c:dPt>
            <c:idx val="4"/>
            <c:invertIfNegative val="0"/>
            <c:bubble3D val="0"/>
            <c:spPr>
              <a:solidFill>
                <a:srgbClr val="6E6A85"/>
              </a:solidFill>
              <a:effectLst/>
            </c:spPr>
          </c:dPt>
          <c:cat>
            <c:multiLvlStrRef>
              <c:f>Sheet1!$A$2:$A$6</c:f>
              <c:multiLvlStrCache>
                <c:ptCount val="5"/>
                <c:lvl>
                  <c:pt idx="0">
                    <c:v>Baseline + GL</c:v>
                  </c:pt>
                  <c:pt idx="1">
                    <c:v>Colatron + GL</c:v>
                  </c:pt>
                  <c:pt idx="2">
                    <c:v>Colatron + HiFi-GAN</c:v>
                  </c:pt>
                  <c:pt idx="3">
                    <c:v>Tacotron 2 + GL</c:v>
                  </c:pt>
                  <c:pt idx="4">
                    <c:v>Tacotron 2 + HiFi-GAN</c:v>
                  </c:pt>
                </c:lvl>
              </c:multiLvlStrCache>
            </c:multiLvlStrRef>
          </c:cat>
          <c:val>
            <c:numRef>
              <c:f>Sheet1!$B$2:$B$6</c:f>
              <c:numCache>
                <c:formatCode>General</c:formatCode>
                <c:ptCount val="5"/>
                <c:pt idx="0">
                  <c:v>1.2174</c:v>
                </c:pt>
                <c:pt idx="1">
                  <c:v>0.8164</c:v>
                </c:pt>
                <c:pt idx="2">
                  <c:v>0.8317</c:v>
                </c:pt>
                <c:pt idx="3">
                  <c:v>0.8776</c:v>
                </c:pt>
                <c:pt idx="4">
                  <c:v>0.9012</c:v>
                </c:pt>
              </c:numCache>
            </c:numRef>
          </c:val>
        </c:ser>
        <c:dLbls>
          <c:numFmt formatCode="0.00" sourceLinked="0"/>
          <c:txPr>
            <a:bodyPr/>
            <a:lstStyle/>
            <a:p>
              <a:pPr>
                <a:defRPr b="0" i="0" strike="noStrike" sz="1200" u="none">
                  <a:solidFill>
                    <a:srgbClr val="1C1A2E"/>
                  </a:solidFill>
                  <a:latin typeface="+mn-lt"/>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E6A85"/>
                </a:solidFill>
                <a:latin typeface="+mn-lt"/>
              </a:defRPr>
            </a:pPr>
            <a:endParaRPr lang="en-US"/>
          </a:p>
        </c:txPr>
        <c:crossAx val="2094734552"/>
        <c:crosses val="autoZero"/>
        <c:auto val="1"/>
        <c:lblAlgn val="ctr"/>
        <c:noMultiLvlLbl val="1"/>
      </c:catAx>
      <c:valAx>
        <c:axId val="2094734552"/>
        <c:scaling>
          <c:orientation val="minMax"/>
          <c:max val="1.5"/>
          <c:min val="0"/>
        </c:scaling>
        <c:delete val="0"/>
        <c:axPos val="l"/>
        <c:majorGridlines>
          <c:spPr>
            <a:ln w="9525" cap="flat">
              <a:solidFill>
                <a:srgbClr val="E6E3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E6A85"/>
                </a:solidFill>
                <a:latin typeface="+mn-lt"/>
              </a:defRPr>
            </a:pPr>
            <a:endParaRPr lang="en-US"/>
          </a:p>
        </c:txPr>
        <c:crossAx val="2094734554"/>
        <c:crosses val="autoZero"/>
        <c:crossBetween val="between"/>
        <c:majorUnit val="0.5"/>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team. Our problem statement (number 20) is Colatron, based on a 2018 Stanford CS229 project that tried end-to-end text to speech. We build our own seq2seq model with attention, train it from scratch, and show with numbers that it fixes the paper's failure.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2018 team trained three models on about 200 sentences. Their best, a seq2seq LSTM with attention, scored 2.5 out of 5 from 10 listeners, well below Tacotron's 3.82. Its output repeated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paper itself lists these reasons. Each one maps to a specific change in our own model, Colatron, which we trained from scratch.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swappable stages. The acoustic model turns text into a mel spectrogram, a picture of the sound. The vocoder turns that picture into audio. Our main acoustic model is Colatron, trained from scratch. The pretrained Tacotron 2 is only a reference point. Because everything shares one mel format, we can swap parts and compare fairly.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upfront. Our main model, Colatron, is ours and trained from scratch on a laptop CPU. The pretrained Tacotron 2 is only there to show what the same kind of model reaches with days of GPU training. HiFi-GAN turns mels into audio, and the speech recogniser is only used as a judge.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paper used about 200 sentences; we use all 13,100. The test clips are the same 40 the baseline was evaluated on, and none of them is ever trained on. The baseline itself was trained on a 404-clip subset (324 train).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our lower bound. The highlighted step is the key weakness: instead of learning which character to read when, it stretches the character features evenly over time. Its output is a blur and sounds like static.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model the 2018 paper tried to build: seq2seq with attention. Three things make it work on a laptop. Location-sensitive attention remembers where it looked, so it moves forward. Predicting several frames per step means fewer decoder steps. The guided attention loss (Tachibana et al., 2017) pushes the attention towards the diagonal from the start, which is exactly the paper's failure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 which character the model reads (up) at each decoder step (right). Early on it is already a rough diagonal, later it sharpens. Bottom: validation loss and the speech recogniser's word error rate as training goes on. Monotonic is measured on three sentences the model has never seen.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Play samples/colatron_griffinlim/05.wav then samples/colatron_hifigan/05.wav. Same Colatron mel, different vocoder.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Numbers are for the step-18,000 checkpoint; the submitted write-up reports the earlier step-5,000 checkpoint (25% WER), training continued after submission. We have no listening test, so we use a speech recogniser as an objective listener. Word error rate is the share of words it gets wrong. Even real recordings are not 0% because the recogniser makes its own mistakes.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Mel distance compares each system's output with the real recording of the same sentence, after DTW lines them up in time. Compare bars with the same vocoder: baseline vs Colatron with Griffin-Lim, Colatron vs Tacotron 2 with HiFi-GAN.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Play samples/baseline/05.wav, samples/colatron_hifigan/05.wav, then samples/main_hifigan/05.wav. The picture explains the sound: attention is what turns the blur into speech-like structure.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 back to the paper: their conclusion was that they needed more data and a working attention. We built exactly that, trained it ourselves, and measured the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the app before the review so models are loaded. Type a sentence, play Colatron + HiFi-GAN and point at the diagonal. Then the baseline (static), then Tacotron 2 for reference. If anything fails, play the files in samples/.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8046720" cy="1005840"/>
          </a:xfrm>
          <a:prstGeom prst="rect">
            <a:avLst/>
          </a:prstGeom>
          <a:noFill/>
          <a:ln/>
        </p:spPr>
        <p:txBody>
          <a:bodyPr wrap="square" rtlCol="0"/>
          <a:lstStyle>
            <a:lvl1pPr algn="l" indent="0" marL="0">
              <a:buNone/>
              <a:defRPr lang="en-US" sz="4800" b="1" dirty="0">
                <a:solidFill>
                  <a:schemeClr val="bg1"/>
                </a:solidFill>
                <a:latin typeface="Arial" pitchFamily="34" charset="0"/>
                <a:ea typeface="Arial" pitchFamily="34" charset="-122"/>
                <a:cs typeface="Arial" pitchFamily="34" charset="-120"/>
              </a:defRPr>
            </a:lvl1pPr>
          </a:lstStyle>
          <a:p>
            <a:pPr algn="l" indent="0" marL="0">
              <a:buNone/>
            </a:pPr>
            <a:endParaRPr lang="en-US" sz="4800" dirty="0"/>
          </a:p>
        </p:txBody>
      </p:sp>
      <p:sp>
        <p:nvSpPr>
          <p:cNvPr id="3" name="Text 0"/>
          <p:cNvSpPr/>
          <p:nvPr>
            <p:ph idx="101" type="body" hasCustomPrompt="1"/>
          </p:nvPr>
        </p:nvSpPr>
        <p:spPr>
          <a:xfrm>
            <a:off x="548640" y="2514600"/>
            <a:ext cx="8046720" cy="548640"/>
          </a:xfrm>
          <a:prstGeom prst="rect">
            <a:avLst/>
          </a:prstGeom>
          <a:noFill/>
          <a:ln/>
        </p:spPr>
        <p:txBody>
          <a:bodyPr wrap="square" rtlCol="0"/>
          <a:lstStyle>
            <a:lvl1pPr indent="0" marL="0">
              <a:buNone/>
              <a:defRPr lang="en-US" sz="2000" dirty="0">
                <a:solidFill>
                  <a:schemeClr val="bg2"/>
                </a:solidFill>
              </a:defRPr>
            </a:lvl1pPr>
          </a:lstStyle>
          <a:p>
            <a:pPr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lstStyle>
            <a:lvl1pPr algn="l" indent="0" marL="0">
              <a:buNone/>
              <a:defRPr lang="en-US" sz="3000" b="1" dirty="0">
                <a:solidFill>
                  <a:schemeClr val="tx2"/>
                </a:solidFill>
                <a:latin typeface="Arial" pitchFamily="34" charset="0"/>
                <a:ea typeface="Arial" pitchFamily="34" charset="-122"/>
                <a:cs typeface="Arial" pitchFamily="34" charset="-120"/>
              </a:defRPr>
            </a:lvl1pPr>
          </a:lstStyle>
          <a:p>
            <a:pPr algn="l" indent="0" marL="0">
              <a:buNone/>
            </a:pPr>
            <a:endParaRPr lang="en-US" sz="3000" dirty="0"/>
          </a:p>
        </p:txBody>
      </p:sp>
      <p:sp>
        <p:nvSpPr>
          <p:cNvPr id="3" name="Text 0"/>
          <p:cNvSpPr/>
          <p:nvPr/>
        </p:nvSpPr>
        <p:spPr>
          <a:xfrm>
            <a:off x="457200" y="4754880"/>
            <a:ext cx="4572000" cy="274320"/>
          </a:xfrm>
          <a:prstGeom prst="rect">
            <a:avLst/>
          </a:prstGeom>
          <a:noFill/>
          <a:ln/>
        </p:spPr>
        <p:txBody>
          <a:bodyPr wrap="square" lIns="0" tIns="0" rIns="0" bIns="0" rtlCol="0" anchor="ctr"/>
          <a:lstStyle/>
          <a:p>
            <a:pPr indent="0" marL="0">
              <a:buNone/>
            </a:pPr>
            <a:r>
              <a:rPr lang="en-US" sz="1000" dirty="0">
                <a:solidFill>
                  <a:schemeClr val="accent6"/>
                </a:solidFill>
              </a:rPr>
              <a:t>Colatron  ·  Team 25  ·  UE24CS352A</a:t>
            </a:r>
            <a:endParaRPr lang="en-US" sz="10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8046720" cy="1005840"/>
          </a:xfrm>
          <a:prstGeom prst="rect">
            <a:avLst/>
          </a:prstGeom>
          <a:noFill/>
          <a:ln/>
        </p:spPr>
        <p:txBody>
          <a:bodyPr wrap="square" lIns="0" tIns="0" rIns="0" bIns="0" rtlCol="0" anchor="b"/>
          <a:lstStyle/>
          <a:p>
            <a:pPr algn="l" indent="0" marL="0">
              <a:buNone/>
            </a:pPr>
            <a:r>
              <a:rPr lang="en-US" sz="4800" b="1" dirty="0">
                <a:solidFill>
                  <a:schemeClr val="bg1"/>
                </a:solidFill>
                <a:latin typeface="Arial" pitchFamily="34" charset="0"/>
                <a:ea typeface="Arial" pitchFamily="34" charset="-122"/>
                <a:cs typeface="Arial" pitchFamily="34" charset="-120"/>
              </a:rPr>
              <a:t>Colatron</a:t>
            </a:r>
            <a:endParaRPr lang="en-US" sz="4800" dirty="0"/>
          </a:p>
        </p:txBody>
      </p:sp>
      <p:sp>
        <p:nvSpPr>
          <p:cNvPr id="3" name="Text 0"/>
          <p:cNvSpPr/>
          <p:nvPr>
            <p:ph idx="101" type="body" hasCustomPrompt="1"/>
          </p:nvPr>
        </p:nvSpPr>
        <p:spPr>
          <a:xfrm>
            <a:off x="548640" y="2514600"/>
            <a:ext cx="8046720" cy="548640"/>
          </a:xfrm>
          <a:prstGeom prst="rect">
            <a:avLst/>
          </a:prstGeom>
          <a:noFill/>
          <a:ln/>
        </p:spPr>
        <p:txBody>
          <a:bodyPr wrap="square" lIns="0" tIns="0" rIns="0" bIns="0" rtlCol="0" anchor="t"/>
          <a:lstStyle/>
          <a:p>
            <a:pPr indent="0" marL="0">
              <a:buNone/>
            </a:pPr>
            <a:r>
              <a:rPr lang="en-US" sz="2000" dirty="0">
                <a:solidFill>
                  <a:schemeClr val="bg2"/>
                </a:solidFill>
              </a:rPr>
              <a:t>End-to-end text-to-speech, rebuilt properly</a:t>
            </a:r>
            <a:endParaRPr lang="en-US" sz="2000" dirty="0"/>
          </a:p>
        </p:txBody>
      </p:sp>
      <p:sp>
        <p:nvSpPr>
          <p:cNvPr id="4" name="Waveform bar 1"/>
          <p:cNvSpPr/>
          <p:nvPr/>
        </p:nvSpPr>
        <p:spPr>
          <a:xfrm>
            <a:off x="548640" y="784098"/>
            <a:ext cx="139148" cy="123444"/>
          </a:xfrm>
          <a:prstGeom prst="roundRect">
            <a:avLst>
              <a:gd name="adj" fmla="val 56361"/>
            </a:avLst>
          </a:prstGeom>
          <a:solidFill>
            <a:srgbClr val="FF6B57"/>
          </a:solidFill>
          <a:ln w="12700">
            <a:solidFill>
              <a:srgbClr val="FF6B57"/>
            </a:solidFill>
            <a:prstDash val="solid"/>
          </a:ln>
        </p:spPr>
      </p:sp>
      <p:sp>
        <p:nvSpPr>
          <p:cNvPr id="5" name="Waveform bar 2"/>
          <p:cNvSpPr/>
          <p:nvPr/>
        </p:nvSpPr>
        <p:spPr>
          <a:xfrm>
            <a:off x="724364" y="747940"/>
            <a:ext cx="139148" cy="195760"/>
          </a:xfrm>
          <a:prstGeom prst="roundRect">
            <a:avLst>
              <a:gd name="adj" fmla="val 50000"/>
            </a:avLst>
          </a:prstGeom>
          <a:solidFill>
            <a:srgbClr val="FF6B57"/>
          </a:solidFill>
          <a:ln w="12700">
            <a:solidFill>
              <a:srgbClr val="FF6B57"/>
            </a:solidFill>
            <a:prstDash val="solid"/>
          </a:ln>
        </p:spPr>
      </p:sp>
      <p:sp>
        <p:nvSpPr>
          <p:cNvPr id="6" name="Waveform bar 3"/>
          <p:cNvSpPr/>
          <p:nvPr/>
        </p:nvSpPr>
        <p:spPr>
          <a:xfrm>
            <a:off x="900088" y="707361"/>
            <a:ext cx="139148" cy="276918"/>
          </a:xfrm>
          <a:prstGeom prst="roundRect">
            <a:avLst>
              <a:gd name="adj" fmla="val 50000"/>
            </a:avLst>
          </a:prstGeom>
          <a:solidFill>
            <a:srgbClr val="FF6B57"/>
          </a:solidFill>
          <a:ln w="12700">
            <a:solidFill>
              <a:srgbClr val="FF6B57"/>
            </a:solidFill>
            <a:prstDash val="solid"/>
          </a:ln>
        </p:spPr>
      </p:sp>
      <p:sp>
        <p:nvSpPr>
          <p:cNvPr id="7" name="Waveform bar 4"/>
          <p:cNvSpPr/>
          <p:nvPr/>
        </p:nvSpPr>
        <p:spPr>
          <a:xfrm>
            <a:off x="1075811" y="665045"/>
            <a:ext cx="139148" cy="361549"/>
          </a:xfrm>
          <a:prstGeom prst="roundRect">
            <a:avLst>
              <a:gd name="adj" fmla="val 50000"/>
            </a:avLst>
          </a:prstGeom>
          <a:solidFill>
            <a:srgbClr val="FF6B57"/>
          </a:solidFill>
          <a:ln w="12700">
            <a:solidFill>
              <a:srgbClr val="FF6B57"/>
            </a:solidFill>
            <a:prstDash val="solid"/>
          </a:ln>
        </p:spPr>
      </p:sp>
      <p:sp>
        <p:nvSpPr>
          <p:cNvPr id="8" name="Waveform bar 5"/>
          <p:cNvSpPr/>
          <p:nvPr/>
        </p:nvSpPr>
        <p:spPr>
          <a:xfrm>
            <a:off x="1251535" y="623959"/>
            <a:ext cx="139148" cy="443721"/>
          </a:xfrm>
          <a:prstGeom prst="roundRect">
            <a:avLst>
              <a:gd name="adj" fmla="val 50000"/>
            </a:avLst>
          </a:prstGeom>
          <a:solidFill>
            <a:srgbClr val="FF6B57"/>
          </a:solidFill>
          <a:ln w="12700">
            <a:solidFill>
              <a:srgbClr val="FF6B57"/>
            </a:solidFill>
            <a:prstDash val="solid"/>
          </a:ln>
        </p:spPr>
      </p:sp>
      <p:sp>
        <p:nvSpPr>
          <p:cNvPr id="9" name="Waveform bar 6"/>
          <p:cNvSpPr/>
          <p:nvPr/>
        </p:nvSpPr>
        <p:spPr>
          <a:xfrm>
            <a:off x="1427259" y="587130"/>
            <a:ext cx="139148" cy="517381"/>
          </a:xfrm>
          <a:prstGeom prst="roundRect">
            <a:avLst>
              <a:gd name="adj" fmla="val 50000"/>
            </a:avLst>
          </a:prstGeom>
          <a:solidFill>
            <a:srgbClr val="FF6B57"/>
          </a:solidFill>
          <a:ln w="12700">
            <a:solidFill>
              <a:srgbClr val="FF6B57"/>
            </a:solidFill>
            <a:prstDash val="solid"/>
          </a:ln>
        </p:spPr>
      </p:sp>
      <p:sp>
        <p:nvSpPr>
          <p:cNvPr id="10" name="Waveform bar 7"/>
          <p:cNvSpPr/>
          <p:nvPr/>
        </p:nvSpPr>
        <p:spPr>
          <a:xfrm>
            <a:off x="1602983" y="557413"/>
            <a:ext cx="139148" cy="576813"/>
          </a:xfrm>
          <a:prstGeom prst="roundRect">
            <a:avLst>
              <a:gd name="adj" fmla="val 50000"/>
            </a:avLst>
          </a:prstGeom>
          <a:solidFill>
            <a:srgbClr val="FF6B57"/>
          </a:solidFill>
          <a:ln w="12700">
            <a:solidFill>
              <a:srgbClr val="FF6B57"/>
            </a:solidFill>
            <a:prstDash val="solid"/>
          </a:ln>
        </p:spPr>
      </p:sp>
      <p:sp>
        <p:nvSpPr>
          <p:cNvPr id="11" name="Waveform bar 8"/>
          <p:cNvSpPr/>
          <p:nvPr/>
        </p:nvSpPr>
        <p:spPr>
          <a:xfrm>
            <a:off x="1778707" y="537279"/>
            <a:ext cx="139148" cy="617082"/>
          </a:xfrm>
          <a:prstGeom prst="roundRect">
            <a:avLst>
              <a:gd name="adj" fmla="val 50000"/>
            </a:avLst>
          </a:prstGeom>
          <a:solidFill>
            <a:srgbClr val="FF6B57"/>
          </a:solidFill>
          <a:ln w="12700">
            <a:solidFill>
              <a:srgbClr val="FF6B57"/>
            </a:solidFill>
            <a:prstDash val="solid"/>
          </a:ln>
        </p:spPr>
      </p:sp>
      <p:sp>
        <p:nvSpPr>
          <p:cNvPr id="12" name="Waveform bar 9"/>
          <p:cNvSpPr/>
          <p:nvPr/>
        </p:nvSpPr>
        <p:spPr>
          <a:xfrm>
            <a:off x="1954431" y="528612"/>
            <a:ext cx="139148" cy="634415"/>
          </a:xfrm>
          <a:prstGeom prst="roundRect">
            <a:avLst>
              <a:gd name="adj" fmla="val 50000"/>
            </a:avLst>
          </a:prstGeom>
          <a:solidFill>
            <a:srgbClr val="FF6B57"/>
          </a:solidFill>
          <a:ln w="12700">
            <a:solidFill>
              <a:srgbClr val="FF6B57"/>
            </a:solidFill>
            <a:prstDash val="solid"/>
          </a:ln>
        </p:spPr>
      </p:sp>
      <p:sp>
        <p:nvSpPr>
          <p:cNvPr id="13" name="Waveform bar 10"/>
          <p:cNvSpPr/>
          <p:nvPr/>
        </p:nvSpPr>
        <p:spPr>
          <a:xfrm>
            <a:off x="2130154" y="532566"/>
            <a:ext cx="139148" cy="626507"/>
          </a:xfrm>
          <a:prstGeom prst="roundRect">
            <a:avLst>
              <a:gd name="adj" fmla="val 50000"/>
            </a:avLst>
          </a:prstGeom>
          <a:solidFill>
            <a:srgbClr val="FF6B57"/>
          </a:solidFill>
          <a:ln w="12700">
            <a:solidFill>
              <a:srgbClr val="FF6B57"/>
            </a:solidFill>
            <a:prstDash val="solid"/>
          </a:ln>
        </p:spPr>
      </p:sp>
      <p:sp>
        <p:nvSpPr>
          <p:cNvPr id="14" name="Waveform bar 11"/>
          <p:cNvSpPr/>
          <p:nvPr/>
        </p:nvSpPr>
        <p:spPr>
          <a:xfrm>
            <a:off x="2305878" y="549463"/>
            <a:ext cx="139148" cy="592714"/>
          </a:xfrm>
          <a:prstGeom prst="roundRect">
            <a:avLst>
              <a:gd name="adj" fmla="val 50000"/>
            </a:avLst>
          </a:prstGeom>
          <a:solidFill>
            <a:srgbClr val="FF6B57"/>
          </a:solidFill>
          <a:ln w="12700">
            <a:solidFill>
              <a:srgbClr val="FF6B57"/>
            </a:solidFill>
            <a:prstDash val="solid"/>
          </a:ln>
        </p:spPr>
      </p:sp>
      <p:sp>
        <p:nvSpPr>
          <p:cNvPr id="15" name="Waveform bar 12"/>
          <p:cNvSpPr/>
          <p:nvPr/>
        </p:nvSpPr>
        <p:spPr>
          <a:xfrm>
            <a:off x="2481602" y="578755"/>
            <a:ext cx="139148" cy="534130"/>
          </a:xfrm>
          <a:prstGeom prst="roundRect">
            <a:avLst>
              <a:gd name="adj" fmla="val 50000"/>
            </a:avLst>
          </a:prstGeom>
          <a:solidFill>
            <a:srgbClr val="FF6B57"/>
          </a:solidFill>
          <a:ln w="12700">
            <a:solidFill>
              <a:srgbClr val="FF6B57"/>
            </a:solidFill>
            <a:prstDash val="solid"/>
          </a:ln>
        </p:spPr>
      </p:sp>
      <p:sp>
        <p:nvSpPr>
          <p:cNvPr id="16" name="Waveform bar 13"/>
          <p:cNvSpPr/>
          <p:nvPr/>
        </p:nvSpPr>
        <p:spPr>
          <a:xfrm>
            <a:off x="2657326" y="619055"/>
            <a:ext cx="139148" cy="453529"/>
          </a:xfrm>
          <a:prstGeom prst="roundRect">
            <a:avLst>
              <a:gd name="adj" fmla="val 50000"/>
            </a:avLst>
          </a:prstGeom>
          <a:solidFill>
            <a:srgbClr val="FF6B57"/>
          </a:solidFill>
          <a:ln w="12700">
            <a:solidFill>
              <a:srgbClr val="FF6B57"/>
            </a:solidFill>
            <a:prstDash val="solid"/>
          </a:ln>
        </p:spPr>
      </p:sp>
      <p:sp>
        <p:nvSpPr>
          <p:cNvPr id="17" name="Waveform bar 14"/>
          <p:cNvSpPr/>
          <p:nvPr/>
        </p:nvSpPr>
        <p:spPr>
          <a:xfrm>
            <a:off x="2833050" y="668226"/>
            <a:ext cx="139148" cy="355189"/>
          </a:xfrm>
          <a:prstGeom prst="roundRect">
            <a:avLst>
              <a:gd name="adj" fmla="val 50000"/>
            </a:avLst>
          </a:prstGeom>
          <a:solidFill>
            <a:srgbClr val="FF6B57"/>
          </a:solidFill>
          <a:ln w="12700">
            <a:solidFill>
              <a:srgbClr val="FF6B57"/>
            </a:solidFill>
            <a:prstDash val="solid"/>
          </a:ln>
        </p:spPr>
      </p:sp>
      <p:sp>
        <p:nvSpPr>
          <p:cNvPr id="18" name="Waveform bar 15"/>
          <p:cNvSpPr/>
          <p:nvPr/>
        </p:nvSpPr>
        <p:spPr>
          <a:xfrm>
            <a:off x="3008774" y="723521"/>
            <a:ext cx="139148" cy="244599"/>
          </a:xfrm>
          <a:prstGeom prst="roundRect">
            <a:avLst>
              <a:gd name="adj" fmla="val 50000"/>
            </a:avLst>
          </a:prstGeom>
          <a:solidFill>
            <a:srgbClr val="FF6B57"/>
          </a:solidFill>
          <a:ln w="12700">
            <a:solidFill>
              <a:srgbClr val="FF6B57"/>
            </a:solidFill>
            <a:prstDash val="solid"/>
          </a:ln>
        </p:spPr>
      </p:sp>
      <p:sp>
        <p:nvSpPr>
          <p:cNvPr id="19" name="Waveform bar 16"/>
          <p:cNvSpPr/>
          <p:nvPr/>
        </p:nvSpPr>
        <p:spPr>
          <a:xfrm>
            <a:off x="3184497" y="781780"/>
            <a:ext cx="139148" cy="128080"/>
          </a:xfrm>
          <a:prstGeom prst="roundRect">
            <a:avLst>
              <a:gd name="adj" fmla="val 54321"/>
            </a:avLst>
          </a:prstGeom>
          <a:solidFill>
            <a:srgbClr val="FF6B57"/>
          </a:solidFill>
          <a:ln w="12700">
            <a:solidFill>
              <a:srgbClr val="FF6B57"/>
            </a:solidFill>
            <a:prstDash val="solid"/>
          </a:ln>
        </p:spPr>
      </p:sp>
      <p:sp>
        <p:nvSpPr>
          <p:cNvPr id="20" name="Waveform bar 17"/>
          <p:cNvSpPr/>
          <p:nvPr/>
        </p:nvSpPr>
        <p:spPr>
          <a:xfrm>
            <a:off x="3360221" y="728546"/>
            <a:ext cx="139148" cy="234547"/>
          </a:xfrm>
          <a:prstGeom prst="roundRect">
            <a:avLst>
              <a:gd name="adj" fmla="val 50000"/>
            </a:avLst>
          </a:prstGeom>
          <a:solidFill>
            <a:srgbClr val="FF6B57"/>
          </a:solidFill>
          <a:ln w="12700">
            <a:solidFill>
              <a:srgbClr val="FF6B57"/>
            </a:solidFill>
            <a:prstDash val="solid"/>
          </a:ln>
        </p:spPr>
      </p:sp>
      <p:sp>
        <p:nvSpPr>
          <p:cNvPr id="21" name="Waveform bar 18"/>
          <p:cNvSpPr/>
          <p:nvPr/>
        </p:nvSpPr>
        <p:spPr>
          <a:xfrm>
            <a:off x="3535945" y="674381"/>
            <a:ext cx="139148" cy="342879"/>
          </a:xfrm>
          <a:prstGeom prst="roundRect">
            <a:avLst>
              <a:gd name="adj" fmla="val 50000"/>
            </a:avLst>
          </a:prstGeom>
          <a:solidFill>
            <a:srgbClr val="FF6B57"/>
          </a:solidFill>
          <a:ln w="12700">
            <a:solidFill>
              <a:srgbClr val="FF6B57"/>
            </a:solidFill>
            <a:prstDash val="solid"/>
          </a:ln>
        </p:spPr>
      </p:sp>
      <p:sp>
        <p:nvSpPr>
          <p:cNvPr id="22" name="Waveform bar 19"/>
          <p:cNvSpPr/>
          <p:nvPr/>
        </p:nvSpPr>
        <p:spPr>
          <a:xfrm>
            <a:off x="3711669" y="626959"/>
            <a:ext cx="139148" cy="437721"/>
          </a:xfrm>
          <a:prstGeom prst="roundRect">
            <a:avLst>
              <a:gd name="adj" fmla="val 50000"/>
            </a:avLst>
          </a:prstGeom>
          <a:solidFill>
            <a:srgbClr val="FF6B57"/>
          </a:solidFill>
          <a:ln w="12700">
            <a:solidFill>
              <a:srgbClr val="FF6B57"/>
            </a:solidFill>
            <a:prstDash val="solid"/>
          </a:ln>
        </p:spPr>
      </p:sp>
      <p:sp>
        <p:nvSpPr>
          <p:cNvPr id="23" name="Waveform bar 20"/>
          <p:cNvSpPr/>
          <p:nvPr/>
        </p:nvSpPr>
        <p:spPr>
          <a:xfrm>
            <a:off x="3887393" y="588839"/>
            <a:ext cx="139148" cy="513962"/>
          </a:xfrm>
          <a:prstGeom prst="roundRect">
            <a:avLst>
              <a:gd name="adj" fmla="val 50000"/>
            </a:avLst>
          </a:prstGeom>
          <a:solidFill>
            <a:srgbClr val="FF6B57"/>
          </a:solidFill>
          <a:ln w="12700">
            <a:solidFill>
              <a:srgbClr val="FF6B57"/>
            </a:solidFill>
            <a:prstDash val="solid"/>
          </a:ln>
        </p:spPr>
      </p:sp>
      <p:sp>
        <p:nvSpPr>
          <p:cNvPr id="24" name="Waveform bar 21"/>
          <p:cNvSpPr/>
          <p:nvPr/>
        </p:nvSpPr>
        <p:spPr>
          <a:xfrm>
            <a:off x="4063117" y="561916"/>
            <a:ext cx="139148" cy="567809"/>
          </a:xfrm>
          <a:prstGeom prst="roundRect">
            <a:avLst>
              <a:gd name="adj" fmla="val 50000"/>
            </a:avLst>
          </a:prstGeom>
          <a:solidFill>
            <a:srgbClr val="FF6B57"/>
          </a:solidFill>
          <a:ln w="12700">
            <a:solidFill>
              <a:srgbClr val="FF6B57"/>
            </a:solidFill>
            <a:prstDash val="solid"/>
          </a:ln>
        </p:spPr>
      </p:sp>
      <p:sp>
        <p:nvSpPr>
          <p:cNvPr id="25" name="Waveform bar 22"/>
          <p:cNvSpPr/>
          <p:nvPr/>
        </p:nvSpPr>
        <p:spPr>
          <a:xfrm>
            <a:off x="4238840" y="547302"/>
            <a:ext cx="139148" cy="597036"/>
          </a:xfrm>
          <a:prstGeom prst="roundRect">
            <a:avLst>
              <a:gd name="adj" fmla="val 50000"/>
            </a:avLst>
          </a:prstGeom>
          <a:solidFill>
            <a:srgbClr val="FF6B57"/>
          </a:solidFill>
          <a:ln w="12700">
            <a:solidFill>
              <a:srgbClr val="FF6B57"/>
            </a:solidFill>
            <a:prstDash val="solid"/>
          </a:ln>
        </p:spPr>
      </p:sp>
      <p:sp>
        <p:nvSpPr>
          <p:cNvPr id="26" name="Waveform bar 23"/>
          <p:cNvSpPr/>
          <p:nvPr/>
        </p:nvSpPr>
        <p:spPr>
          <a:xfrm>
            <a:off x="4414564" y="545259"/>
            <a:ext cx="139148" cy="601121"/>
          </a:xfrm>
          <a:prstGeom prst="roundRect">
            <a:avLst>
              <a:gd name="adj" fmla="val 50000"/>
            </a:avLst>
          </a:prstGeom>
          <a:solidFill>
            <a:srgbClr val="FF6B57"/>
          </a:solidFill>
          <a:ln w="12700">
            <a:solidFill>
              <a:srgbClr val="FF6B57"/>
            </a:solidFill>
            <a:prstDash val="solid"/>
          </a:ln>
        </p:spPr>
      </p:sp>
      <p:sp>
        <p:nvSpPr>
          <p:cNvPr id="27" name="Waveform bar 24"/>
          <p:cNvSpPr/>
          <p:nvPr/>
        </p:nvSpPr>
        <p:spPr>
          <a:xfrm>
            <a:off x="4590288" y="555194"/>
            <a:ext cx="139148" cy="581253"/>
          </a:xfrm>
          <a:prstGeom prst="roundRect">
            <a:avLst>
              <a:gd name="adj" fmla="val 50000"/>
            </a:avLst>
          </a:prstGeom>
          <a:solidFill>
            <a:srgbClr val="FF6B57"/>
          </a:solidFill>
          <a:ln w="12700">
            <a:solidFill>
              <a:srgbClr val="FF6B57"/>
            </a:solidFill>
            <a:prstDash val="solid"/>
          </a:ln>
        </p:spPr>
      </p:sp>
      <p:sp>
        <p:nvSpPr>
          <p:cNvPr id="28" name="Waveform bar 25"/>
          <p:cNvSpPr/>
          <p:nvPr/>
        </p:nvSpPr>
        <p:spPr>
          <a:xfrm>
            <a:off x="4766012" y="575717"/>
            <a:ext cx="139148" cy="540206"/>
          </a:xfrm>
          <a:prstGeom prst="roundRect">
            <a:avLst>
              <a:gd name="adj" fmla="val 50000"/>
            </a:avLst>
          </a:prstGeom>
          <a:solidFill>
            <a:srgbClr val="FF6B57"/>
          </a:solidFill>
          <a:ln w="12700">
            <a:solidFill>
              <a:srgbClr val="FF6B57"/>
            </a:solidFill>
            <a:prstDash val="solid"/>
          </a:ln>
        </p:spPr>
      </p:sp>
      <p:sp>
        <p:nvSpPr>
          <p:cNvPr id="29" name="Waveform bar 26"/>
          <p:cNvSpPr/>
          <p:nvPr/>
        </p:nvSpPr>
        <p:spPr>
          <a:xfrm>
            <a:off x="4941736" y="604766"/>
            <a:ext cx="139148" cy="482108"/>
          </a:xfrm>
          <a:prstGeom prst="roundRect">
            <a:avLst>
              <a:gd name="adj" fmla="val 50000"/>
            </a:avLst>
          </a:prstGeom>
          <a:solidFill>
            <a:srgbClr val="FF6B57"/>
          </a:solidFill>
          <a:ln w="12700">
            <a:solidFill>
              <a:srgbClr val="FF6B57"/>
            </a:solidFill>
            <a:prstDash val="solid"/>
          </a:ln>
        </p:spPr>
      </p:sp>
      <p:sp>
        <p:nvSpPr>
          <p:cNvPr id="30" name="Waveform bar 27"/>
          <p:cNvSpPr/>
          <p:nvPr/>
        </p:nvSpPr>
        <p:spPr>
          <a:xfrm>
            <a:off x="5117459" y="639770"/>
            <a:ext cx="139148" cy="412101"/>
          </a:xfrm>
          <a:prstGeom prst="roundRect">
            <a:avLst>
              <a:gd name="adj" fmla="val 50000"/>
            </a:avLst>
          </a:prstGeom>
          <a:solidFill>
            <a:srgbClr val="FF6B57"/>
          </a:solidFill>
          <a:ln w="12700">
            <a:solidFill>
              <a:srgbClr val="FF6B57"/>
            </a:solidFill>
            <a:prstDash val="solid"/>
          </a:ln>
        </p:spPr>
      </p:sp>
      <p:sp>
        <p:nvSpPr>
          <p:cNvPr id="31" name="Waveform bar 28"/>
          <p:cNvSpPr/>
          <p:nvPr/>
        </p:nvSpPr>
        <p:spPr>
          <a:xfrm>
            <a:off x="5293183" y="677852"/>
            <a:ext cx="139148" cy="335935"/>
          </a:xfrm>
          <a:prstGeom prst="roundRect">
            <a:avLst>
              <a:gd name="adj" fmla="val 50000"/>
            </a:avLst>
          </a:prstGeom>
          <a:solidFill>
            <a:srgbClr val="FF6B57"/>
          </a:solidFill>
          <a:ln w="12700">
            <a:solidFill>
              <a:srgbClr val="FF6B57"/>
            </a:solidFill>
            <a:prstDash val="solid"/>
          </a:ln>
        </p:spPr>
      </p:sp>
      <p:sp>
        <p:nvSpPr>
          <p:cNvPr id="32" name="Waveform bar 29"/>
          <p:cNvSpPr/>
          <p:nvPr/>
        </p:nvSpPr>
        <p:spPr>
          <a:xfrm>
            <a:off x="5468907" y="716059"/>
            <a:ext cx="139148" cy="259522"/>
          </a:xfrm>
          <a:prstGeom prst="roundRect">
            <a:avLst>
              <a:gd name="adj" fmla="val 50000"/>
            </a:avLst>
          </a:prstGeom>
          <a:solidFill>
            <a:srgbClr val="FF6B57"/>
          </a:solidFill>
          <a:ln w="12700">
            <a:solidFill>
              <a:srgbClr val="FF6B57"/>
            </a:solidFill>
            <a:prstDash val="solid"/>
          </a:ln>
        </p:spPr>
      </p:sp>
      <p:sp>
        <p:nvSpPr>
          <p:cNvPr id="33" name="Waveform bar 30"/>
          <p:cNvSpPr/>
          <p:nvPr/>
        </p:nvSpPr>
        <p:spPr>
          <a:xfrm>
            <a:off x="5644631" y="751582"/>
            <a:ext cx="139148" cy="188476"/>
          </a:xfrm>
          <a:prstGeom prst="roundRect">
            <a:avLst>
              <a:gd name="adj" fmla="val 50000"/>
            </a:avLst>
          </a:prstGeom>
          <a:solidFill>
            <a:srgbClr val="FF6B57"/>
          </a:solidFill>
          <a:ln w="12700">
            <a:solidFill>
              <a:srgbClr val="FF6B57"/>
            </a:solidFill>
            <a:prstDash val="solid"/>
          </a:ln>
        </p:spPr>
      </p:sp>
      <p:sp>
        <p:nvSpPr>
          <p:cNvPr id="34" name="Waveform bar 31"/>
          <p:cNvSpPr/>
          <p:nvPr/>
        </p:nvSpPr>
        <p:spPr>
          <a:xfrm>
            <a:off x="5820355" y="781974"/>
            <a:ext cx="139148" cy="127692"/>
          </a:xfrm>
          <a:prstGeom prst="roundRect">
            <a:avLst>
              <a:gd name="adj" fmla="val 54486"/>
            </a:avLst>
          </a:prstGeom>
          <a:solidFill>
            <a:srgbClr val="FF6B57"/>
          </a:solidFill>
          <a:ln w="12700">
            <a:solidFill>
              <a:srgbClr val="FF6B57"/>
            </a:solidFill>
            <a:prstDash val="solid"/>
          </a:ln>
        </p:spPr>
      </p:sp>
      <p:sp>
        <p:nvSpPr>
          <p:cNvPr id="35" name="Waveform bar 32"/>
          <p:cNvSpPr/>
          <p:nvPr/>
        </p:nvSpPr>
        <p:spPr>
          <a:xfrm>
            <a:off x="5996079" y="762865"/>
            <a:ext cx="139148" cy="165909"/>
          </a:xfrm>
          <a:prstGeom prst="roundRect">
            <a:avLst>
              <a:gd name="adj" fmla="val 50000"/>
            </a:avLst>
          </a:prstGeom>
          <a:solidFill>
            <a:srgbClr val="FF6B57"/>
          </a:solidFill>
          <a:ln w="12700">
            <a:solidFill>
              <a:srgbClr val="FF6B57"/>
            </a:solidFill>
            <a:prstDash val="solid"/>
          </a:ln>
        </p:spPr>
      </p:sp>
      <p:sp>
        <p:nvSpPr>
          <p:cNvPr id="36" name="Waveform bar 33"/>
          <p:cNvSpPr/>
          <p:nvPr/>
        </p:nvSpPr>
        <p:spPr>
          <a:xfrm>
            <a:off x="6171802" y="747769"/>
            <a:ext cx="139148" cy="196102"/>
          </a:xfrm>
          <a:prstGeom prst="roundRect">
            <a:avLst>
              <a:gd name="adj" fmla="val 50000"/>
            </a:avLst>
          </a:prstGeom>
          <a:solidFill>
            <a:srgbClr val="FF6B57"/>
          </a:solidFill>
          <a:ln w="12700">
            <a:solidFill>
              <a:srgbClr val="FF6B57"/>
            </a:solidFill>
            <a:prstDash val="solid"/>
          </a:ln>
        </p:spPr>
      </p:sp>
      <p:sp>
        <p:nvSpPr>
          <p:cNvPr id="37" name="Waveform bar 34"/>
          <p:cNvSpPr/>
          <p:nvPr/>
        </p:nvSpPr>
        <p:spPr>
          <a:xfrm>
            <a:off x="6347526" y="741395"/>
            <a:ext cx="139148" cy="208850"/>
          </a:xfrm>
          <a:prstGeom prst="roundRect">
            <a:avLst>
              <a:gd name="adj" fmla="val 50000"/>
            </a:avLst>
          </a:prstGeom>
          <a:solidFill>
            <a:srgbClr val="FF6B57"/>
          </a:solidFill>
          <a:ln w="12700">
            <a:solidFill>
              <a:srgbClr val="FF6B57"/>
            </a:solidFill>
            <a:prstDash val="solid"/>
          </a:ln>
        </p:spPr>
      </p:sp>
      <p:sp>
        <p:nvSpPr>
          <p:cNvPr id="38" name="Waveform bar 35"/>
          <p:cNvSpPr/>
          <p:nvPr/>
        </p:nvSpPr>
        <p:spPr>
          <a:xfrm>
            <a:off x="6523250" y="743419"/>
            <a:ext cx="139148" cy="204803"/>
          </a:xfrm>
          <a:prstGeom prst="roundRect">
            <a:avLst>
              <a:gd name="adj" fmla="val 50000"/>
            </a:avLst>
          </a:prstGeom>
          <a:solidFill>
            <a:srgbClr val="FF6B57"/>
          </a:solidFill>
          <a:ln w="12700">
            <a:solidFill>
              <a:srgbClr val="FF6B57"/>
            </a:solidFill>
            <a:prstDash val="solid"/>
          </a:ln>
        </p:spPr>
      </p:sp>
      <p:sp>
        <p:nvSpPr>
          <p:cNvPr id="39" name="Waveform bar 36"/>
          <p:cNvSpPr/>
          <p:nvPr/>
        </p:nvSpPr>
        <p:spPr>
          <a:xfrm>
            <a:off x="6698974" y="752773"/>
            <a:ext cx="139148" cy="186093"/>
          </a:xfrm>
          <a:prstGeom prst="roundRect">
            <a:avLst>
              <a:gd name="adj" fmla="val 50000"/>
            </a:avLst>
          </a:prstGeom>
          <a:solidFill>
            <a:srgbClr val="FF6B57"/>
          </a:solidFill>
          <a:ln w="12700">
            <a:solidFill>
              <a:srgbClr val="FF6B57"/>
            </a:solidFill>
            <a:prstDash val="solid"/>
          </a:ln>
        </p:spPr>
      </p:sp>
      <p:sp>
        <p:nvSpPr>
          <p:cNvPr id="40" name="Waveform bar 37"/>
          <p:cNvSpPr/>
          <p:nvPr/>
        </p:nvSpPr>
        <p:spPr>
          <a:xfrm>
            <a:off x="6874698" y="767747"/>
            <a:ext cx="139148" cy="156146"/>
          </a:xfrm>
          <a:prstGeom prst="roundRect">
            <a:avLst>
              <a:gd name="adj" fmla="val 50000"/>
            </a:avLst>
          </a:prstGeom>
          <a:solidFill>
            <a:srgbClr val="FF6B57"/>
          </a:solidFill>
          <a:ln w="12700">
            <a:solidFill>
              <a:srgbClr val="FF6B57"/>
            </a:solidFill>
            <a:prstDash val="solid"/>
          </a:ln>
        </p:spPr>
      </p:sp>
      <p:sp>
        <p:nvSpPr>
          <p:cNvPr id="41" name="Waveform bar 38"/>
          <p:cNvSpPr/>
          <p:nvPr/>
        </p:nvSpPr>
        <p:spPr>
          <a:xfrm>
            <a:off x="7050422" y="782063"/>
            <a:ext cx="139148" cy="127515"/>
          </a:xfrm>
          <a:prstGeom prst="roundRect">
            <a:avLst>
              <a:gd name="adj" fmla="val 54561"/>
            </a:avLst>
          </a:prstGeom>
          <a:solidFill>
            <a:srgbClr val="FF6B57"/>
          </a:solidFill>
          <a:ln w="12700">
            <a:solidFill>
              <a:srgbClr val="FF6B57"/>
            </a:solidFill>
            <a:prstDash val="solid"/>
          </a:ln>
        </p:spPr>
      </p:sp>
      <p:sp>
        <p:nvSpPr>
          <p:cNvPr id="42" name="Waveform bar 39"/>
          <p:cNvSpPr/>
          <p:nvPr/>
        </p:nvSpPr>
        <p:spPr>
          <a:xfrm>
            <a:off x="7226145" y="762772"/>
            <a:ext cx="139148" cy="166096"/>
          </a:xfrm>
          <a:prstGeom prst="roundRect">
            <a:avLst>
              <a:gd name="adj" fmla="val 50000"/>
            </a:avLst>
          </a:prstGeom>
          <a:solidFill>
            <a:srgbClr val="FF6B57"/>
          </a:solidFill>
          <a:ln w="12700">
            <a:solidFill>
              <a:srgbClr val="FF6B57"/>
            </a:solidFill>
            <a:prstDash val="solid"/>
          </a:ln>
        </p:spPr>
      </p:sp>
      <p:sp>
        <p:nvSpPr>
          <p:cNvPr id="43" name="Waveform bar 40"/>
          <p:cNvSpPr/>
          <p:nvPr/>
        </p:nvSpPr>
        <p:spPr>
          <a:xfrm>
            <a:off x="7401869" y="745178"/>
            <a:ext cx="139148" cy="201284"/>
          </a:xfrm>
          <a:prstGeom prst="roundRect">
            <a:avLst>
              <a:gd name="adj" fmla="val 50000"/>
            </a:avLst>
          </a:prstGeom>
          <a:solidFill>
            <a:srgbClr val="FF6B57"/>
          </a:solidFill>
          <a:ln w="12700">
            <a:solidFill>
              <a:srgbClr val="FF6B57"/>
            </a:solidFill>
            <a:prstDash val="solid"/>
          </a:ln>
        </p:spPr>
      </p:sp>
      <p:sp>
        <p:nvSpPr>
          <p:cNvPr id="44" name="Waveform bar 41"/>
          <p:cNvSpPr/>
          <p:nvPr/>
        </p:nvSpPr>
        <p:spPr>
          <a:xfrm>
            <a:off x="7577593" y="731748"/>
            <a:ext cx="139148" cy="228144"/>
          </a:xfrm>
          <a:prstGeom prst="roundRect">
            <a:avLst>
              <a:gd name="adj" fmla="val 50000"/>
            </a:avLst>
          </a:prstGeom>
          <a:solidFill>
            <a:srgbClr val="FF6B57"/>
          </a:solidFill>
          <a:ln w="12700">
            <a:solidFill>
              <a:srgbClr val="FF6B57"/>
            </a:solidFill>
            <a:prstDash val="solid"/>
          </a:ln>
        </p:spPr>
      </p:sp>
      <p:sp>
        <p:nvSpPr>
          <p:cNvPr id="45" name="Waveform bar 42"/>
          <p:cNvSpPr/>
          <p:nvPr/>
        </p:nvSpPr>
        <p:spPr>
          <a:xfrm>
            <a:off x="7753317" y="724609"/>
            <a:ext cx="139148" cy="242422"/>
          </a:xfrm>
          <a:prstGeom prst="roundRect">
            <a:avLst>
              <a:gd name="adj" fmla="val 50000"/>
            </a:avLst>
          </a:prstGeom>
          <a:solidFill>
            <a:srgbClr val="FF6B57"/>
          </a:solidFill>
          <a:ln w="12700">
            <a:solidFill>
              <a:srgbClr val="FF6B57"/>
            </a:solidFill>
            <a:prstDash val="solid"/>
          </a:ln>
        </p:spPr>
      </p:sp>
      <p:sp>
        <p:nvSpPr>
          <p:cNvPr id="46" name="Waveform bar 43"/>
          <p:cNvSpPr/>
          <p:nvPr/>
        </p:nvSpPr>
        <p:spPr>
          <a:xfrm>
            <a:off x="7929041" y="725359"/>
            <a:ext cx="139148" cy="240921"/>
          </a:xfrm>
          <a:prstGeom prst="roundRect">
            <a:avLst>
              <a:gd name="adj" fmla="val 50000"/>
            </a:avLst>
          </a:prstGeom>
          <a:solidFill>
            <a:srgbClr val="FF6B57"/>
          </a:solidFill>
          <a:ln w="12700">
            <a:solidFill>
              <a:srgbClr val="FF6B57"/>
            </a:solidFill>
            <a:prstDash val="solid"/>
          </a:ln>
        </p:spPr>
      </p:sp>
      <p:sp>
        <p:nvSpPr>
          <p:cNvPr id="47" name="Waveform bar 44"/>
          <p:cNvSpPr/>
          <p:nvPr/>
        </p:nvSpPr>
        <p:spPr>
          <a:xfrm>
            <a:off x="8104765" y="734928"/>
            <a:ext cx="139148" cy="221783"/>
          </a:xfrm>
          <a:prstGeom prst="roundRect">
            <a:avLst>
              <a:gd name="adj" fmla="val 50000"/>
            </a:avLst>
          </a:prstGeom>
          <a:solidFill>
            <a:srgbClr val="FF6B57"/>
          </a:solidFill>
          <a:ln w="12700">
            <a:solidFill>
              <a:srgbClr val="FF6B57"/>
            </a:solidFill>
            <a:prstDash val="solid"/>
          </a:ln>
        </p:spPr>
      </p:sp>
      <p:sp>
        <p:nvSpPr>
          <p:cNvPr id="48" name="Waveform bar 45"/>
          <p:cNvSpPr/>
          <p:nvPr/>
        </p:nvSpPr>
        <p:spPr>
          <a:xfrm>
            <a:off x="8280488" y="753485"/>
            <a:ext cx="139148" cy="184670"/>
          </a:xfrm>
          <a:prstGeom prst="roundRect">
            <a:avLst>
              <a:gd name="adj" fmla="val 50000"/>
            </a:avLst>
          </a:prstGeom>
          <a:solidFill>
            <a:srgbClr val="FF6B57"/>
          </a:solidFill>
          <a:ln w="12700">
            <a:solidFill>
              <a:srgbClr val="FF6B57"/>
            </a:solidFill>
            <a:prstDash val="solid"/>
          </a:ln>
        </p:spPr>
      </p:sp>
      <p:sp>
        <p:nvSpPr>
          <p:cNvPr id="49" name="Waveform bar 46"/>
          <p:cNvSpPr/>
          <p:nvPr/>
        </p:nvSpPr>
        <p:spPr>
          <a:xfrm>
            <a:off x="8456212" y="780407"/>
            <a:ext cx="139148" cy="130826"/>
          </a:xfrm>
          <a:prstGeom prst="roundRect">
            <a:avLst>
              <a:gd name="adj" fmla="val 53180"/>
            </a:avLst>
          </a:prstGeom>
          <a:solidFill>
            <a:srgbClr val="FF6B57"/>
          </a:solidFill>
          <a:ln w="12700">
            <a:solidFill>
              <a:srgbClr val="FF6B57"/>
            </a:solidFill>
            <a:prstDash val="solid"/>
          </a:ln>
        </p:spPr>
      </p:sp>
      <p:sp>
        <p:nvSpPr>
          <p:cNvPr id="50" name="Team names"/>
          <p:cNvSpPr txBox="1"/>
          <p:nvPr/>
        </p:nvSpPr>
        <p:spPr>
          <a:xfrm>
            <a:off x="548640" y="3429000"/>
            <a:ext cx="5486400" cy="640080"/>
          </a:xfrm>
          <a:prstGeom prst="rect">
            <a:avLst/>
          </a:prstGeom>
          <a:noFill/>
          <a:ln/>
        </p:spPr>
        <p:txBody>
          <a:bodyPr wrap="square" lIns="0" tIns="0" rIns="0" bIns="0" rtlCol="0" anchor="ctr"/>
          <a:lstStyle/>
          <a:p>
            <a:pPr indent="0" marL="0">
              <a:buNone/>
            </a:pPr>
            <a:r>
              <a:rPr lang="en-US" sz="1600" dirty="0">
                <a:solidFill>
                  <a:schemeClr val="bg1"/>
                </a:solidFill>
              </a:rPr>
              <a:t>Mann Mehta  (PES2UG24CS266)</a:t>
            </a:r>
            <a:endParaRPr lang="en-US" sz="1600" dirty="0"/>
          </a:p>
          <a:p>
            <a:pPr indent="0" marL="0">
              <a:buNone/>
            </a:pPr>
            <a:r>
              <a:rPr lang="en-US" sz="1600" dirty="0">
                <a:solidFill>
                  <a:schemeClr val="bg1"/>
                </a:solidFill>
              </a:rPr>
              <a:t>Marapareddy Deekshitha  (PES2UG24CS268)</a:t>
            </a:r>
            <a:endParaRPr lang="en-US" sz="1600" dirty="0"/>
          </a:p>
        </p:txBody>
      </p:sp>
      <p:sp>
        <p:nvSpPr>
          <p:cNvPr id="51" name="Course line"/>
          <p:cNvSpPr txBox="1"/>
          <p:nvPr/>
        </p:nvSpPr>
        <p:spPr>
          <a:xfrm>
            <a:off x="548640" y="4343400"/>
            <a:ext cx="8046720" cy="320040"/>
          </a:xfrm>
          <a:prstGeom prst="rect">
            <a:avLst/>
          </a:prstGeom>
          <a:noFill/>
          <a:ln/>
        </p:spPr>
        <p:txBody>
          <a:bodyPr wrap="square" lIns="0" tIns="0" rIns="0" bIns="0" rtlCol="0" anchor="ctr"/>
          <a:lstStyle/>
          <a:p>
            <a:pPr indent="0" marL="0">
              <a:buNone/>
            </a:pPr>
            <a:r>
              <a:rPr lang="en-US" sz="1200" dirty="0">
                <a:solidFill>
                  <a:schemeClr val="accent3"/>
                </a:solidFill>
              </a:rPr>
              <a:t>UE24CS352A Machine Learning  ·  Team 25  ·  Problem 20  ·  October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chemeClr val="tx2"/>
                </a:solidFill>
                <a:latin typeface="Arial" pitchFamily="34" charset="0"/>
                <a:ea typeface="Arial" pitchFamily="34" charset="-122"/>
                <a:cs typeface="Arial" pitchFamily="34" charset="-120"/>
              </a:rPr>
              <a:t>The 2018 Stanford attempt</a:t>
            </a:r>
            <a:endParaRPr lang="en-US" sz="3000" dirty="0"/>
          </a:p>
        </p:txBody>
      </p:sp>
      <p:sp>
        <p:nvSpPr>
          <p:cNvPr id="3" name="What they did"/>
          <p:cNvSpPr txBox="1"/>
          <p:nvPr/>
        </p:nvSpPr>
        <p:spPr>
          <a:xfrm>
            <a:off x="457200" y="1188720"/>
            <a:ext cx="3931920" cy="265176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Text in, speech out, trained on LJ Speech</a:t>
            </a:r>
            <a:endParaRPr lang="en-US" sz="1600" dirty="0"/>
          </a:p>
          <a:p>
            <a:pPr marL="342900" indent="-342900">
              <a:spcAft>
                <a:spcPts val="800"/>
              </a:spcAft>
              <a:buSzPct val="100000"/>
              <a:buChar char="•"/>
            </a:pPr>
            <a:r>
              <a:rPr lang="en-US" sz="1600" dirty="0">
                <a:solidFill>
                  <a:schemeClr val="tx1"/>
                </a:solidFill>
              </a:rPr>
              <a:t>Only about 200 sentences used for training</a:t>
            </a:r>
            <a:endParaRPr lang="en-US" sz="1600" dirty="0"/>
          </a:p>
          <a:p>
            <a:pPr marL="342900" indent="-342900">
              <a:spcAft>
                <a:spcPts val="800"/>
              </a:spcAft>
              <a:buSzPct val="100000"/>
              <a:buChar char="•"/>
            </a:pPr>
            <a:r>
              <a:rPr lang="en-US" sz="1600" dirty="0">
                <a:solidFill>
                  <a:schemeClr val="tx1"/>
                </a:solidFill>
              </a:rPr>
              <a:t>Words randomly mapped to phonemes or letters</a:t>
            </a:r>
            <a:endParaRPr lang="en-US" sz="1600" dirty="0"/>
          </a:p>
          <a:p>
            <a:pPr marL="342900" indent="-342900">
              <a:spcAft>
                <a:spcPts val="800"/>
              </a:spcAft>
              <a:buSzPct val="100000"/>
              <a:buChar char="•"/>
            </a:pPr>
            <a:r>
              <a:rPr lang="en-US" sz="1600" dirty="0">
                <a:solidFill>
                  <a:schemeClr val="tx1"/>
                </a:solidFill>
              </a:rPr>
              <a:t>Three models: SVR, a 4-layer neural net, seq2seq LSTM with attention</a:t>
            </a:r>
            <a:endParaRPr lang="en-US" sz="1600" dirty="0"/>
          </a:p>
          <a:p>
            <a:pPr marL="342900" indent="-342900">
              <a:spcAft>
                <a:spcPts val="800"/>
              </a:spcAft>
              <a:buSzPct val="100000"/>
              <a:buChar char="•"/>
            </a:pPr>
            <a:r>
              <a:rPr lang="en-US" sz="1600" dirty="0">
                <a:solidFill>
                  <a:schemeClr val="tx1"/>
                </a:solidFill>
              </a:rPr>
              <a:t>Inverse STFT to turn spectrograms into audio</a:t>
            </a:r>
            <a:endParaRPr lang="en-US" sz="1600" dirty="0"/>
          </a:p>
        </p:txBody>
      </p:sp>
      <p:sp>
        <p:nvSpPr>
          <p:cNvPr id="4" name="MOS explainer"/>
          <p:cNvSpPr txBox="1"/>
          <p:nvPr/>
        </p:nvSpPr>
        <p:spPr>
          <a:xfrm>
            <a:off x="457200" y="3977640"/>
            <a:ext cx="3931920" cy="548640"/>
          </a:xfrm>
          <a:prstGeom prst="rect">
            <a:avLst/>
          </a:prstGeom>
          <a:noFill/>
          <a:ln/>
        </p:spPr>
        <p:txBody>
          <a:bodyPr wrap="square" lIns="0" tIns="0" rIns="0" bIns="0" rtlCol="0" anchor="ctr"/>
          <a:lstStyle/>
          <a:p>
            <a:pPr indent="0" marL="0">
              <a:buNone/>
            </a:pPr>
            <a:r>
              <a:rPr lang="en-US" sz="1200" i="1" dirty="0">
                <a:solidFill>
                  <a:schemeClr val="accent6"/>
                </a:solidFill>
              </a:rPr>
              <a:t>MOS = mean opinion score: listeners rate each clip from 1 (bad) to 5 (excellent).</a:t>
            </a:r>
            <a:endParaRPr lang="en-US" sz="1200" dirty="0"/>
          </a:p>
        </p:txBody>
      </p:sp>
      <p:graphicFrame>
        <p:nvGraphicFramePr>
          <p:cNvPr id="5" name="Paper MOS chart" descr=""/>
          <p:cNvGraphicFramePr/>
          <p:nvPr/>
        </p:nvGraphicFramePr>
        <p:xfrm>
          <a:off x="4663440" y="1051560"/>
          <a:ext cx="4023360" cy="3429000"/>
        </p:xfrm>
        <a:graphic xmlns:a="http://schemas.openxmlformats.org/drawingml/2006/main">
          <a:graphicData uri="http://schemas.openxmlformats.org/drawingml/2006/chart">
            <c:chart xmlns:c="http://schemas.openxmlformats.org/drawingml/2006/chart" r:id="rId1"/>
          </a:graphicData>
        </a:graphic>
      </p:graphicFrame>
      <p:sp>
        <p:nvSpPr>
          <p:cNvPr id="6" name="Chart footnote"/>
          <p:cNvSpPr txBox="1"/>
          <p:nvPr/>
        </p:nvSpPr>
        <p:spPr>
          <a:xfrm>
            <a:off x="4663440" y="4480560"/>
            <a:ext cx="4023360" cy="228600"/>
          </a:xfrm>
          <a:prstGeom prst="rect">
            <a:avLst/>
          </a:prstGeom>
          <a:noFill/>
          <a:ln/>
        </p:spPr>
        <p:txBody>
          <a:bodyPr wrap="square" lIns="0" tIns="0" rIns="0" bIns="0" rtlCol="0" anchor="ctr"/>
          <a:lstStyle/>
          <a:p>
            <a:pPr indent="0" marL="0">
              <a:buNone/>
            </a:pPr>
            <a:r>
              <a:rPr lang="en-US" sz="1000" dirty="0">
                <a:solidFill>
                  <a:schemeClr val="accent6"/>
                </a:solidFill>
              </a:rPr>
              <a:t>*Tacotron score as reported by Google, for reference</a:t>
            </a:r>
            <a:endParaRPr lang="en-US" sz="10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chemeClr val="tx2"/>
                </a:solidFill>
                <a:latin typeface="Arial" pitchFamily="34" charset="0"/>
                <a:ea typeface="Arial" pitchFamily="34" charset="-122"/>
                <a:cs typeface="Arial" pitchFamily="34" charset="-120"/>
              </a:rPr>
              <a:t>Why it failed, and our fix</a:t>
            </a:r>
            <a:endParaRPr lang="en-US" sz="3000" dirty="0"/>
          </a:p>
        </p:txBody>
      </p:sp>
      <p:sp>
        <p:nvSpPr>
          <p:cNvPr id="3" name="Cause card 1"/>
          <p:cNvSpPr/>
          <p:nvPr/>
        </p:nvSpPr>
        <p:spPr>
          <a:xfrm>
            <a:off x="457200" y="1143000"/>
            <a:ext cx="4023360" cy="1600200"/>
          </a:xfrm>
          <a:prstGeom prst="roundRect">
            <a:avLst>
              <a:gd name="adj" fmla="val 4571"/>
            </a:avLst>
          </a:prstGeom>
          <a:solidFill>
            <a:schemeClr val="bg2"/>
          </a:solidFill>
          <a:ln w="12700">
            <a:solidFill>
              <a:schemeClr val="bg2"/>
            </a:solidFill>
            <a:prstDash val="solid"/>
          </a:ln>
        </p:spPr>
      </p:sp>
      <p:sp>
        <p:nvSpPr>
          <p:cNvPr id="4" name="Cause 1 circle"/>
          <p:cNvSpPr/>
          <p:nvPr/>
        </p:nvSpPr>
        <p:spPr>
          <a:xfrm>
            <a:off x="640080" y="1325880"/>
            <a:ext cx="384048" cy="384048"/>
          </a:xfrm>
          <a:prstGeom prst="ellipse">
            <a:avLst/>
          </a:prstGeom>
          <a:solidFill>
            <a:schemeClr val="accent2"/>
          </a:solidFill>
          <a:ln w="12700">
            <a:solidFill>
              <a:schemeClr val="accent2"/>
            </a:solidFill>
            <a:prstDash val="solid"/>
          </a:ln>
        </p:spPr>
      </p:sp>
      <p:sp>
        <p:nvSpPr>
          <p:cNvPr id="5" name="Cause 1 label"/>
          <p:cNvSpPr txBox="1"/>
          <p:nvPr/>
        </p:nvSpPr>
        <p:spPr>
          <a:xfrm>
            <a:off x="640080" y="132588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6" name="Cause 1 title"/>
          <p:cNvSpPr txBox="1"/>
          <p:nvPr/>
        </p:nvSpPr>
        <p:spPr>
          <a:xfrm>
            <a:off x="1143000" y="1325880"/>
            <a:ext cx="3154680" cy="384048"/>
          </a:xfrm>
          <a:prstGeom prst="rect">
            <a:avLst/>
          </a:prstGeom>
          <a:noFill/>
          <a:ln/>
        </p:spPr>
        <p:txBody>
          <a:bodyPr wrap="square" lIns="0" tIns="0" rIns="0" bIns="0" rtlCol="0" anchor="ctr"/>
          <a:lstStyle/>
          <a:p>
            <a:pPr indent="0" marL="0">
              <a:buNone/>
            </a:pPr>
            <a:r>
              <a:rPr lang="en-US" sz="1600" b="1" dirty="0">
                <a:solidFill>
                  <a:schemeClr val="tx1"/>
                </a:solidFill>
              </a:rPr>
              <a:t>Tiny data</a:t>
            </a:r>
            <a:endParaRPr lang="en-US" sz="1600" dirty="0"/>
          </a:p>
        </p:txBody>
      </p:sp>
      <p:sp>
        <p:nvSpPr>
          <p:cNvPr id="7" name="Cause 1 problem"/>
          <p:cNvSpPr txBox="1"/>
          <p:nvPr/>
        </p:nvSpPr>
        <p:spPr>
          <a:xfrm>
            <a:off x="640080" y="1801368"/>
            <a:ext cx="3657600" cy="411480"/>
          </a:xfrm>
          <a:prstGeom prst="rect">
            <a:avLst/>
          </a:prstGeom>
          <a:noFill/>
          <a:ln/>
        </p:spPr>
        <p:txBody>
          <a:bodyPr wrap="square" lIns="0" tIns="0" rIns="0" bIns="0" rtlCol="0" anchor="t"/>
          <a:lstStyle/>
          <a:p>
            <a:pPr indent="0" marL="0">
              <a:buNone/>
            </a:pPr>
            <a:r>
              <a:rPr lang="en-US" sz="1200" dirty="0">
                <a:solidFill>
                  <a:schemeClr val="accent6"/>
                </a:solidFill>
              </a:rPr>
              <a:t>About 200 sentences, versus 13,100 clips in LJ Speech</a:t>
            </a:r>
            <a:endParaRPr lang="en-US" sz="1200" dirty="0"/>
          </a:p>
        </p:txBody>
      </p:sp>
      <p:sp>
        <p:nvSpPr>
          <p:cNvPr id="8" name="Cause 1 fix"/>
          <p:cNvSpPr txBox="1"/>
          <p:nvPr/>
        </p:nvSpPr>
        <p:spPr>
          <a:xfrm>
            <a:off x="640080" y="2240280"/>
            <a:ext cx="3657600" cy="411480"/>
          </a:xfrm>
          <a:prstGeom prst="rect">
            <a:avLst/>
          </a:prstGeom>
          <a:noFill/>
          <a:ln/>
        </p:spPr>
        <p:txBody>
          <a:bodyPr wrap="square" lIns="0" tIns="0" rIns="0" bIns="0" rtlCol="0" anchor="t"/>
          <a:lstStyle/>
          <a:p>
            <a:pPr indent="0" marL="0">
              <a:buNone/>
            </a:pPr>
            <a:r>
              <a:rPr lang="en-US" sz="1300" b="1" dirty="0">
                <a:solidFill>
                  <a:schemeClr val="accent1"/>
                </a:solidFill>
              </a:rPr>
              <a:t>Our fix: </a:t>
            </a:r>
            <a:pPr indent="0" marL="0">
              <a:buNone/>
            </a:pPr>
            <a:r>
              <a:rPr lang="en-US" sz="1300" dirty="0">
                <a:solidFill>
                  <a:schemeClr val="tx1"/>
                </a:solidFill>
              </a:rPr>
              <a:t>Train on all 13,100 clips (24 hours)</a:t>
            </a:r>
            <a:endParaRPr lang="en-US" sz="1300" dirty="0"/>
          </a:p>
        </p:txBody>
      </p:sp>
      <p:sp>
        <p:nvSpPr>
          <p:cNvPr id="9" name="Cause card 2"/>
          <p:cNvSpPr/>
          <p:nvPr/>
        </p:nvSpPr>
        <p:spPr>
          <a:xfrm>
            <a:off x="4663440" y="1143000"/>
            <a:ext cx="4023360" cy="1600200"/>
          </a:xfrm>
          <a:prstGeom prst="roundRect">
            <a:avLst>
              <a:gd name="adj" fmla="val 4571"/>
            </a:avLst>
          </a:prstGeom>
          <a:solidFill>
            <a:schemeClr val="bg2"/>
          </a:solidFill>
          <a:ln w="12700">
            <a:solidFill>
              <a:schemeClr val="bg2"/>
            </a:solidFill>
            <a:prstDash val="solid"/>
          </a:ln>
        </p:spPr>
      </p:sp>
      <p:sp>
        <p:nvSpPr>
          <p:cNvPr id="10" name="Cause 2 circle"/>
          <p:cNvSpPr/>
          <p:nvPr/>
        </p:nvSpPr>
        <p:spPr>
          <a:xfrm>
            <a:off x="4846320" y="1325880"/>
            <a:ext cx="384048" cy="384048"/>
          </a:xfrm>
          <a:prstGeom prst="ellipse">
            <a:avLst/>
          </a:prstGeom>
          <a:solidFill>
            <a:schemeClr val="accent2"/>
          </a:solidFill>
          <a:ln w="12700">
            <a:solidFill>
              <a:schemeClr val="accent2"/>
            </a:solidFill>
            <a:prstDash val="solid"/>
          </a:ln>
        </p:spPr>
      </p:sp>
      <p:sp>
        <p:nvSpPr>
          <p:cNvPr id="11" name="Cause 2 label"/>
          <p:cNvSpPr txBox="1"/>
          <p:nvPr/>
        </p:nvSpPr>
        <p:spPr>
          <a:xfrm>
            <a:off x="4846320" y="132588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2" name="Cause 2 title"/>
          <p:cNvSpPr txBox="1"/>
          <p:nvPr/>
        </p:nvSpPr>
        <p:spPr>
          <a:xfrm>
            <a:off x="5349240" y="1325880"/>
            <a:ext cx="3154680" cy="384048"/>
          </a:xfrm>
          <a:prstGeom prst="rect">
            <a:avLst/>
          </a:prstGeom>
          <a:noFill/>
          <a:ln/>
        </p:spPr>
        <p:txBody>
          <a:bodyPr wrap="square" lIns="0" tIns="0" rIns="0" bIns="0" rtlCol="0" anchor="ctr"/>
          <a:lstStyle/>
          <a:p>
            <a:pPr indent="0" marL="0">
              <a:buNone/>
            </a:pPr>
            <a:r>
              <a:rPr lang="en-US" sz="1600" b="1" dirty="0">
                <a:solidFill>
                  <a:schemeClr val="tx1"/>
                </a:solidFill>
              </a:rPr>
              <a:t>Shallow models</a:t>
            </a:r>
            <a:endParaRPr lang="en-US" sz="1600" dirty="0"/>
          </a:p>
        </p:txBody>
      </p:sp>
      <p:sp>
        <p:nvSpPr>
          <p:cNvPr id="13" name="Cause 2 problem"/>
          <p:cNvSpPr txBox="1"/>
          <p:nvPr/>
        </p:nvSpPr>
        <p:spPr>
          <a:xfrm>
            <a:off x="4846320" y="1801368"/>
            <a:ext cx="3657600" cy="411480"/>
          </a:xfrm>
          <a:prstGeom prst="rect">
            <a:avLst/>
          </a:prstGeom>
          <a:noFill/>
          <a:ln/>
        </p:spPr>
        <p:txBody>
          <a:bodyPr wrap="square" lIns="0" tIns="0" rIns="0" bIns="0" rtlCol="0" anchor="t"/>
          <a:lstStyle/>
          <a:p>
            <a:pPr indent="0" marL="0">
              <a:buNone/>
            </a:pPr>
            <a:r>
              <a:rPr lang="en-US" sz="1200" dirty="0">
                <a:solidFill>
                  <a:schemeClr val="accent6"/>
                </a:solidFill>
              </a:rPr>
              <a:t>SVR and a 4-layer net cannot map text to a large spectrogram</a:t>
            </a:r>
            <a:endParaRPr lang="en-US" sz="1200" dirty="0"/>
          </a:p>
        </p:txBody>
      </p:sp>
      <p:sp>
        <p:nvSpPr>
          <p:cNvPr id="14" name="Cause 2 fix"/>
          <p:cNvSpPr txBox="1"/>
          <p:nvPr/>
        </p:nvSpPr>
        <p:spPr>
          <a:xfrm>
            <a:off x="4846320" y="2240280"/>
            <a:ext cx="3657600" cy="411480"/>
          </a:xfrm>
          <a:prstGeom prst="rect">
            <a:avLst/>
          </a:prstGeom>
          <a:noFill/>
          <a:ln/>
        </p:spPr>
        <p:txBody>
          <a:bodyPr wrap="square" lIns="0" tIns="0" rIns="0" bIns="0" rtlCol="0" anchor="t"/>
          <a:lstStyle/>
          <a:p>
            <a:pPr indent="0" marL="0">
              <a:buNone/>
            </a:pPr>
            <a:r>
              <a:rPr lang="en-US" sz="1300" b="1" dirty="0">
                <a:solidFill>
                  <a:schemeClr val="accent1"/>
                </a:solidFill>
              </a:rPr>
              <a:t>Our fix: </a:t>
            </a:r>
            <a:pPr indent="0" marL="0">
              <a:buNone/>
            </a:pPr>
            <a:r>
              <a:rPr lang="en-US" sz="1300" dirty="0">
                <a:solidFill>
                  <a:schemeClr val="tx1"/>
                </a:solidFill>
              </a:rPr>
              <a:t>Deep seq2seq: conv + BiLSTM encoder, LSTM decoder, post-net</a:t>
            </a:r>
            <a:endParaRPr lang="en-US" sz="1300" dirty="0"/>
          </a:p>
        </p:txBody>
      </p:sp>
      <p:sp>
        <p:nvSpPr>
          <p:cNvPr id="15" name="Cause card 3"/>
          <p:cNvSpPr/>
          <p:nvPr/>
        </p:nvSpPr>
        <p:spPr>
          <a:xfrm>
            <a:off x="457200" y="2926080"/>
            <a:ext cx="4023360" cy="1600200"/>
          </a:xfrm>
          <a:prstGeom prst="roundRect">
            <a:avLst>
              <a:gd name="adj" fmla="val 4571"/>
            </a:avLst>
          </a:prstGeom>
          <a:solidFill>
            <a:schemeClr val="bg2"/>
          </a:solidFill>
          <a:ln w="12700">
            <a:solidFill>
              <a:schemeClr val="bg2"/>
            </a:solidFill>
            <a:prstDash val="solid"/>
          </a:ln>
        </p:spPr>
      </p:sp>
      <p:sp>
        <p:nvSpPr>
          <p:cNvPr id="16" name="Cause 3 circle"/>
          <p:cNvSpPr/>
          <p:nvPr/>
        </p:nvSpPr>
        <p:spPr>
          <a:xfrm>
            <a:off x="640080" y="3108960"/>
            <a:ext cx="384048" cy="384048"/>
          </a:xfrm>
          <a:prstGeom prst="ellipse">
            <a:avLst/>
          </a:prstGeom>
          <a:solidFill>
            <a:schemeClr val="accent2"/>
          </a:solidFill>
          <a:ln w="12700">
            <a:solidFill>
              <a:schemeClr val="accent2"/>
            </a:solidFill>
            <a:prstDash val="solid"/>
          </a:ln>
        </p:spPr>
      </p:sp>
      <p:sp>
        <p:nvSpPr>
          <p:cNvPr id="17" name="Cause 3 label"/>
          <p:cNvSpPr txBox="1"/>
          <p:nvPr/>
        </p:nvSpPr>
        <p:spPr>
          <a:xfrm>
            <a:off x="640080" y="310896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8" name="Cause 3 title"/>
          <p:cNvSpPr txBox="1"/>
          <p:nvPr/>
        </p:nvSpPr>
        <p:spPr>
          <a:xfrm>
            <a:off x="1143000" y="3108960"/>
            <a:ext cx="3154680" cy="384048"/>
          </a:xfrm>
          <a:prstGeom prst="rect">
            <a:avLst/>
          </a:prstGeom>
          <a:noFill/>
          <a:ln/>
        </p:spPr>
        <p:txBody>
          <a:bodyPr wrap="square" lIns="0" tIns="0" rIns="0" bIns="0" rtlCol="0" anchor="ctr"/>
          <a:lstStyle/>
          <a:p>
            <a:pPr indent="0" marL="0">
              <a:buNone/>
            </a:pPr>
            <a:r>
              <a:rPr lang="en-US" sz="1600" b="1" dirty="0">
                <a:solidFill>
                  <a:schemeClr val="tx1"/>
                </a:solidFill>
              </a:rPr>
              <a:t>Random text mapping</a:t>
            </a:r>
            <a:endParaRPr lang="en-US" sz="1600" dirty="0"/>
          </a:p>
        </p:txBody>
      </p:sp>
      <p:sp>
        <p:nvSpPr>
          <p:cNvPr id="19" name="Cause 3 problem"/>
          <p:cNvSpPr txBox="1"/>
          <p:nvPr/>
        </p:nvSpPr>
        <p:spPr>
          <a:xfrm>
            <a:off x="640080" y="3584448"/>
            <a:ext cx="3657600" cy="411480"/>
          </a:xfrm>
          <a:prstGeom prst="rect">
            <a:avLst/>
          </a:prstGeom>
          <a:noFill/>
          <a:ln/>
        </p:spPr>
        <p:txBody>
          <a:bodyPr wrap="square" lIns="0" tIns="0" rIns="0" bIns="0" rtlCol="0" anchor="t"/>
          <a:lstStyle/>
          <a:p>
            <a:pPr indent="0" marL="0">
              <a:buNone/>
            </a:pPr>
            <a:r>
              <a:rPr lang="en-US" sz="1200" dirty="0">
                <a:solidFill>
                  <a:schemeClr val="accent6"/>
                </a:solidFill>
              </a:rPr>
              <a:t>The same word got different inputs on each run</a:t>
            </a:r>
            <a:endParaRPr lang="en-US" sz="1200" dirty="0"/>
          </a:p>
        </p:txBody>
      </p:sp>
      <p:sp>
        <p:nvSpPr>
          <p:cNvPr id="20" name="Cause 3 fix"/>
          <p:cNvSpPr txBox="1"/>
          <p:nvPr/>
        </p:nvSpPr>
        <p:spPr>
          <a:xfrm>
            <a:off x="640080" y="4023360"/>
            <a:ext cx="3657600" cy="411480"/>
          </a:xfrm>
          <a:prstGeom prst="rect">
            <a:avLst/>
          </a:prstGeom>
          <a:noFill/>
          <a:ln/>
        </p:spPr>
        <p:txBody>
          <a:bodyPr wrap="square" lIns="0" tIns="0" rIns="0" bIns="0" rtlCol="0" anchor="t"/>
          <a:lstStyle/>
          <a:p>
            <a:pPr indent="0" marL="0">
              <a:buNone/>
            </a:pPr>
            <a:r>
              <a:rPr lang="en-US" sz="1300" b="1" dirty="0">
                <a:solidFill>
                  <a:schemeClr val="accent1"/>
                </a:solidFill>
              </a:rPr>
              <a:t>Our fix: </a:t>
            </a:r>
            <a:pPr indent="0" marL="0">
              <a:buNone/>
            </a:pPr>
            <a:r>
              <a:rPr lang="en-US" sz="1300" dirty="0">
                <a:solidFill>
                  <a:schemeClr val="tx1"/>
                </a:solidFill>
              </a:rPr>
              <a:t>Text cleaning plus a fixed 37-symbol character vocabulary</a:t>
            </a:r>
            <a:endParaRPr lang="en-US" sz="1300" dirty="0"/>
          </a:p>
        </p:txBody>
      </p:sp>
      <p:sp>
        <p:nvSpPr>
          <p:cNvPr id="21" name="Cause card 4"/>
          <p:cNvSpPr/>
          <p:nvPr/>
        </p:nvSpPr>
        <p:spPr>
          <a:xfrm>
            <a:off x="4663440" y="2926080"/>
            <a:ext cx="4023360" cy="1600200"/>
          </a:xfrm>
          <a:prstGeom prst="roundRect">
            <a:avLst>
              <a:gd name="adj" fmla="val 4571"/>
            </a:avLst>
          </a:prstGeom>
          <a:solidFill>
            <a:schemeClr val="bg2"/>
          </a:solidFill>
          <a:ln w="12700">
            <a:solidFill>
              <a:schemeClr val="bg2"/>
            </a:solidFill>
            <a:prstDash val="solid"/>
          </a:ln>
        </p:spPr>
      </p:sp>
      <p:sp>
        <p:nvSpPr>
          <p:cNvPr id="22" name="Cause 4 circle"/>
          <p:cNvSpPr/>
          <p:nvPr/>
        </p:nvSpPr>
        <p:spPr>
          <a:xfrm>
            <a:off x="4846320" y="3108960"/>
            <a:ext cx="384048" cy="384048"/>
          </a:xfrm>
          <a:prstGeom prst="ellipse">
            <a:avLst/>
          </a:prstGeom>
          <a:solidFill>
            <a:schemeClr val="accent2"/>
          </a:solidFill>
          <a:ln w="12700">
            <a:solidFill>
              <a:schemeClr val="accent2"/>
            </a:solidFill>
            <a:prstDash val="solid"/>
          </a:ln>
        </p:spPr>
      </p:sp>
      <p:sp>
        <p:nvSpPr>
          <p:cNvPr id="23" name="Cause 4 label"/>
          <p:cNvSpPr txBox="1"/>
          <p:nvPr/>
        </p:nvSpPr>
        <p:spPr>
          <a:xfrm>
            <a:off x="4846320" y="310896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4" name="Cause 4 title"/>
          <p:cNvSpPr txBox="1"/>
          <p:nvPr/>
        </p:nvSpPr>
        <p:spPr>
          <a:xfrm>
            <a:off x="5349240" y="3108960"/>
            <a:ext cx="3154680" cy="384048"/>
          </a:xfrm>
          <a:prstGeom prst="rect">
            <a:avLst/>
          </a:prstGeom>
          <a:noFill/>
          <a:ln/>
        </p:spPr>
        <p:txBody>
          <a:bodyPr wrap="square" lIns="0" tIns="0" rIns="0" bIns="0" rtlCol="0" anchor="ctr"/>
          <a:lstStyle/>
          <a:p>
            <a:pPr indent="0" marL="0">
              <a:buNone/>
            </a:pPr>
            <a:r>
              <a:rPr lang="en-US" sz="1600" b="1" dirty="0">
                <a:solidFill>
                  <a:schemeClr val="tx1"/>
                </a:solidFill>
              </a:rPr>
              <a:t>Attention never aligned</a:t>
            </a:r>
            <a:endParaRPr lang="en-US" sz="1600" dirty="0"/>
          </a:p>
        </p:txBody>
      </p:sp>
      <p:sp>
        <p:nvSpPr>
          <p:cNvPr id="25" name="Cause 4 problem"/>
          <p:cNvSpPr txBox="1"/>
          <p:nvPr/>
        </p:nvSpPr>
        <p:spPr>
          <a:xfrm>
            <a:off x="4846320" y="3584448"/>
            <a:ext cx="3657600" cy="411480"/>
          </a:xfrm>
          <a:prstGeom prst="rect">
            <a:avLst/>
          </a:prstGeom>
          <a:noFill/>
          <a:ln/>
        </p:spPr>
        <p:txBody>
          <a:bodyPr wrap="square" lIns="0" tIns="0" rIns="0" bIns="0" rtlCol="0" anchor="t"/>
          <a:lstStyle/>
          <a:p>
            <a:pPr indent="0" marL="0">
              <a:buNone/>
            </a:pPr>
            <a:r>
              <a:rPr lang="en-US" sz="1200" dirty="0">
                <a:solidFill>
                  <a:schemeClr val="accent6"/>
                </a:solidFill>
              </a:rPr>
              <a:t>The decoder lost its place, so words repeated</a:t>
            </a:r>
            <a:endParaRPr lang="en-US" sz="1200" dirty="0"/>
          </a:p>
        </p:txBody>
      </p:sp>
      <p:sp>
        <p:nvSpPr>
          <p:cNvPr id="26" name="Cause 4 fix"/>
          <p:cNvSpPr txBox="1"/>
          <p:nvPr/>
        </p:nvSpPr>
        <p:spPr>
          <a:xfrm>
            <a:off x="4846320" y="4023360"/>
            <a:ext cx="3657600" cy="411480"/>
          </a:xfrm>
          <a:prstGeom prst="rect">
            <a:avLst/>
          </a:prstGeom>
          <a:noFill/>
          <a:ln/>
        </p:spPr>
        <p:txBody>
          <a:bodyPr wrap="square" lIns="0" tIns="0" rIns="0" bIns="0" rtlCol="0" anchor="t"/>
          <a:lstStyle/>
          <a:p>
            <a:pPr indent="0" marL="0">
              <a:buNone/>
            </a:pPr>
            <a:r>
              <a:rPr lang="en-US" sz="1300" b="1" dirty="0">
                <a:solidFill>
                  <a:schemeClr val="accent1"/>
                </a:solidFill>
              </a:rPr>
              <a:t>Our fix: </a:t>
            </a:r>
            <a:pPr indent="0" marL="0">
              <a:buNone/>
            </a:pPr>
            <a:r>
              <a:rPr lang="en-US" sz="1300" dirty="0">
                <a:solidFill>
                  <a:schemeClr val="tx1"/>
                </a:solidFill>
              </a:rPr>
              <a:t>Location-sensitive attention + guided attention loss</a:t>
            </a:r>
            <a:endParaRPr lang="en-US" sz="13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chemeClr val="tx2"/>
                </a:solidFill>
                <a:latin typeface="Arial" pitchFamily="34" charset="0"/>
                <a:ea typeface="Arial" pitchFamily="34" charset="-122"/>
                <a:cs typeface="Arial" pitchFamily="34" charset="-120"/>
              </a:rPr>
              <a:t>Our pipeline</a:t>
            </a:r>
            <a:endParaRPr lang="en-US" sz="3000" dirty="0"/>
          </a:p>
        </p:txBody>
      </p:sp>
      <p:sp>
        <p:nvSpPr>
          <p:cNvPr id="3" name="Stage 1"/>
          <p:cNvSpPr/>
          <p:nvPr/>
        </p:nvSpPr>
        <p:spPr>
          <a:xfrm>
            <a:off x="457200" y="1463040"/>
            <a:ext cx="1234440" cy="914400"/>
          </a:xfrm>
          <a:prstGeom prst="roundRect">
            <a:avLst>
              <a:gd name="adj" fmla="val 8000"/>
            </a:avLst>
          </a:prstGeom>
          <a:solidFill>
            <a:schemeClr val="bg1"/>
          </a:solidFill>
          <a:ln w="15875">
            <a:solidFill>
              <a:srgbClr val="A8A2C2"/>
            </a:solidFill>
            <a:prstDash val="solid"/>
          </a:ln>
        </p:spPr>
      </p:sp>
      <p:sp>
        <p:nvSpPr>
          <p:cNvPr id="4" name="Stage 1 name"/>
          <p:cNvSpPr txBox="1"/>
          <p:nvPr/>
        </p:nvSpPr>
        <p:spPr>
          <a:xfrm>
            <a:off x="457200" y="1463040"/>
            <a:ext cx="1234440" cy="914400"/>
          </a:xfrm>
          <a:prstGeom prst="rect">
            <a:avLst/>
          </a:prstGeom>
          <a:noFill/>
          <a:ln/>
        </p:spPr>
        <p:txBody>
          <a:bodyPr wrap="square" lIns="0" tIns="0" rIns="0" bIns="0" rtlCol="0" anchor="ctr"/>
          <a:lstStyle/>
          <a:p>
            <a:pPr algn="ctr" indent="0" marL="0">
              <a:buNone/>
            </a:pPr>
            <a:r>
              <a:rPr lang="en-US" sz="1400" b="1" dirty="0">
                <a:solidFill>
                  <a:schemeClr val="tx1"/>
                </a:solidFill>
              </a:rPr>
              <a:t>Text</a:t>
            </a:r>
            <a:endParaRPr lang="en-US" sz="1400" dirty="0"/>
          </a:p>
        </p:txBody>
      </p:sp>
      <p:sp>
        <p:nvSpPr>
          <p:cNvPr id="5" name="Stage 1 detail"/>
          <p:cNvSpPr txBox="1"/>
          <p:nvPr/>
        </p:nvSpPr>
        <p:spPr>
          <a:xfrm>
            <a:off x="457200" y="2487168"/>
            <a:ext cx="1234440" cy="777240"/>
          </a:xfrm>
          <a:prstGeom prst="rect">
            <a:avLst/>
          </a:prstGeom>
          <a:noFill/>
          <a:ln/>
        </p:spPr>
        <p:txBody>
          <a:bodyPr wrap="square" lIns="0" tIns="0" rIns="0" bIns="0" rtlCol="0" anchor="t"/>
          <a:lstStyle/>
          <a:p>
            <a:pPr algn="ctr" indent="0" marL="0">
              <a:buNone/>
            </a:pPr>
            <a:r>
              <a:rPr lang="en-US" sz="1100" dirty="0">
                <a:solidFill>
                  <a:schemeClr val="accent6"/>
                </a:solidFill>
              </a:rPr>
              <a:t>typed sentence</a:t>
            </a:r>
            <a:endParaRPr lang="en-US" sz="1100" dirty="0"/>
          </a:p>
        </p:txBody>
      </p:sp>
      <p:sp>
        <p:nvSpPr>
          <p:cNvPr id="6" name="Arrow 1"/>
          <p:cNvSpPr/>
          <p:nvPr/>
        </p:nvSpPr>
        <p:spPr>
          <a:xfrm>
            <a:off x="1728216" y="1810512"/>
            <a:ext cx="91440" cy="219456"/>
          </a:xfrm>
          <a:prstGeom prst="chevron">
            <a:avLst/>
          </a:prstGeom>
          <a:solidFill>
            <a:srgbClr val="6E6A85"/>
          </a:solidFill>
          <a:ln w="12700">
            <a:solidFill>
              <a:srgbClr val="6E6A85"/>
            </a:solidFill>
            <a:prstDash val="solid"/>
          </a:ln>
        </p:spPr>
      </p:sp>
      <p:sp>
        <p:nvSpPr>
          <p:cNvPr id="7" name="Stage 2"/>
          <p:cNvSpPr/>
          <p:nvPr/>
        </p:nvSpPr>
        <p:spPr>
          <a:xfrm>
            <a:off x="1856232" y="1463040"/>
            <a:ext cx="1234440" cy="914400"/>
          </a:xfrm>
          <a:prstGeom prst="roundRect">
            <a:avLst>
              <a:gd name="adj" fmla="val 8000"/>
            </a:avLst>
          </a:prstGeom>
          <a:solidFill>
            <a:schemeClr val="accent1"/>
          </a:solidFill>
          <a:ln w="12700">
            <a:solidFill>
              <a:schemeClr val="accent1"/>
            </a:solidFill>
            <a:prstDash val="solid"/>
          </a:ln>
        </p:spPr>
      </p:sp>
      <p:sp>
        <p:nvSpPr>
          <p:cNvPr id="8" name="Stage 2 name"/>
          <p:cNvSpPr txBox="1"/>
          <p:nvPr/>
        </p:nvSpPr>
        <p:spPr>
          <a:xfrm>
            <a:off x="1856232" y="1463040"/>
            <a:ext cx="1234440" cy="914400"/>
          </a:xfrm>
          <a:prstGeom prst="rect">
            <a:avLst/>
          </a:prstGeom>
          <a:noFill/>
          <a:ln/>
        </p:spPr>
        <p:txBody>
          <a:bodyPr wrap="square" lIns="0" tIns="0" rIns="0" bIns="0" rtlCol="0" anchor="ctr"/>
          <a:lstStyle/>
          <a:p>
            <a:pPr algn="ctr" indent="0" marL="0">
              <a:buNone/>
            </a:pPr>
            <a:r>
              <a:rPr lang="en-US" sz="1400" b="1" dirty="0">
                <a:solidFill>
                  <a:schemeClr val="bg1"/>
                </a:solidFill>
              </a:rPr>
              <a:t>Cleaning</a:t>
            </a:r>
            <a:endParaRPr lang="en-US" sz="1400" dirty="0"/>
          </a:p>
        </p:txBody>
      </p:sp>
      <p:sp>
        <p:nvSpPr>
          <p:cNvPr id="9" name="Stage 2 detail"/>
          <p:cNvSpPr txBox="1"/>
          <p:nvPr/>
        </p:nvSpPr>
        <p:spPr>
          <a:xfrm>
            <a:off x="1856232" y="2487168"/>
            <a:ext cx="1234440" cy="777240"/>
          </a:xfrm>
          <a:prstGeom prst="rect">
            <a:avLst/>
          </a:prstGeom>
          <a:noFill/>
          <a:ln/>
        </p:spPr>
        <p:txBody>
          <a:bodyPr wrap="square" lIns="0" tIns="0" rIns="0" bIns="0" rtlCol="0" anchor="t"/>
          <a:lstStyle/>
          <a:p>
            <a:pPr algn="ctr" indent="0" marL="0">
              <a:buNone/>
            </a:pPr>
            <a:r>
              <a:rPr lang="en-US" sz="1100" dirty="0">
                <a:solidFill>
                  <a:schemeClr val="accent6"/>
                </a:solidFill>
              </a:rPr>
              <a:t>numbers, abbreviations, fixed character ids</a:t>
            </a:r>
            <a:endParaRPr lang="en-US" sz="1100" dirty="0"/>
          </a:p>
        </p:txBody>
      </p:sp>
      <p:sp>
        <p:nvSpPr>
          <p:cNvPr id="10" name="Arrow 2"/>
          <p:cNvSpPr/>
          <p:nvPr/>
        </p:nvSpPr>
        <p:spPr>
          <a:xfrm>
            <a:off x="3127248" y="1810512"/>
            <a:ext cx="91440" cy="219456"/>
          </a:xfrm>
          <a:prstGeom prst="chevron">
            <a:avLst/>
          </a:prstGeom>
          <a:solidFill>
            <a:srgbClr val="6E6A85"/>
          </a:solidFill>
          <a:ln w="12700">
            <a:solidFill>
              <a:srgbClr val="6E6A85"/>
            </a:solidFill>
            <a:prstDash val="solid"/>
          </a:ln>
        </p:spPr>
      </p:sp>
      <p:sp>
        <p:nvSpPr>
          <p:cNvPr id="11" name="Stage 3"/>
          <p:cNvSpPr/>
          <p:nvPr/>
        </p:nvSpPr>
        <p:spPr>
          <a:xfrm>
            <a:off x="3255264" y="1463040"/>
            <a:ext cx="1234440" cy="914400"/>
          </a:xfrm>
          <a:prstGeom prst="roundRect">
            <a:avLst>
              <a:gd name="adj" fmla="val 8000"/>
            </a:avLst>
          </a:prstGeom>
          <a:solidFill>
            <a:schemeClr val="accent4"/>
          </a:solidFill>
          <a:ln w="12700">
            <a:solidFill>
              <a:schemeClr val="accent4"/>
            </a:solidFill>
            <a:prstDash val="solid"/>
          </a:ln>
        </p:spPr>
      </p:sp>
      <p:sp>
        <p:nvSpPr>
          <p:cNvPr id="12" name="Stage 3 name"/>
          <p:cNvSpPr txBox="1"/>
          <p:nvPr/>
        </p:nvSpPr>
        <p:spPr>
          <a:xfrm>
            <a:off x="3255264" y="1463040"/>
            <a:ext cx="1234440" cy="914400"/>
          </a:xfrm>
          <a:prstGeom prst="rect">
            <a:avLst/>
          </a:prstGeom>
          <a:noFill/>
          <a:ln/>
        </p:spPr>
        <p:txBody>
          <a:bodyPr wrap="square" lIns="0" tIns="0" rIns="0" bIns="0" rtlCol="0" anchor="ctr"/>
          <a:lstStyle/>
          <a:p>
            <a:pPr algn="ctr" indent="0" marL="0">
              <a:buNone/>
            </a:pPr>
            <a:r>
              <a:rPr lang="en-US" sz="1400" b="1" dirty="0">
                <a:solidFill>
                  <a:schemeClr val="bg1"/>
                </a:solidFill>
              </a:rPr>
              <a:t>Acoustic model</a:t>
            </a:r>
            <a:endParaRPr lang="en-US" sz="1400" dirty="0"/>
          </a:p>
        </p:txBody>
      </p:sp>
      <p:sp>
        <p:nvSpPr>
          <p:cNvPr id="13" name="Stage 3 detail"/>
          <p:cNvSpPr txBox="1"/>
          <p:nvPr/>
        </p:nvSpPr>
        <p:spPr>
          <a:xfrm>
            <a:off x="3255264" y="2487168"/>
            <a:ext cx="1234440" cy="777240"/>
          </a:xfrm>
          <a:prstGeom prst="rect">
            <a:avLst/>
          </a:prstGeom>
          <a:noFill/>
          <a:ln/>
        </p:spPr>
        <p:txBody>
          <a:bodyPr wrap="square" lIns="0" tIns="0" rIns="0" bIns="0" rtlCol="0" anchor="t"/>
          <a:lstStyle/>
          <a:p>
            <a:pPr algn="ctr" indent="0" marL="0">
              <a:buNone/>
            </a:pPr>
            <a:r>
              <a:rPr lang="en-US" sz="1100" dirty="0">
                <a:solidFill>
                  <a:schemeClr val="accent6"/>
                </a:solidFill>
              </a:rPr>
              <a:t>Colatron (ours), baseline (ours) or Tacotron 2 (reference)</a:t>
            </a:r>
            <a:endParaRPr lang="en-US" sz="1100" dirty="0"/>
          </a:p>
        </p:txBody>
      </p:sp>
      <p:sp>
        <p:nvSpPr>
          <p:cNvPr id="14" name="Arrow 3"/>
          <p:cNvSpPr/>
          <p:nvPr/>
        </p:nvSpPr>
        <p:spPr>
          <a:xfrm>
            <a:off x="4526280" y="1810512"/>
            <a:ext cx="91440" cy="219456"/>
          </a:xfrm>
          <a:prstGeom prst="chevron">
            <a:avLst/>
          </a:prstGeom>
          <a:solidFill>
            <a:srgbClr val="6E6A85"/>
          </a:solidFill>
          <a:ln w="12700">
            <a:solidFill>
              <a:srgbClr val="6E6A85"/>
            </a:solidFill>
            <a:prstDash val="solid"/>
          </a:ln>
        </p:spPr>
      </p:sp>
      <p:sp>
        <p:nvSpPr>
          <p:cNvPr id="15" name="Stage 4"/>
          <p:cNvSpPr/>
          <p:nvPr/>
        </p:nvSpPr>
        <p:spPr>
          <a:xfrm>
            <a:off x="4654296" y="1463040"/>
            <a:ext cx="1234440" cy="914400"/>
          </a:xfrm>
          <a:prstGeom prst="roundRect">
            <a:avLst>
              <a:gd name="adj" fmla="val 8000"/>
            </a:avLst>
          </a:prstGeom>
          <a:solidFill>
            <a:schemeClr val="bg1"/>
          </a:solidFill>
          <a:ln w="15875">
            <a:solidFill>
              <a:srgbClr val="A8A2C2"/>
            </a:solidFill>
            <a:prstDash val="solid"/>
          </a:ln>
        </p:spPr>
      </p:sp>
      <p:sp>
        <p:nvSpPr>
          <p:cNvPr id="16" name="Stage 4 name"/>
          <p:cNvSpPr txBox="1"/>
          <p:nvPr/>
        </p:nvSpPr>
        <p:spPr>
          <a:xfrm>
            <a:off x="4654296" y="1463040"/>
            <a:ext cx="1234440" cy="914400"/>
          </a:xfrm>
          <a:prstGeom prst="rect">
            <a:avLst/>
          </a:prstGeom>
          <a:noFill/>
          <a:ln/>
        </p:spPr>
        <p:txBody>
          <a:bodyPr wrap="square" lIns="0" tIns="0" rIns="0" bIns="0" rtlCol="0" anchor="ctr"/>
          <a:lstStyle/>
          <a:p>
            <a:pPr algn="ctr" indent="0" marL="0">
              <a:buNone/>
            </a:pPr>
            <a:r>
              <a:rPr lang="en-US" sz="1400" b="1" dirty="0">
                <a:solidFill>
                  <a:schemeClr val="tx1"/>
                </a:solidFill>
              </a:rPr>
              <a:t>Mel spectrogram</a:t>
            </a:r>
            <a:endParaRPr lang="en-US" sz="1400" dirty="0"/>
          </a:p>
        </p:txBody>
      </p:sp>
      <p:sp>
        <p:nvSpPr>
          <p:cNvPr id="17" name="Stage 4 detail"/>
          <p:cNvSpPr txBox="1"/>
          <p:nvPr/>
        </p:nvSpPr>
        <p:spPr>
          <a:xfrm>
            <a:off x="4654296" y="2487168"/>
            <a:ext cx="1234440" cy="777240"/>
          </a:xfrm>
          <a:prstGeom prst="rect">
            <a:avLst/>
          </a:prstGeom>
          <a:noFill/>
          <a:ln/>
        </p:spPr>
        <p:txBody>
          <a:bodyPr wrap="square" lIns="0" tIns="0" rIns="0" bIns="0" rtlCol="0" anchor="t"/>
          <a:lstStyle/>
          <a:p>
            <a:pPr algn="ctr" indent="0" marL="0">
              <a:buNone/>
            </a:pPr>
            <a:r>
              <a:rPr lang="en-US" sz="1100" dirty="0">
                <a:solidFill>
                  <a:schemeClr val="accent6"/>
                </a:solidFill>
              </a:rPr>
              <a:t>80 bands, 256-sample hop</a:t>
            </a:r>
            <a:endParaRPr lang="en-US" sz="1100" dirty="0"/>
          </a:p>
        </p:txBody>
      </p:sp>
      <p:sp>
        <p:nvSpPr>
          <p:cNvPr id="18" name="Arrow 4"/>
          <p:cNvSpPr/>
          <p:nvPr/>
        </p:nvSpPr>
        <p:spPr>
          <a:xfrm>
            <a:off x="5925312" y="1810512"/>
            <a:ext cx="91440" cy="219456"/>
          </a:xfrm>
          <a:prstGeom prst="chevron">
            <a:avLst/>
          </a:prstGeom>
          <a:solidFill>
            <a:srgbClr val="6E6A85"/>
          </a:solidFill>
          <a:ln w="12700">
            <a:solidFill>
              <a:srgbClr val="6E6A85"/>
            </a:solidFill>
            <a:prstDash val="solid"/>
          </a:ln>
        </p:spPr>
      </p:sp>
      <p:sp>
        <p:nvSpPr>
          <p:cNvPr id="19" name="Stage 5"/>
          <p:cNvSpPr/>
          <p:nvPr/>
        </p:nvSpPr>
        <p:spPr>
          <a:xfrm>
            <a:off x="6053328" y="1463040"/>
            <a:ext cx="1234440" cy="914400"/>
          </a:xfrm>
          <a:prstGeom prst="roundRect">
            <a:avLst>
              <a:gd name="adj" fmla="val 8000"/>
            </a:avLst>
          </a:prstGeom>
          <a:solidFill>
            <a:schemeClr val="accent4"/>
          </a:solidFill>
          <a:ln w="12700">
            <a:solidFill>
              <a:schemeClr val="accent4"/>
            </a:solidFill>
            <a:prstDash val="solid"/>
          </a:ln>
        </p:spPr>
      </p:sp>
      <p:sp>
        <p:nvSpPr>
          <p:cNvPr id="20" name="Stage 5 name"/>
          <p:cNvSpPr txBox="1"/>
          <p:nvPr/>
        </p:nvSpPr>
        <p:spPr>
          <a:xfrm>
            <a:off x="6053328" y="1463040"/>
            <a:ext cx="1234440" cy="914400"/>
          </a:xfrm>
          <a:prstGeom prst="rect">
            <a:avLst/>
          </a:prstGeom>
          <a:noFill/>
          <a:ln/>
        </p:spPr>
        <p:txBody>
          <a:bodyPr wrap="square" lIns="0" tIns="0" rIns="0" bIns="0" rtlCol="0" anchor="ctr"/>
          <a:lstStyle/>
          <a:p>
            <a:pPr algn="ctr" indent="0" marL="0">
              <a:buNone/>
            </a:pPr>
            <a:r>
              <a:rPr lang="en-US" sz="1400" b="1" dirty="0">
                <a:solidFill>
                  <a:schemeClr val="bg1"/>
                </a:solidFill>
              </a:rPr>
              <a:t>Vocoder</a:t>
            </a:r>
            <a:endParaRPr lang="en-US" sz="1400" dirty="0"/>
          </a:p>
        </p:txBody>
      </p:sp>
      <p:sp>
        <p:nvSpPr>
          <p:cNvPr id="21" name="Stage 5 detail"/>
          <p:cNvSpPr txBox="1"/>
          <p:nvPr/>
        </p:nvSpPr>
        <p:spPr>
          <a:xfrm>
            <a:off x="6053328" y="2487168"/>
            <a:ext cx="1234440" cy="777240"/>
          </a:xfrm>
          <a:prstGeom prst="rect">
            <a:avLst/>
          </a:prstGeom>
          <a:noFill/>
          <a:ln/>
        </p:spPr>
        <p:txBody>
          <a:bodyPr wrap="square" lIns="0" tIns="0" rIns="0" bIns="0" rtlCol="0" anchor="t"/>
          <a:lstStyle/>
          <a:p>
            <a:pPr algn="ctr" indent="0" marL="0">
              <a:buNone/>
            </a:pPr>
            <a:r>
              <a:rPr lang="en-US" sz="1100" dirty="0">
                <a:solidFill>
                  <a:schemeClr val="accent6"/>
                </a:solidFill>
              </a:rPr>
              <a:t>Griffin-Lim (ours) or HiFi-GAN (pretrained)</a:t>
            </a:r>
            <a:endParaRPr lang="en-US" sz="1100" dirty="0"/>
          </a:p>
        </p:txBody>
      </p:sp>
      <p:sp>
        <p:nvSpPr>
          <p:cNvPr id="22" name="Arrow 5"/>
          <p:cNvSpPr/>
          <p:nvPr/>
        </p:nvSpPr>
        <p:spPr>
          <a:xfrm>
            <a:off x="7324344" y="1810512"/>
            <a:ext cx="91440" cy="219456"/>
          </a:xfrm>
          <a:prstGeom prst="chevron">
            <a:avLst/>
          </a:prstGeom>
          <a:solidFill>
            <a:srgbClr val="6E6A85"/>
          </a:solidFill>
          <a:ln w="12700">
            <a:solidFill>
              <a:srgbClr val="6E6A85"/>
            </a:solidFill>
            <a:prstDash val="solid"/>
          </a:ln>
        </p:spPr>
      </p:sp>
      <p:sp>
        <p:nvSpPr>
          <p:cNvPr id="23" name="Stage 6"/>
          <p:cNvSpPr/>
          <p:nvPr/>
        </p:nvSpPr>
        <p:spPr>
          <a:xfrm>
            <a:off x="7452360" y="1463040"/>
            <a:ext cx="1234440" cy="914400"/>
          </a:xfrm>
          <a:prstGeom prst="roundRect">
            <a:avLst>
              <a:gd name="adj" fmla="val 8000"/>
            </a:avLst>
          </a:prstGeom>
          <a:solidFill>
            <a:schemeClr val="bg1"/>
          </a:solidFill>
          <a:ln w="15875">
            <a:solidFill>
              <a:srgbClr val="A8A2C2"/>
            </a:solidFill>
            <a:prstDash val="solid"/>
          </a:ln>
        </p:spPr>
      </p:sp>
      <p:sp>
        <p:nvSpPr>
          <p:cNvPr id="24" name="Stage 6 name"/>
          <p:cNvSpPr txBox="1"/>
          <p:nvPr/>
        </p:nvSpPr>
        <p:spPr>
          <a:xfrm>
            <a:off x="7452360" y="1463040"/>
            <a:ext cx="1234440" cy="914400"/>
          </a:xfrm>
          <a:prstGeom prst="rect">
            <a:avLst/>
          </a:prstGeom>
          <a:noFill/>
          <a:ln/>
        </p:spPr>
        <p:txBody>
          <a:bodyPr wrap="square" lIns="0" tIns="0" rIns="0" bIns="0" rtlCol="0" anchor="ctr"/>
          <a:lstStyle/>
          <a:p>
            <a:pPr algn="ctr" indent="0" marL="0">
              <a:buNone/>
            </a:pPr>
            <a:r>
              <a:rPr lang="en-US" sz="1400" b="1" dirty="0">
                <a:solidFill>
                  <a:schemeClr val="tx1"/>
                </a:solidFill>
              </a:rPr>
              <a:t>.wav</a:t>
            </a:r>
            <a:endParaRPr lang="en-US" sz="1400" dirty="0"/>
          </a:p>
        </p:txBody>
      </p:sp>
      <p:sp>
        <p:nvSpPr>
          <p:cNvPr id="25" name="Stage 6 detail"/>
          <p:cNvSpPr txBox="1"/>
          <p:nvPr/>
        </p:nvSpPr>
        <p:spPr>
          <a:xfrm>
            <a:off x="7452360" y="2487168"/>
            <a:ext cx="1234440" cy="777240"/>
          </a:xfrm>
          <a:prstGeom prst="rect">
            <a:avLst/>
          </a:prstGeom>
          <a:noFill/>
          <a:ln/>
        </p:spPr>
        <p:txBody>
          <a:bodyPr wrap="square" lIns="0" tIns="0" rIns="0" bIns="0" rtlCol="0" anchor="t"/>
          <a:lstStyle/>
          <a:p>
            <a:pPr algn="ctr" indent="0" marL="0">
              <a:buNone/>
            </a:pPr>
            <a:r>
              <a:rPr lang="en-US" sz="1100" dirty="0">
                <a:solidFill>
                  <a:schemeClr val="accent6"/>
                </a:solidFill>
              </a:rPr>
              <a:t>22,050 Hz audio</a:t>
            </a:r>
            <a:endParaRPr lang="en-US" sz="1100" dirty="0"/>
          </a:p>
        </p:txBody>
      </p:sp>
      <p:sp>
        <p:nvSpPr>
          <p:cNvPr id="26" name="Legend swatch 1"/>
          <p:cNvSpPr/>
          <p:nvPr/>
        </p:nvSpPr>
        <p:spPr>
          <a:xfrm>
            <a:off x="457200" y="3520440"/>
            <a:ext cx="274320" cy="201168"/>
          </a:xfrm>
          <a:prstGeom prst="roundRect">
            <a:avLst>
              <a:gd name="adj" fmla="val 22727"/>
            </a:avLst>
          </a:prstGeom>
          <a:solidFill>
            <a:schemeClr val="accent1"/>
          </a:solidFill>
          <a:ln w="12700">
            <a:solidFill>
              <a:schemeClr val="accent1"/>
            </a:solidFill>
            <a:prstDash val="solid"/>
          </a:ln>
        </p:spPr>
      </p:sp>
      <p:sp>
        <p:nvSpPr>
          <p:cNvPr id="27" name="Legend label 1"/>
          <p:cNvSpPr txBox="1"/>
          <p:nvPr/>
        </p:nvSpPr>
        <p:spPr>
          <a:xfrm>
            <a:off x="822960" y="3474720"/>
            <a:ext cx="2377440" cy="292608"/>
          </a:xfrm>
          <a:prstGeom prst="rect">
            <a:avLst/>
          </a:prstGeom>
          <a:noFill/>
          <a:ln/>
        </p:spPr>
        <p:txBody>
          <a:bodyPr wrap="square" lIns="0" tIns="0" rIns="0" bIns="0" rtlCol="0" anchor="ctr"/>
          <a:lstStyle/>
          <a:p>
            <a:pPr indent="0" marL="0">
              <a:buNone/>
            </a:pPr>
            <a:r>
              <a:rPr lang="en-US" sz="1300" dirty="0">
                <a:solidFill>
                  <a:schemeClr val="tx1"/>
                </a:solidFill>
              </a:rPr>
              <a:t>Written by us</a:t>
            </a:r>
            <a:endParaRPr lang="en-US" sz="1300" dirty="0"/>
          </a:p>
        </p:txBody>
      </p:sp>
      <p:sp>
        <p:nvSpPr>
          <p:cNvPr id="28" name="Legend swatch 2"/>
          <p:cNvSpPr/>
          <p:nvPr/>
        </p:nvSpPr>
        <p:spPr>
          <a:xfrm>
            <a:off x="2834640" y="3520440"/>
            <a:ext cx="274320" cy="201168"/>
          </a:xfrm>
          <a:prstGeom prst="roundRect">
            <a:avLst>
              <a:gd name="adj" fmla="val 22727"/>
            </a:avLst>
          </a:prstGeom>
          <a:solidFill>
            <a:schemeClr val="accent4"/>
          </a:solidFill>
          <a:ln w="12700">
            <a:solidFill>
              <a:schemeClr val="accent4"/>
            </a:solidFill>
            <a:prstDash val="solid"/>
          </a:ln>
        </p:spPr>
      </p:sp>
      <p:sp>
        <p:nvSpPr>
          <p:cNvPr id="29" name="Legend label 2"/>
          <p:cNvSpPr txBox="1"/>
          <p:nvPr/>
        </p:nvSpPr>
        <p:spPr>
          <a:xfrm>
            <a:off x="3200400" y="3474720"/>
            <a:ext cx="2377440" cy="292608"/>
          </a:xfrm>
          <a:prstGeom prst="rect">
            <a:avLst/>
          </a:prstGeom>
          <a:noFill/>
          <a:ln/>
        </p:spPr>
        <p:txBody>
          <a:bodyPr wrap="square" lIns="0" tIns="0" rIns="0" bIns="0" rtlCol="0" anchor="ctr"/>
          <a:lstStyle/>
          <a:p>
            <a:pPr indent="0" marL="0">
              <a:buNone/>
            </a:pPr>
            <a:r>
              <a:rPr lang="en-US" sz="1300" dirty="0">
                <a:solidFill>
                  <a:schemeClr val="tx1"/>
                </a:solidFill>
              </a:rPr>
              <a:t>Swappable: ours or pretrained</a:t>
            </a:r>
            <a:endParaRPr lang="en-US" sz="1300" dirty="0"/>
          </a:p>
        </p:txBody>
      </p:sp>
      <p:sp>
        <p:nvSpPr>
          <p:cNvPr id="30" name="Pipeline takeaway"/>
          <p:cNvSpPr txBox="1"/>
          <p:nvPr/>
        </p:nvSpPr>
        <p:spPr>
          <a:xfrm>
            <a:off x="457200" y="3931920"/>
            <a:ext cx="8229600" cy="548640"/>
          </a:xfrm>
          <a:prstGeom prst="rect">
            <a:avLst/>
          </a:prstGeom>
          <a:noFill/>
          <a:ln/>
        </p:spPr>
        <p:txBody>
          <a:bodyPr wrap="square" lIns="0" tIns="0" rIns="0" bIns="0" rtlCol="0" anchor="ctr"/>
          <a:lstStyle/>
          <a:p>
            <a:pPr indent="0" marL="0">
              <a:buNone/>
            </a:pPr>
            <a:r>
              <a:rPr lang="en-US" sz="1400" dirty="0">
                <a:solidFill>
                  <a:schemeClr val="tx1"/>
                </a:solidFill>
              </a:rPr>
              <a:t>Every part shares one mel format (src/audio_config.py), so any acoustic model can feed any vocoder. That makes fair comparisons possible.</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chemeClr val="tx2"/>
                </a:solidFill>
                <a:latin typeface="Arial" pitchFamily="34" charset="0"/>
                <a:ea typeface="Arial" pitchFamily="34" charset="-122"/>
                <a:cs typeface="Arial" pitchFamily="34" charset="-120"/>
              </a:rPr>
              <a:t>What we built vs reused</a:t>
            </a:r>
            <a:endParaRPr lang="en-US" sz="3000" dirty="0"/>
          </a:p>
        </p:txBody>
      </p:sp>
      <p:sp>
        <p:nvSpPr>
          <p:cNvPr id="3" name="Ours card"/>
          <p:cNvSpPr/>
          <p:nvPr/>
        </p:nvSpPr>
        <p:spPr>
          <a:xfrm>
            <a:off x="457200" y="1097280"/>
            <a:ext cx="4846320" cy="3429000"/>
          </a:xfrm>
          <a:prstGeom prst="roundRect">
            <a:avLst>
              <a:gd name="adj" fmla="val 2133"/>
            </a:avLst>
          </a:prstGeom>
          <a:solidFill>
            <a:schemeClr val="bg2"/>
          </a:solidFill>
          <a:ln w="12700">
            <a:solidFill>
              <a:schemeClr val="bg2"/>
            </a:solidFill>
            <a:prstDash val="solid"/>
          </a:ln>
        </p:spPr>
      </p:sp>
      <p:sp>
        <p:nvSpPr>
          <p:cNvPr id="4" name="Ours heading"/>
          <p:cNvSpPr txBox="1"/>
          <p:nvPr/>
        </p:nvSpPr>
        <p:spPr>
          <a:xfrm>
            <a:off x="685800" y="1234440"/>
            <a:ext cx="4389120" cy="365760"/>
          </a:xfrm>
          <a:prstGeom prst="rect">
            <a:avLst/>
          </a:prstGeom>
          <a:noFill/>
          <a:ln/>
        </p:spPr>
        <p:txBody>
          <a:bodyPr wrap="square" lIns="0" tIns="0" rIns="0" bIns="0" rtlCol="0" anchor="ctr"/>
          <a:lstStyle/>
          <a:p>
            <a:pPr indent="0" marL="0">
              <a:buNone/>
            </a:pPr>
            <a:r>
              <a:rPr lang="en-US" sz="1800" b="1" dirty="0">
                <a:solidFill>
                  <a:schemeClr val="accent1"/>
                </a:solidFill>
              </a:rPr>
              <a:t>Built and trained by us</a:t>
            </a:r>
            <a:endParaRPr lang="en-US" sz="1800" dirty="0"/>
          </a:p>
        </p:txBody>
      </p:sp>
      <p:sp>
        <p:nvSpPr>
          <p:cNvPr id="5" name="Ours list"/>
          <p:cNvSpPr txBox="1"/>
          <p:nvPr/>
        </p:nvSpPr>
        <p:spPr>
          <a:xfrm>
            <a:off x="685800" y="1737360"/>
            <a:ext cx="4389120" cy="2697480"/>
          </a:xfrm>
          <a:prstGeom prst="rect">
            <a:avLst/>
          </a:prstGeom>
          <a:noFill/>
          <a:ln/>
        </p:spPr>
        <p:txBody>
          <a:bodyPr wrap="square" lIns="0" tIns="0" rIns="0" bIns="0" rtlCol="0" anchor="t"/>
          <a:lstStyle/>
          <a:p>
            <a:pPr marL="342900" indent="-342900">
              <a:spcAft>
                <a:spcPts val="900"/>
              </a:spcAft>
              <a:buSzPct val="100000"/>
              <a:buChar char="•"/>
            </a:pPr>
            <a:r>
              <a:rPr lang="en-US" sz="1400" dirty="0">
                <a:solidFill>
                  <a:schemeClr val="tx1"/>
                </a:solidFill>
              </a:rPr>
              <a:t>Colatron: seq2seq + attention, trained from scratch on 13,100 clips</a:t>
            </a:r>
            <a:endParaRPr lang="en-US" sz="1400" dirty="0"/>
          </a:p>
          <a:p>
            <a:pPr marL="342900" indent="-342900">
              <a:spcAft>
                <a:spcPts val="900"/>
              </a:spcAft>
              <a:buSzPct val="100000"/>
              <a:buChar char="•"/>
            </a:pPr>
            <a:r>
              <a:rPr lang="en-US" sz="1400" dirty="0">
                <a:solidFill>
                  <a:schemeClr val="tx1"/>
                </a:solidFill>
              </a:rPr>
              <a:t>Baseline without attention (the lower bound)</a:t>
            </a:r>
            <a:endParaRPr lang="en-US" sz="1400" dirty="0"/>
          </a:p>
          <a:p>
            <a:pPr marL="342900" indent="-342900">
              <a:spcAft>
                <a:spcPts val="900"/>
              </a:spcAft>
              <a:buSzPct val="100000"/>
              <a:buChar char="•"/>
            </a:pPr>
            <a:r>
              <a:rPr lang="en-US" sz="1400" dirty="0">
                <a:solidFill>
                  <a:schemeClr val="tx1"/>
                </a:solidFill>
              </a:rPr>
              <a:t>Data pipeline: cleaning, fixed vocabulary, mels, splits</a:t>
            </a:r>
            <a:endParaRPr lang="en-US" sz="1400" dirty="0"/>
          </a:p>
          <a:p>
            <a:pPr marL="342900" indent="-342900">
              <a:spcAft>
                <a:spcPts val="900"/>
              </a:spcAft>
              <a:buSzPct val="100000"/>
              <a:buChar char="•"/>
            </a:pPr>
            <a:r>
              <a:rPr lang="en-US" sz="1400" dirty="0">
                <a:solidFill>
                  <a:schemeClr val="tx1"/>
                </a:solidFill>
              </a:rPr>
              <a:t>Griffin-Lim vocoder and shared audio settings</a:t>
            </a:r>
            <a:endParaRPr lang="en-US" sz="1400" dirty="0"/>
          </a:p>
          <a:p>
            <a:pPr marL="342900" indent="-342900">
              <a:spcAft>
                <a:spcPts val="900"/>
              </a:spcAft>
              <a:buSzPct val="100000"/>
              <a:buChar char="•"/>
            </a:pPr>
            <a:r>
              <a:rPr lang="en-US" sz="1400" dirty="0">
                <a:solidFill>
                  <a:schemeClr val="tx1"/>
                </a:solidFill>
              </a:rPr>
              <a:t>Evaluation: intelligibility, mel distance, alignment</a:t>
            </a:r>
            <a:endParaRPr lang="en-US" sz="1400" dirty="0"/>
          </a:p>
          <a:p>
            <a:pPr marL="342900" indent="-342900">
              <a:spcAft>
                <a:spcPts val="900"/>
              </a:spcAft>
              <a:buSzPct val="100000"/>
              <a:buChar char="•"/>
            </a:pPr>
            <a:r>
              <a:rPr lang="en-US" sz="1400" dirty="0">
                <a:solidFill>
                  <a:schemeClr val="tx1"/>
                </a:solidFill>
              </a:rPr>
              <a:t>Gradio demo with every system</a:t>
            </a:r>
            <a:endParaRPr lang="en-US" sz="1400" dirty="0"/>
          </a:p>
        </p:txBody>
      </p:sp>
      <p:sp>
        <p:nvSpPr>
          <p:cNvPr id="6" name="Pretrained card"/>
          <p:cNvSpPr/>
          <p:nvPr/>
        </p:nvSpPr>
        <p:spPr>
          <a:xfrm>
            <a:off x="5577840" y="1097280"/>
            <a:ext cx="3108960" cy="2514600"/>
          </a:xfrm>
          <a:prstGeom prst="roundRect">
            <a:avLst>
              <a:gd name="adj" fmla="val 2909"/>
            </a:avLst>
          </a:prstGeom>
          <a:solidFill>
            <a:srgbClr val="EEEDF3"/>
          </a:solidFill>
          <a:ln w="12700">
            <a:solidFill>
              <a:srgbClr val="EEEDF3"/>
            </a:solidFill>
            <a:prstDash val="solid"/>
          </a:ln>
        </p:spPr>
      </p:sp>
      <p:sp>
        <p:nvSpPr>
          <p:cNvPr id="7" name="Pretrained heading"/>
          <p:cNvSpPr txBox="1"/>
          <p:nvPr/>
        </p:nvSpPr>
        <p:spPr>
          <a:xfrm>
            <a:off x="5760720" y="1234440"/>
            <a:ext cx="2743200" cy="365760"/>
          </a:xfrm>
          <a:prstGeom prst="rect">
            <a:avLst/>
          </a:prstGeom>
          <a:noFill/>
          <a:ln/>
        </p:spPr>
        <p:txBody>
          <a:bodyPr wrap="square" lIns="0" tIns="0" rIns="0" bIns="0" rtlCol="0" anchor="ctr"/>
          <a:lstStyle/>
          <a:p>
            <a:pPr indent="0" marL="0">
              <a:buNone/>
            </a:pPr>
            <a:r>
              <a:rPr lang="en-US" sz="1600" b="1" dirty="0">
                <a:solidFill>
                  <a:schemeClr val="accent6"/>
                </a:solidFill>
              </a:rPr>
              <a:t>Pretrained (not ours)</a:t>
            </a:r>
            <a:endParaRPr lang="en-US" sz="1600" dirty="0"/>
          </a:p>
        </p:txBody>
      </p:sp>
      <p:sp>
        <p:nvSpPr>
          <p:cNvPr id="8" name="Pretrained list"/>
          <p:cNvSpPr txBox="1"/>
          <p:nvPr/>
        </p:nvSpPr>
        <p:spPr>
          <a:xfrm>
            <a:off x="5760720" y="1645920"/>
            <a:ext cx="2743200" cy="1920240"/>
          </a:xfrm>
          <a:prstGeom prst="rect">
            <a:avLst/>
          </a:prstGeom>
          <a:noFill/>
          <a:ln/>
        </p:spPr>
        <p:txBody>
          <a:bodyPr wrap="square" lIns="0" tIns="0" rIns="0" bIns="0" rtlCol="0" anchor="t"/>
          <a:lstStyle/>
          <a:p>
            <a:pPr indent="0" marL="0">
              <a:buNone/>
            </a:pPr>
            <a:r>
              <a:rPr lang="en-US" sz="1200" b="1" dirty="0">
                <a:solidFill>
                  <a:schemeClr val="tx1"/>
                </a:solidFill>
              </a:rPr>
              <a:t>Tacotron 2: reference only</a:t>
            </a:r>
            <a:endParaRPr lang="en-US" sz="1200" dirty="0"/>
          </a:p>
          <a:p>
            <a:pPr indent="0" marL="0">
              <a:buNone/>
            </a:pPr>
            <a:r>
              <a:rPr lang="en-US" sz="1200" dirty="0">
                <a:solidFill>
                  <a:schemeClr val="tx1"/>
                </a:solidFill>
              </a:rPr>
              <a:t>torchaudio, trained for days on GPUs</a:t>
            </a:r>
            <a:endParaRPr lang="en-US" sz="1200" dirty="0"/>
          </a:p>
          <a:p>
            <a:pPr indent="0" marL="0">
              <a:buNone/>
            </a:pPr>
            <a:r>
              <a:rPr lang="en-US" sz="600" dirty="0">
                <a:solidFill>
                  <a:schemeClr val="tx1"/>
                </a:solidFill>
              </a:rPr>
              <a:t> </a:t>
            </a:r>
            <a:endParaRPr lang="en-US" sz="1200" dirty="0"/>
          </a:p>
          <a:p>
            <a:pPr indent="0" marL="0">
              <a:buNone/>
            </a:pPr>
            <a:r>
              <a:rPr lang="en-US" sz="1200" b="1" dirty="0">
                <a:solidFill>
                  <a:schemeClr val="tx1"/>
                </a:solidFill>
              </a:rPr>
              <a:t>HiFi-GAN vocoder</a:t>
            </a:r>
            <a:endParaRPr lang="en-US" sz="1200" dirty="0"/>
          </a:p>
          <a:p>
            <a:pPr indent="0" marL="0">
              <a:buNone/>
            </a:pPr>
            <a:r>
              <a:rPr lang="en-US" sz="1200" dirty="0">
                <a:solidFill>
                  <a:schemeClr val="tx1"/>
                </a:solidFill>
              </a:rPr>
              <a:t>SpeechBrain, mel → audio</a:t>
            </a:r>
            <a:endParaRPr lang="en-US" sz="1200" dirty="0"/>
          </a:p>
          <a:p>
            <a:pPr indent="0" marL="0">
              <a:buNone/>
            </a:pPr>
            <a:r>
              <a:rPr lang="en-US" sz="600" dirty="0">
                <a:solidFill>
                  <a:schemeClr val="tx1"/>
                </a:solidFill>
              </a:rPr>
              <a:t> </a:t>
            </a:r>
            <a:endParaRPr lang="en-US" sz="1200" dirty="0"/>
          </a:p>
          <a:p>
            <a:pPr indent="0" marL="0">
              <a:buNone/>
            </a:pPr>
            <a:r>
              <a:rPr lang="en-US" sz="1200" b="1" dirty="0">
                <a:solidFill>
                  <a:schemeClr val="tx1"/>
                </a:solidFill>
              </a:rPr>
              <a:t>wav2vec 2.0 recogniser</a:t>
            </a:r>
            <a:endParaRPr lang="en-US" sz="1200" dirty="0"/>
          </a:p>
          <a:p>
            <a:pPr indent="0" marL="0">
              <a:buNone/>
            </a:pPr>
            <a:r>
              <a:rPr lang="en-US" sz="1200" dirty="0">
                <a:solidFill>
                  <a:schemeClr val="tx1"/>
                </a:solidFill>
              </a:rPr>
              <a:t>only used to score intelligibility</a:t>
            </a:r>
            <a:endParaRPr lang="en-US" sz="1200" dirty="0"/>
          </a:p>
        </p:txBody>
      </p:sp>
      <p:sp>
        <p:nvSpPr>
          <p:cNvPr id="9" name="Why pretrained"/>
          <p:cNvSpPr txBox="1"/>
          <p:nvPr/>
        </p:nvSpPr>
        <p:spPr>
          <a:xfrm>
            <a:off x="5577840" y="3749040"/>
            <a:ext cx="3108960" cy="777240"/>
          </a:xfrm>
          <a:prstGeom prst="rect">
            <a:avLst/>
          </a:prstGeom>
          <a:noFill/>
          <a:ln/>
        </p:spPr>
        <p:txBody>
          <a:bodyPr wrap="square" lIns="0" tIns="0" rIns="0" bIns="0" rtlCol="0" anchor="t"/>
          <a:lstStyle/>
          <a:p>
            <a:pPr indent="0" marL="0">
              <a:buNone/>
            </a:pPr>
            <a:r>
              <a:rPr lang="en-US" sz="1200" b="1" dirty="0">
                <a:solidFill>
                  <a:schemeClr val="tx1"/>
                </a:solidFill>
              </a:rPr>
              <a:t>Tacotron 2 is the yardstick: </a:t>
            </a:r>
            <a:pPr indent="0" marL="0">
              <a:buNone/>
            </a:pPr>
            <a:r>
              <a:rPr lang="en-US" sz="1200" dirty="0">
                <a:solidFill>
                  <a:schemeClr val="tx1"/>
                </a:solidFill>
              </a:rPr>
              <a:t>the same model family as Colatron, at full scale.</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chemeClr val="tx2"/>
                </a:solidFill>
                <a:latin typeface="Arial" pitchFamily="34" charset="0"/>
                <a:ea typeface="Arial" pitchFamily="34" charset="-122"/>
                <a:cs typeface="Arial" pitchFamily="34" charset="-120"/>
              </a:rPr>
              <a:t>Data and preprocessing</a:t>
            </a:r>
            <a:endParaRPr lang="en-US" sz="3000" dirty="0"/>
          </a:p>
        </p:txBody>
      </p:sp>
      <p:sp>
        <p:nvSpPr>
          <p:cNvPr id="3" name="Fact 1 value"/>
          <p:cNvSpPr txBox="1"/>
          <p:nvPr/>
        </p:nvSpPr>
        <p:spPr>
          <a:xfrm>
            <a:off x="457200" y="1097280"/>
            <a:ext cx="2468880" cy="502920"/>
          </a:xfrm>
          <a:prstGeom prst="rect">
            <a:avLst/>
          </a:prstGeom>
          <a:noFill/>
          <a:ln/>
        </p:spPr>
        <p:txBody>
          <a:bodyPr wrap="square" lIns="0" tIns="0" rIns="0" bIns="0" rtlCol="0" anchor="ctr"/>
          <a:lstStyle/>
          <a:p>
            <a:pPr indent="0" marL="0">
              <a:buNone/>
            </a:pPr>
            <a:r>
              <a:rPr lang="en-US" sz="2800" b="1" dirty="0">
                <a:solidFill>
                  <a:schemeClr val="accent1"/>
                </a:solidFill>
                <a:latin typeface="Arial" pitchFamily="34" charset="0"/>
                <a:ea typeface="Arial" pitchFamily="34" charset="-122"/>
                <a:cs typeface="Arial" pitchFamily="34" charset="-120"/>
              </a:rPr>
              <a:t>13,100</a:t>
            </a:r>
            <a:endParaRPr lang="en-US" sz="2800" dirty="0"/>
          </a:p>
        </p:txBody>
      </p:sp>
      <p:sp>
        <p:nvSpPr>
          <p:cNvPr id="4" name="Fact 1 label"/>
          <p:cNvSpPr txBox="1"/>
          <p:nvPr/>
        </p:nvSpPr>
        <p:spPr>
          <a:xfrm>
            <a:off x="457200" y="1572768"/>
            <a:ext cx="2377440" cy="274320"/>
          </a:xfrm>
          <a:prstGeom prst="rect">
            <a:avLst/>
          </a:prstGeom>
          <a:noFill/>
          <a:ln/>
        </p:spPr>
        <p:txBody>
          <a:bodyPr wrap="square" lIns="0" tIns="0" rIns="0" bIns="0" rtlCol="0" anchor="ctr"/>
          <a:lstStyle/>
          <a:p>
            <a:pPr indent="0" marL="0">
              <a:buNone/>
            </a:pPr>
            <a:r>
              <a:rPr lang="en-US" sz="1200" dirty="0">
                <a:solidFill>
                  <a:schemeClr val="accent6"/>
                </a:solidFill>
              </a:rPr>
              <a:t>clips in LJ Speech 1.1</a:t>
            </a:r>
            <a:endParaRPr lang="en-US" sz="1200" dirty="0"/>
          </a:p>
        </p:txBody>
      </p:sp>
      <p:sp>
        <p:nvSpPr>
          <p:cNvPr id="5" name="Fact 2 value"/>
          <p:cNvSpPr txBox="1"/>
          <p:nvPr/>
        </p:nvSpPr>
        <p:spPr>
          <a:xfrm>
            <a:off x="457200" y="1965960"/>
            <a:ext cx="2468880" cy="502920"/>
          </a:xfrm>
          <a:prstGeom prst="rect">
            <a:avLst/>
          </a:prstGeom>
          <a:noFill/>
          <a:ln/>
        </p:spPr>
        <p:txBody>
          <a:bodyPr wrap="square" lIns="0" tIns="0" rIns="0" bIns="0" rtlCol="0" anchor="ctr"/>
          <a:lstStyle/>
          <a:p>
            <a:pPr indent="0" marL="0">
              <a:buNone/>
            </a:pPr>
            <a:r>
              <a:rPr lang="en-US" sz="2800" b="1" dirty="0">
                <a:solidFill>
                  <a:schemeClr val="accent1"/>
                </a:solidFill>
                <a:latin typeface="Arial" pitchFamily="34" charset="0"/>
                <a:ea typeface="Arial" pitchFamily="34" charset="-122"/>
                <a:cs typeface="Arial" pitchFamily="34" charset="-120"/>
              </a:rPr>
              <a:t>23.9 h</a:t>
            </a:r>
            <a:endParaRPr lang="en-US" sz="2800" dirty="0"/>
          </a:p>
        </p:txBody>
      </p:sp>
      <p:sp>
        <p:nvSpPr>
          <p:cNvPr id="6" name="Fact 2 label"/>
          <p:cNvSpPr txBox="1"/>
          <p:nvPr/>
        </p:nvSpPr>
        <p:spPr>
          <a:xfrm>
            <a:off x="457200" y="2441448"/>
            <a:ext cx="2377440" cy="274320"/>
          </a:xfrm>
          <a:prstGeom prst="rect">
            <a:avLst/>
          </a:prstGeom>
          <a:noFill/>
          <a:ln/>
        </p:spPr>
        <p:txBody>
          <a:bodyPr wrap="square" lIns="0" tIns="0" rIns="0" bIns="0" rtlCol="0" anchor="ctr"/>
          <a:lstStyle/>
          <a:p>
            <a:pPr indent="0" marL="0">
              <a:buNone/>
            </a:pPr>
            <a:r>
              <a:rPr lang="en-US" sz="1200" dirty="0">
                <a:solidFill>
                  <a:schemeClr val="accent6"/>
                </a:solidFill>
              </a:rPr>
              <a:t>one female speaker</a:t>
            </a:r>
            <a:endParaRPr lang="en-US" sz="1200" dirty="0"/>
          </a:p>
        </p:txBody>
      </p:sp>
      <p:sp>
        <p:nvSpPr>
          <p:cNvPr id="7" name="Fact 3 value"/>
          <p:cNvSpPr txBox="1"/>
          <p:nvPr/>
        </p:nvSpPr>
        <p:spPr>
          <a:xfrm>
            <a:off x="457200" y="2834640"/>
            <a:ext cx="2468880" cy="502920"/>
          </a:xfrm>
          <a:prstGeom prst="rect">
            <a:avLst/>
          </a:prstGeom>
          <a:noFill/>
          <a:ln/>
        </p:spPr>
        <p:txBody>
          <a:bodyPr wrap="square" lIns="0" tIns="0" rIns="0" bIns="0" rtlCol="0" anchor="ctr"/>
          <a:lstStyle/>
          <a:p>
            <a:pPr indent="0" marL="0">
              <a:buNone/>
            </a:pPr>
            <a:r>
              <a:rPr lang="en-US" sz="2800" b="1" dirty="0">
                <a:solidFill>
                  <a:schemeClr val="accent1"/>
                </a:solidFill>
                <a:latin typeface="Arial" pitchFamily="34" charset="0"/>
                <a:ea typeface="Arial" pitchFamily="34" charset="-122"/>
                <a:cs typeface="Arial" pitchFamily="34" charset="-120"/>
              </a:rPr>
              <a:t>12,960</a:t>
            </a:r>
            <a:endParaRPr lang="en-US" sz="2800" dirty="0"/>
          </a:p>
        </p:txBody>
      </p:sp>
      <p:sp>
        <p:nvSpPr>
          <p:cNvPr id="8" name="Fact 3 label"/>
          <p:cNvSpPr txBox="1"/>
          <p:nvPr/>
        </p:nvSpPr>
        <p:spPr>
          <a:xfrm>
            <a:off x="457200" y="3310128"/>
            <a:ext cx="2377440" cy="274320"/>
          </a:xfrm>
          <a:prstGeom prst="rect">
            <a:avLst/>
          </a:prstGeom>
          <a:noFill/>
          <a:ln/>
        </p:spPr>
        <p:txBody>
          <a:bodyPr wrap="square" lIns="0" tIns="0" rIns="0" bIns="0" rtlCol="0" anchor="ctr"/>
          <a:lstStyle/>
          <a:p>
            <a:pPr indent="0" marL="0">
              <a:buNone/>
            </a:pPr>
            <a:r>
              <a:rPr lang="en-US" sz="1200" dirty="0">
                <a:solidFill>
                  <a:schemeClr val="accent6"/>
                </a:solidFill>
              </a:rPr>
              <a:t>clips used for training</a:t>
            </a:r>
            <a:endParaRPr lang="en-US" sz="1200" dirty="0"/>
          </a:p>
        </p:txBody>
      </p:sp>
      <p:sp>
        <p:nvSpPr>
          <p:cNvPr id="9" name="Fact 4 value"/>
          <p:cNvSpPr txBox="1"/>
          <p:nvPr/>
        </p:nvSpPr>
        <p:spPr>
          <a:xfrm>
            <a:off x="457200" y="3703320"/>
            <a:ext cx="2468880" cy="502920"/>
          </a:xfrm>
          <a:prstGeom prst="rect">
            <a:avLst/>
          </a:prstGeom>
          <a:noFill/>
          <a:ln/>
        </p:spPr>
        <p:txBody>
          <a:bodyPr wrap="square" lIns="0" tIns="0" rIns="0" bIns="0" rtlCol="0" anchor="ctr"/>
          <a:lstStyle/>
          <a:p>
            <a:pPr indent="0" marL="0">
              <a:buNone/>
            </a:pPr>
            <a:r>
              <a:rPr lang="en-US" sz="2800" b="1" dirty="0">
                <a:solidFill>
                  <a:schemeClr val="accent1"/>
                </a:solidFill>
                <a:latin typeface="Arial" pitchFamily="34" charset="0"/>
                <a:ea typeface="Arial" pitchFamily="34" charset="-122"/>
                <a:cs typeface="Arial" pitchFamily="34" charset="-120"/>
              </a:rPr>
              <a:t>100 / 40</a:t>
            </a:r>
            <a:endParaRPr lang="en-US" sz="2800" dirty="0"/>
          </a:p>
        </p:txBody>
      </p:sp>
      <p:sp>
        <p:nvSpPr>
          <p:cNvPr id="10" name="Fact 4 label"/>
          <p:cNvSpPr txBox="1"/>
          <p:nvPr/>
        </p:nvSpPr>
        <p:spPr>
          <a:xfrm>
            <a:off x="457200" y="4178808"/>
            <a:ext cx="2377440" cy="274320"/>
          </a:xfrm>
          <a:prstGeom prst="rect">
            <a:avLst/>
          </a:prstGeom>
          <a:noFill/>
          <a:ln/>
        </p:spPr>
        <p:txBody>
          <a:bodyPr wrap="square" lIns="0" tIns="0" rIns="0" bIns="0" rtlCol="0" anchor="ctr"/>
          <a:lstStyle/>
          <a:p>
            <a:pPr indent="0" marL="0">
              <a:buNone/>
            </a:pPr>
            <a:r>
              <a:rPr lang="en-US" sz="1200" dirty="0">
                <a:solidFill>
                  <a:schemeClr val="accent6"/>
                </a:solidFill>
              </a:rPr>
              <a:t>validation / test clips</a:t>
            </a:r>
            <a:endParaRPr lang="en-US" sz="1200" dirty="0"/>
          </a:p>
        </p:txBody>
      </p:sp>
      <p:sp>
        <p:nvSpPr>
          <p:cNvPr id="11" name="Cleaning example card"/>
          <p:cNvSpPr/>
          <p:nvPr/>
        </p:nvSpPr>
        <p:spPr>
          <a:xfrm>
            <a:off x="3108960" y="1097280"/>
            <a:ext cx="5577840" cy="1965960"/>
          </a:xfrm>
          <a:prstGeom prst="roundRect">
            <a:avLst>
              <a:gd name="adj" fmla="val 3721"/>
            </a:avLst>
          </a:prstGeom>
          <a:solidFill>
            <a:schemeClr val="bg2"/>
          </a:solidFill>
          <a:ln w="12700">
            <a:solidFill>
              <a:schemeClr val="bg2"/>
            </a:solidFill>
            <a:prstDash val="solid"/>
          </a:ln>
        </p:spPr>
      </p:sp>
      <p:sp>
        <p:nvSpPr>
          <p:cNvPr id="12" name="Cleaning example"/>
          <p:cNvSpPr txBox="1"/>
          <p:nvPr/>
        </p:nvSpPr>
        <p:spPr>
          <a:xfrm>
            <a:off x="3291840" y="1188720"/>
            <a:ext cx="5212080" cy="1783080"/>
          </a:xfrm>
          <a:prstGeom prst="rect">
            <a:avLst/>
          </a:prstGeom>
          <a:noFill/>
          <a:ln/>
        </p:spPr>
        <p:txBody>
          <a:bodyPr wrap="square" lIns="0" tIns="0" rIns="0" bIns="0" rtlCol="0" anchor="t"/>
          <a:lstStyle/>
          <a:p>
            <a:pPr indent="0" marL="0">
              <a:buNone/>
            </a:pPr>
            <a:r>
              <a:rPr lang="en-US" sz="1200" b="1" dirty="0">
                <a:solidFill>
                  <a:schemeClr val="accent6"/>
                </a:solidFill>
              </a:rPr>
              <a:t>Raw text</a:t>
            </a:r>
            <a:endParaRPr lang="en-US" sz="1400" dirty="0"/>
          </a:p>
          <a:p>
            <a:pPr indent="0" marL="0">
              <a:buNone/>
            </a:pPr>
            <a:r>
              <a:rPr lang="en-US" sz="1400" dirty="0">
                <a:solidFill>
                  <a:schemeClr val="tx1"/>
                </a:solidFill>
              </a:rPr>
              <a:t>Dr. Smith paid $42.50 in 1984.</a:t>
            </a:r>
            <a:endParaRPr lang="en-US" sz="1400" dirty="0"/>
          </a:p>
          <a:p>
            <a:pPr indent="0" marL="0">
              <a:buNone/>
            </a:pPr>
            <a:r>
              <a:rPr lang="en-US" sz="1200" b="1" dirty="0">
                <a:solidFill>
                  <a:schemeClr val="accent6"/>
                </a:solidFill>
              </a:rPr>
              <a:t>Cleaned</a:t>
            </a:r>
            <a:endParaRPr lang="en-US" sz="1400" dirty="0"/>
          </a:p>
          <a:p>
            <a:pPr indent="0" marL="0">
              <a:buNone/>
            </a:pPr>
            <a:r>
              <a:rPr lang="en-US" sz="1400" dirty="0">
                <a:solidFill>
                  <a:schemeClr val="tx1"/>
                </a:solidFill>
              </a:rPr>
              <a:t>doctor smith paid forty two dollars and fifty cents in nineteen eighty four.</a:t>
            </a:r>
            <a:endParaRPr lang="en-US" sz="1400" dirty="0"/>
          </a:p>
          <a:p>
            <a:pPr indent="0" marL="0">
              <a:buNone/>
            </a:pPr>
            <a:r>
              <a:rPr lang="en-US" sz="1200" b="1" dirty="0">
                <a:solidFill>
                  <a:schemeClr val="accent6"/>
                </a:solidFill>
              </a:rPr>
              <a:t>Fixed ids (37 symbols)</a:t>
            </a:r>
            <a:endParaRPr lang="en-US" sz="1400" dirty="0"/>
          </a:p>
          <a:p>
            <a:pPr indent="0" marL="0">
              <a:buNone/>
            </a:pPr>
            <a:r>
              <a:rPr lang="en-US" sz="1300" dirty="0">
                <a:solidFill>
                  <a:schemeClr val="tx1"/>
                </a:solidFill>
                <a:latin typeface="Courier New" pitchFamily="34" charset="0"/>
                <a:ea typeface="Courier New" pitchFamily="34" charset="-122"/>
                <a:cs typeface="Courier New" pitchFamily="34" charset="-120"/>
              </a:rPr>
              <a:t>d→5  o→16  c→4  t→21  …  same mapping on every run</a:t>
            </a:r>
            <a:endParaRPr lang="en-US" sz="1400" dirty="0"/>
          </a:p>
        </p:txBody>
      </p:sp>
      <p:sp>
        <p:nvSpPr>
          <p:cNvPr id="13" name="Audio steps"/>
          <p:cNvSpPr txBox="1"/>
          <p:nvPr/>
        </p:nvSpPr>
        <p:spPr>
          <a:xfrm>
            <a:off x="3108960" y="3246120"/>
            <a:ext cx="5577840" cy="123444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1"/>
                </a:solidFill>
              </a:rPr>
              <a:t>Audio → 80-band log-mel spectrogram (FFT 1024, hop 256, 0 to 8 kHz)</a:t>
            </a:r>
            <a:endParaRPr lang="en-US" sz="1400" dirty="0"/>
          </a:p>
          <a:p>
            <a:pPr marL="342900" indent="-342900">
              <a:spcAft>
                <a:spcPts val="400"/>
              </a:spcAft>
              <a:buSzPct val="100000"/>
              <a:buChar char="•"/>
            </a:pPr>
            <a:r>
              <a:rPr lang="en-US" sz="1400" dirty="0">
                <a:solidFill>
                  <a:schemeClr val="tx1"/>
                </a:solidFill>
              </a:rPr>
              <a:t>All 13,100 mels computed once in parallel, kept in memory (1.2 GB)</a:t>
            </a:r>
            <a:endParaRPr lang="en-US" sz="1400" dirty="0"/>
          </a:p>
          <a:p>
            <a:pPr marL="342900" indent="-342900">
              <a:spcAft>
                <a:spcPts val="400"/>
              </a:spcAft>
              <a:buSzPct val="100000"/>
              <a:buChar char="•"/>
            </a:pPr>
            <a:r>
              <a:rPr lang="en-US" sz="1400" dirty="0">
                <a:solidFill>
                  <a:schemeClr val="tx1"/>
                </a:solidFill>
              </a:rPr>
              <a:t>Same 40 test clips as the baseline; never used for training</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chemeClr val="tx2"/>
                </a:solidFill>
                <a:latin typeface="Arial" pitchFamily="34" charset="0"/>
                <a:ea typeface="Arial" pitchFamily="34" charset="-122"/>
                <a:cs typeface="Arial" pitchFamily="34" charset="-120"/>
              </a:rPr>
              <a:t>Baseline: no attention</a:t>
            </a:r>
            <a:endParaRPr lang="en-US" sz="3000" dirty="0"/>
          </a:p>
        </p:txBody>
      </p:sp>
      <p:sp>
        <p:nvSpPr>
          <p:cNvPr id="3" name="Layer 1"/>
          <p:cNvSpPr/>
          <p:nvPr/>
        </p:nvSpPr>
        <p:spPr>
          <a:xfrm>
            <a:off x="457200" y="1051560"/>
            <a:ext cx="3931920" cy="457200"/>
          </a:xfrm>
          <a:prstGeom prst="roundRect">
            <a:avLst>
              <a:gd name="adj" fmla="val 16000"/>
            </a:avLst>
          </a:prstGeom>
          <a:solidFill>
            <a:schemeClr val="bg2"/>
          </a:solidFill>
          <a:ln w="12700">
            <a:solidFill>
              <a:schemeClr val="bg2"/>
            </a:solidFill>
            <a:prstDash val="solid"/>
          </a:ln>
        </p:spPr>
      </p:sp>
      <p:sp>
        <p:nvSpPr>
          <p:cNvPr id="4" name="Layer 1 text"/>
          <p:cNvSpPr txBox="1"/>
          <p:nvPr/>
        </p:nvSpPr>
        <p:spPr>
          <a:xfrm>
            <a:off x="640080" y="1051560"/>
            <a:ext cx="3566160" cy="457200"/>
          </a:xfrm>
          <a:prstGeom prst="rect">
            <a:avLst/>
          </a:prstGeom>
          <a:noFill/>
          <a:ln/>
        </p:spPr>
        <p:txBody>
          <a:bodyPr wrap="square" lIns="0" tIns="0" rIns="0" bIns="0" rtlCol="0" anchor="ctr"/>
          <a:lstStyle/>
          <a:p>
            <a:pPr indent="0" marL="0">
              <a:buNone/>
            </a:pPr>
            <a:r>
              <a:rPr lang="en-US" sz="1400" dirty="0">
                <a:solidFill>
                  <a:schemeClr val="tx1"/>
                </a:solidFill>
              </a:rPr>
              <a:t>Characters (fixed ids)</a:t>
            </a:r>
            <a:endParaRPr lang="en-US" sz="1400" dirty="0"/>
          </a:p>
        </p:txBody>
      </p:sp>
      <p:sp>
        <p:nvSpPr>
          <p:cNvPr id="5" name="Layer 2"/>
          <p:cNvSpPr/>
          <p:nvPr/>
        </p:nvSpPr>
        <p:spPr>
          <a:xfrm>
            <a:off x="457200" y="1627632"/>
            <a:ext cx="3931920" cy="457200"/>
          </a:xfrm>
          <a:prstGeom prst="roundRect">
            <a:avLst>
              <a:gd name="adj" fmla="val 16000"/>
            </a:avLst>
          </a:prstGeom>
          <a:solidFill>
            <a:schemeClr val="bg2"/>
          </a:solidFill>
          <a:ln w="12700">
            <a:solidFill>
              <a:schemeClr val="bg2"/>
            </a:solidFill>
            <a:prstDash val="solid"/>
          </a:ln>
        </p:spPr>
      </p:sp>
      <p:sp>
        <p:nvSpPr>
          <p:cNvPr id="6" name="Layer 2 text"/>
          <p:cNvSpPr txBox="1"/>
          <p:nvPr/>
        </p:nvSpPr>
        <p:spPr>
          <a:xfrm>
            <a:off x="640080" y="1627632"/>
            <a:ext cx="3566160" cy="457200"/>
          </a:xfrm>
          <a:prstGeom prst="rect">
            <a:avLst/>
          </a:prstGeom>
          <a:noFill/>
          <a:ln/>
        </p:spPr>
        <p:txBody>
          <a:bodyPr wrap="square" lIns="0" tIns="0" rIns="0" bIns="0" rtlCol="0" anchor="ctr"/>
          <a:lstStyle/>
          <a:p>
            <a:pPr indent="0" marL="0">
              <a:buNone/>
            </a:pPr>
            <a:r>
              <a:rPr lang="en-US" sz="1400" dirty="0">
                <a:solidFill>
                  <a:schemeClr val="tx1"/>
                </a:solidFill>
              </a:rPr>
              <a:t>Embedding, 128-d</a:t>
            </a:r>
            <a:endParaRPr lang="en-US" sz="1400" dirty="0"/>
          </a:p>
        </p:txBody>
      </p:sp>
      <p:sp>
        <p:nvSpPr>
          <p:cNvPr id="7" name="Layer 3"/>
          <p:cNvSpPr/>
          <p:nvPr/>
        </p:nvSpPr>
        <p:spPr>
          <a:xfrm>
            <a:off x="457200" y="2203704"/>
            <a:ext cx="3931920" cy="457200"/>
          </a:xfrm>
          <a:prstGeom prst="roundRect">
            <a:avLst>
              <a:gd name="adj" fmla="val 16000"/>
            </a:avLst>
          </a:prstGeom>
          <a:solidFill>
            <a:schemeClr val="bg2"/>
          </a:solidFill>
          <a:ln w="12700">
            <a:solidFill>
              <a:schemeClr val="bg2"/>
            </a:solidFill>
            <a:prstDash val="solid"/>
          </a:ln>
        </p:spPr>
      </p:sp>
      <p:sp>
        <p:nvSpPr>
          <p:cNvPr id="8" name="Layer 3 text"/>
          <p:cNvSpPr txBox="1"/>
          <p:nvPr/>
        </p:nvSpPr>
        <p:spPr>
          <a:xfrm>
            <a:off x="640080" y="2203704"/>
            <a:ext cx="3566160" cy="457200"/>
          </a:xfrm>
          <a:prstGeom prst="rect">
            <a:avLst/>
          </a:prstGeom>
          <a:noFill/>
          <a:ln/>
        </p:spPr>
        <p:txBody>
          <a:bodyPr wrap="square" lIns="0" tIns="0" rIns="0" bIns="0" rtlCol="0" anchor="ctr"/>
          <a:lstStyle/>
          <a:p>
            <a:pPr indent="0" marL="0">
              <a:buNone/>
            </a:pPr>
            <a:r>
              <a:rPr lang="en-US" sz="1400" dirty="0">
                <a:solidFill>
                  <a:schemeClr val="tx1"/>
                </a:solidFill>
              </a:rPr>
              <a:t>3 × Conv1D, 256 channels, kernel 5</a:t>
            </a:r>
            <a:endParaRPr lang="en-US" sz="1400" dirty="0"/>
          </a:p>
        </p:txBody>
      </p:sp>
      <p:sp>
        <p:nvSpPr>
          <p:cNvPr id="9" name="Layer 4"/>
          <p:cNvSpPr/>
          <p:nvPr/>
        </p:nvSpPr>
        <p:spPr>
          <a:xfrm>
            <a:off x="457200" y="2779776"/>
            <a:ext cx="3931920" cy="457200"/>
          </a:xfrm>
          <a:prstGeom prst="roundRect">
            <a:avLst>
              <a:gd name="adj" fmla="val 16000"/>
            </a:avLst>
          </a:prstGeom>
          <a:solidFill>
            <a:schemeClr val="accent2"/>
          </a:solidFill>
          <a:ln w="12700">
            <a:solidFill>
              <a:schemeClr val="accent2"/>
            </a:solidFill>
            <a:prstDash val="solid"/>
          </a:ln>
        </p:spPr>
      </p:sp>
      <p:sp>
        <p:nvSpPr>
          <p:cNvPr id="10" name="Layer 4 text"/>
          <p:cNvSpPr txBox="1"/>
          <p:nvPr/>
        </p:nvSpPr>
        <p:spPr>
          <a:xfrm>
            <a:off x="640080" y="2779776"/>
            <a:ext cx="3566160" cy="457200"/>
          </a:xfrm>
          <a:prstGeom prst="rect">
            <a:avLst/>
          </a:prstGeom>
          <a:noFill/>
          <a:ln/>
        </p:spPr>
        <p:txBody>
          <a:bodyPr wrap="square" lIns="0" tIns="0" rIns="0" bIns="0" rtlCol="0" anchor="ctr"/>
          <a:lstStyle/>
          <a:p>
            <a:pPr indent="0" marL="0">
              <a:buNone/>
            </a:pPr>
            <a:r>
              <a:rPr lang="en-US" sz="1400" b="1" dirty="0">
                <a:solidFill>
                  <a:schemeClr val="bg1"/>
                </a:solidFill>
              </a:rPr>
              <a:t>Stretch to target length (no attention)</a:t>
            </a:r>
            <a:endParaRPr lang="en-US" sz="1400" dirty="0"/>
          </a:p>
        </p:txBody>
      </p:sp>
      <p:sp>
        <p:nvSpPr>
          <p:cNvPr id="11" name="Layer 5"/>
          <p:cNvSpPr/>
          <p:nvPr/>
        </p:nvSpPr>
        <p:spPr>
          <a:xfrm>
            <a:off x="457200" y="3355848"/>
            <a:ext cx="3931920" cy="457200"/>
          </a:xfrm>
          <a:prstGeom prst="roundRect">
            <a:avLst>
              <a:gd name="adj" fmla="val 16000"/>
            </a:avLst>
          </a:prstGeom>
          <a:solidFill>
            <a:schemeClr val="bg2"/>
          </a:solidFill>
          <a:ln w="12700">
            <a:solidFill>
              <a:schemeClr val="bg2"/>
            </a:solidFill>
            <a:prstDash val="solid"/>
          </a:ln>
        </p:spPr>
      </p:sp>
      <p:sp>
        <p:nvSpPr>
          <p:cNvPr id="12" name="Layer 5 text"/>
          <p:cNvSpPr txBox="1"/>
          <p:nvPr/>
        </p:nvSpPr>
        <p:spPr>
          <a:xfrm>
            <a:off x="640080" y="3355848"/>
            <a:ext cx="3566160" cy="457200"/>
          </a:xfrm>
          <a:prstGeom prst="rect">
            <a:avLst/>
          </a:prstGeom>
          <a:noFill/>
          <a:ln/>
        </p:spPr>
        <p:txBody>
          <a:bodyPr wrap="square" lIns="0" tIns="0" rIns="0" bIns="0" rtlCol="0" anchor="ctr"/>
          <a:lstStyle/>
          <a:p>
            <a:pPr indent="0" marL="0">
              <a:buNone/>
            </a:pPr>
            <a:r>
              <a:rPr lang="en-US" sz="1400" dirty="0">
                <a:solidFill>
                  <a:schemeClr val="tx1"/>
                </a:solidFill>
              </a:rPr>
              <a:t>MLP → 80-band mel frames</a:t>
            </a:r>
            <a:endParaRPr lang="en-US" sz="1400" dirty="0"/>
          </a:p>
        </p:txBody>
      </p:sp>
      <p:sp>
        <p:nvSpPr>
          <p:cNvPr id="13" name="Layer 6"/>
          <p:cNvSpPr/>
          <p:nvPr/>
        </p:nvSpPr>
        <p:spPr>
          <a:xfrm>
            <a:off x="457200" y="3931920"/>
            <a:ext cx="3931920" cy="457200"/>
          </a:xfrm>
          <a:prstGeom prst="roundRect">
            <a:avLst>
              <a:gd name="adj" fmla="val 16000"/>
            </a:avLst>
          </a:prstGeom>
          <a:solidFill>
            <a:schemeClr val="bg2"/>
          </a:solidFill>
          <a:ln w="12700">
            <a:solidFill>
              <a:schemeClr val="bg2"/>
            </a:solidFill>
            <a:prstDash val="solid"/>
          </a:ln>
        </p:spPr>
      </p:sp>
      <p:sp>
        <p:nvSpPr>
          <p:cNvPr id="14" name="Layer 6 text"/>
          <p:cNvSpPr txBox="1"/>
          <p:nvPr/>
        </p:nvSpPr>
        <p:spPr>
          <a:xfrm>
            <a:off x="640080" y="3931920"/>
            <a:ext cx="3566160" cy="457200"/>
          </a:xfrm>
          <a:prstGeom prst="rect">
            <a:avLst/>
          </a:prstGeom>
          <a:noFill/>
          <a:ln/>
        </p:spPr>
        <p:txBody>
          <a:bodyPr wrap="square" lIns="0" tIns="0" rIns="0" bIns="0" rtlCol="0" anchor="ctr"/>
          <a:lstStyle/>
          <a:p>
            <a:pPr indent="0" marL="0">
              <a:buNone/>
            </a:pPr>
            <a:r>
              <a:rPr lang="en-US" sz="1400" dirty="0">
                <a:solidFill>
                  <a:schemeClr val="tx1"/>
                </a:solidFill>
              </a:rPr>
              <a:t>Griffin-Lim → audio</a:t>
            </a:r>
            <a:endParaRPr lang="en-US" sz="1400" dirty="0"/>
          </a:p>
        </p:txBody>
      </p:sp>
      <p:sp>
        <p:nvSpPr>
          <p:cNvPr id="15" name="Training heading"/>
          <p:cNvSpPr txBox="1"/>
          <p:nvPr/>
        </p:nvSpPr>
        <p:spPr>
          <a:xfrm>
            <a:off x="4754880" y="1051560"/>
            <a:ext cx="3931920" cy="365760"/>
          </a:xfrm>
          <a:prstGeom prst="rect">
            <a:avLst/>
          </a:prstGeom>
          <a:noFill/>
          <a:ln/>
        </p:spPr>
        <p:txBody>
          <a:bodyPr wrap="square" lIns="0" tIns="0" rIns="0" bIns="0" rtlCol="0" anchor="ctr"/>
          <a:lstStyle/>
          <a:p>
            <a:pPr indent="0" marL="0">
              <a:buNone/>
            </a:pPr>
            <a:r>
              <a:rPr lang="en-US" sz="1800" b="1" dirty="0">
                <a:solidFill>
                  <a:schemeClr val="accent1"/>
                </a:solidFill>
              </a:rPr>
              <a:t>Training</a:t>
            </a:r>
            <a:endParaRPr lang="en-US" sz="1800" dirty="0"/>
          </a:p>
        </p:txBody>
      </p:sp>
      <p:sp>
        <p:nvSpPr>
          <p:cNvPr id="16" name="Training list"/>
          <p:cNvSpPr txBox="1"/>
          <p:nvPr/>
        </p:nvSpPr>
        <p:spPr>
          <a:xfrm>
            <a:off x="4754880" y="1463040"/>
            <a:ext cx="3931920" cy="155448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1"/>
                </a:solidFill>
              </a:rPr>
              <a:t>324 training clips, 911k parameters</a:t>
            </a:r>
            <a:endParaRPr lang="en-US" sz="1400" dirty="0"/>
          </a:p>
          <a:p>
            <a:pPr marL="342900" indent="-342900">
              <a:spcAft>
                <a:spcPts val="400"/>
              </a:spcAft>
              <a:buSzPct val="100000"/>
              <a:buChar char="•"/>
            </a:pPr>
            <a:r>
              <a:rPr lang="en-US" sz="1400" dirty="0">
                <a:solidFill>
                  <a:schemeClr val="tx1"/>
                </a:solidFill>
              </a:rPr>
              <a:t>L1 loss on normalised mel frames</a:t>
            </a:r>
            <a:endParaRPr lang="en-US" sz="1400" dirty="0"/>
          </a:p>
          <a:p>
            <a:pPr marL="342900" indent="-342900">
              <a:spcAft>
                <a:spcPts val="400"/>
              </a:spcAft>
              <a:buSzPct val="100000"/>
              <a:buChar char="•"/>
            </a:pPr>
            <a:r>
              <a:rPr lang="en-US" sz="1400" dirty="0">
                <a:solidFill>
                  <a:schemeClr val="tx1"/>
                </a:solidFill>
              </a:rPr>
              <a:t>Adam, learning rate 1e-3, gradient clipping 1.0</a:t>
            </a:r>
            <a:endParaRPr lang="en-US" sz="1400" dirty="0"/>
          </a:p>
          <a:p>
            <a:pPr marL="342900" indent="-342900">
              <a:spcAft>
                <a:spcPts val="400"/>
              </a:spcAft>
              <a:buSzPct val="100000"/>
              <a:buChar char="•"/>
            </a:pPr>
            <a:r>
              <a:rPr lang="en-US" sz="1400" dirty="0">
                <a:solidFill>
                  <a:schemeClr val="tx1"/>
                </a:solidFill>
              </a:rPr>
              <a:t>60 epochs, batch 16, best validation checkpoint</a:t>
            </a:r>
            <a:endParaRPr lang="en-US" sz="1400" dirty="0"/>
          </a:p>
        </p:txBody>
      </p:sp>
      <p:sp>
        <p:nvSpPr>
          <p:cNvPr id="17" name="Why weak"/>
          <p:cNvSpPr txBox="1"/>
          <p:nvPr/>
        </p:nvSpPr>
        <p:spPr>
          <a:xfrm>
            <a:off x="4754880" y="3154680"/>
            <a:ext cx="3931920" cy="1280160"/>
          </a:xfrm>
          <a:prstGeom prst="rect">
            <a:avLst/>
          </a:prstGeom>
          <a:noFill/>
          <a:ln/>
        </p:spPr>
        <p:txBody>
          <a:bodyPr wrap="square" lIns="0" tIns="0" rIns="0" bIns="0" rtlCol="0" anchor="t"/>
          <a:lstStyle/>
          <a:p>
            <a:pPr indent="0" marL="0">
              <a:buNone/>
            </a:pPr>
            <a:r>
              <a:rPr lang="en-US" sz="1400" b="1" dirty="0">
                <a:solidFill>
                  <a:schemeClr val="tx1"/>
                </a:solidFill>
              </a:rPr>
              <a:t>Deliberately weak. </a:t>
            </a:r>
            <a:pPr indent="0" marL="0">
              <a:buNone/>
            </a:pPr>
            <a:r>
              <a:rPr lang="en-US" sz="1400" dirty="0">
                <a:solidFill>
                  <a:schemeClr val="tx1"/>
                </a:solidFill>
              </a:rPr>
              <a:t>Like the paper's simple models, it has no learned alignment: each character gets an equal share of time. It shows what happens without attention.</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chemeClr val="tx2"/>
                </a:solidFill>
                <a:latin typeface="Arial" pitchFamily="34" charset="0"/>
                <a:ea typeface="Arial" pitchFamily="34" charset="-122"/>
                <a:cs typeface="Arial" pitchFamily="34" charset="-120"/>
              </a:rPr>
              <a:t>Colatron: our seq2seq model</a:t>
            </a:r>
            <a:endParaRPr lang="en-US" sz="3000" dirty="0"/>
          </a:p>
        </p:txBody>
      </p:sp>
      <p:sp>
        <p:nvSpPr>
          <p:cNvPr id="3" name="Colatron part 1 circle"/>
          <p:cNvSpPr/>
          <p:nvPr/>
        </p:nvSpPr>
        <p:spPr>
          <a:xfrm>
            <a:off x="457200" y="1143000"/>
            <a:ext cx="384048" cy="384048"/>
          </a:xfrm>
          <a:prstGeom prst="ellipse">
            <a:avLst/>
          </a:prstGeom>
          <a:solidFill>
            <a:schemeClr val="accent1"/>
          </a:solidFill>
          <a:ln w="12700">
            <a:solidFill>
              <a:schemeClr val="accent1"/>
            </a:solidFill>
            <a:prstDash val="solid"/>
          </a:ln>
        </p:spPr>
      </p:sp>
      <p:sp>
        <p:nvSpPr>
          <p:cNvPr id="4" name="Colatron part 1 label"/>
          <p:cNvSpPr txBox="1"/>
          <p:nvPr/>
        </p:nvSpPr>
        <p:spPr>
          <a:xfrm>
            <a:off x="457200" y="114300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5" name="Colatron part 1 name"/>
          <p:cNvSpPr txBox="1"/>
          <p:nvPr/>
        </p:nvSpPr>
        <p:spPr>
          <a:xfrm>
            <a:off x="1005840" y="1097280"/>
            <a:ext cx="3840480" cy="320040"/>
          </a:xfrm>
          <a:prstGeom prst="rect">
            <a:avLst/>
          </a:prstGeom>
          <a:noFill/>
          <a:ln/>
        </p:spPr>
        <p:txBody>
          <a:bodyPr wrap="square" lIns="0" tIns="0" rIns="0" bIns="0" rtlCol="0" anchor="ctr"/>
          <a:lstStyle/>
          <a:p>
            <a:pPr indent="0" marL="0">
              <a:buNone/>
            </a:pPr>
            <a:r>
              <a:rPr lang="en-US" sz="1600" b="1" dirty="0">
                <a:solidFill>
                  <a:schemeClr val="tx1"/>
                </a:solidFill>
              </a:rPr>
              <a:t>Encoder</a:t>
            </a:r>
            <a:endParaRPr lang="en-US" sz="1600" dirty="0"/>
          </a:p>
        </p:txBody>
      </p:sp>
      <p:sp>
        <p:nvSpPr>
          <p:cNvPr id="6" name="Colatron part 1 body"/>
          <p:cNvSpPr txBox="1"/>
          <p:nvPr/>
        </p:nvSpPr>
        <p:spPr>
          <a:xfrm>
            <a:off x="1005840" y="1417320"/>
            <a:ext cx="3840480" cy="457200"/>
          </a:xfrm>
          <a:prstGeom prst="rect">
            <a:avLst/>
          </a:prstGeom>
          <a:noFill/>
          <a:ln/>
        </p:spPr>
        <p:txBody>
          <a:bodyPr wrap="square" lIns="0" tIns="0" rIns="0" bIns="0" rtlCol="0" anchor="t"/>
          <a:lstStyle/>
          <a:p>
            <a:pPr indent="0" marL="0">
              <a:buNone/>
            </a:pPr>
            <a:r>
              <a:rPr lang="en-US" sz="1300" dirty="0">
                <a:solidFill>
                  <a:schemeClr val="accent6"/>
                </a:solidFill>
              </a:rPr>
              <a:t>character embedding, 3 convolutions, bidirectional LSTM</a:t>
            </a:r>
            <a:endParaRPr lang="en-US" sz="1300" dirty="0"/>
          </a:p>
        </p:txBody>
      </p:sp>
      <p:sp>
        <p:nvSpPr>
          <p:cNvPr id="7" name="Colatron part 2 circle"/>
          <p:cNvSpPr/>
          <p:nvPr/>
        </p:nvSpPr>
        <p:spPr>
          <a:xfrm>
            <a:off x="457200" y="1984248"/>
            <a:ext cx="384048" cy="384048"/>
          </a:xfrm>
          <a:prstGeom prst="ellipse">
            <a:avLst/>
          </a:prstGeom>
          <a:solidFill>
            <a:schemeClr val="accent1"/>
          </a:solidFill>
          <a:ln w="12700">
            <a:solidFill>
              <a:schemeClr val="accent1"/>
            </a:solidFill>
            <a:prstDash val="solid"/>
          </a:ln>
        </p:spPr>
      </p:sp>
      <p:sp>
        <p:nvSpPr>
          <p:cNvPr id="8" name="Colatron part 2 label"/>
          <p:cNvSpPr txBox="1"/>
          <p:nvPr/>
        </p:nvSpPr>
        <p:spPr>
          <a:xfrm>
            <a:off x="457200" y="1984248"/>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9" name="Colatron part 2 name"/>
          <p:cNvSpPr txBox="1"/>
          <p:nvPr/>
        </p:nvSpPr>
        <p:spPr>
          <a:xfrm>
            <a:off x="1005840" y="1938528"/>
            <a:ext cx="3840480" cy="320040"/>
          </a:xfrm>
          <a:prstGeom prst="rect">
            <a:avLst/>
          </a:prstGeom>
          <a:noFill/>
          <a:ln/>
        </p:spPr>
        <p:txBody>
          <a:bodyPr wrap="square" lIns="0" tIns="0" rIns="0" bIns="0" rtlCol="0" anchor="ctr"/>
          <a:lstStyle/>
          <a:p>
            <a:pPr indent="0" marL="0">
              <a:buNone/>
            </a:pPr>
            <a:r>
              <a:rPr lang="en-US" sz="1600" b="1" dirty="0">
                <a:solidFill>
                  <a:schemeClr val="tx1"/>
                </a:solidFill>
              </a:rPr>
              <a:t>Location-sensitive attention</a:t>
            </a:r>
            <a:endParaRPr lang="en-US" sz="1600" dirty="0"/>
          </a:p>
        </p:txBody>
      </p:sp>
      <p:sp>
        <p:nvSpPr>
          <p:cNvPr id="10" name="Colatron part 2 body"/>
          <p:cNvSpPr txBox="1"/>
          <p:nvPr/>
        </p:nvSpPr>
        <p:spPr>
          <a:xfrm>
            <a:off x="1005840" y="2258568"/>
            <a:ext cx="3840480" cy="457200"/>
          </a:xfrm>
          <a:prstGeom prst="rect">
            <a:avLst/>
          </a:prstGeom>
          <a:noFill/>
          <a:ln/>
        </p:spPr>
        <p:txBody>
          <a:bodyPr wrap="square" lIns="0" tIns="0" rIns="0" bIns="0" rtlCol="0" anchor="t"/>
          <a:lstStyle/>
          <a:p>
            <a:pPr indent="0" marL="0">
              <a:buNone/>
            </a:pPr>
            <a:r>
              <a:rPr lang="en-US" sz="1300" dirty="0">
                <a:solidFill>
                  <a:schemeClr val="accent6"/>
                </a:solidFill>
              </a:rPr>
              <a:t>sees where it looked before, so it moves forward through the text</a:t>
            </a:r>
            <a:endParaRPr lang="en-US" sz="1300" dirty="0"/>
          </a:p>
        </p:txBody>
      </p:sp>
      <p:sp>
        <p:nvSpPr>
          <p:cNvPr id="11" name="Colatron part 3 circle"/>
          <p:cNvSpPr/>
          <p:nvPr/>
        </p:nvSpPr>
        <p:spPr>
          <a:xfrm>
            <a:off x="457200" y="2825496"/>
            <a:ext cx="384048" cy="384048"/>
          </a:xfrm>
          <a:prstGeom prst="ellipse">
            <a:avLst/>
          </a:prstGeom>
          <a:solidFill>
            <a:schemeClr val="accent1"/>
          </a:solidFill>
          <a:ln w="12700">
            <a:solidFill>
              <a:schemeClr val="accent1"/>
            </a:solidFill>
            <a:prstDash val="solid"/>
          </a:ln>
        </p:spPr>
      </p:sp>
      <p:sp>
        <p:nvSpPr>
          <p:cNvPr id="12" name="Colatron part 3 label"/>
          <p:cNvSpPr txBox="1"/>
          <p:nvPr/>
        </p:nvSpPr>
        <p:spPr>
          <a:xfrm>
            <a:off x="457200" y="2825496"/>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3" name="Colatron part 3 name"/>
          <p:cNvSpPr txBox="1"/>
          <p:nvPr/>
        </p:nvSpPr>
        <p:spPr>
          <a:xfrm>
            <a:off x="1005840" y="2779776"/>
            <a:ext cx="3840480" cy="320040"/>
          </a:xfrm>
          <a:prstGeom prst="rect">
            <a:avLst/>
          </a:prstGeom>
          <a:noFill/>
          <a:ln/>
        </p:spPr>
        <p:txBody>
          <a:bodyPr wrap="square" lIns="0" tIns="0" rIns="0" bIns="0" rtlCol="0" anchor="ctr"/>
          <a:lstStyle/>
          <a:p>
            <a:pPr indent="0" marL="0">
              <a:buNone/>
            </a:pPr>
            <a:r>
              <a:rPr lang="en-US" sz="1600" b="1" dirty="0">
                <a:solidFill>
                  <a:schemeClr val="tx1"/>
                </a:solidFill>
              </a:rPr>
              <a:t>Decoder</a:t>
            </a:r>
            <a:endParaRPr lang="en-US" sz="1600" dirty="0"/>
          </a:p>
        </p:txBody>
      </p:sp>
      <p:sp>
        <p:nvSpPr>
          <p:cNvPr id="14" name="Colatron part 3 body"/>
          <p:cNvSpPr txBox="1"/>
          <p:nvPr/>
        </p:nvSpPr>
        <p:spPr>
          <a:xfrm>
            <a:off x="1005840" y="3099816"/>
            <a:ext cx="3840480" cy="457200"/>
          </a:xfrm>
          <a:prstGeom prst="rect">
            <a:avLst/>
          </a:prstGeom>
          <a:noFill/>
          <a:ln/>
        </p:spPr>
        <p:txBody>
          <a:bodyPr wrap="square" lIns="0" tIns="0" rIns="0" bIns="0" rtlCol="0" anchor="t"/>
          <a:lstStyle/>
          <a:p>
            <a:pPr indent="0" marL="0">
              <a:buNone/>
            </a:pPr>
            <a:r>
              <a:rPr lang="en-US" sz="1300" dirty="0">
                <a:solidFill>
                  <a:schemeClr val="accent6"/>
                </a:solidFill>
              </a:rPr>
              <a:t>LSTMs predict 3 mel frames per step, plus a stop signal</a:t>
            </a:r>
            <a:endParaRPr lang="en-US" sz="1300" dirty="0"/>
          </a:p>
        </p:txBody>
      </p:sp>
      <p:sp>
        <p:nvSpPr>
          <p:cNvPr id="15" name="Colatron part 4 circle"/>
          <p:cNvSpPr/>
          <p:nvPr/>
        </p:nvSpPr>
        <p:spPr>
          <a:xfrm>
            <a:off x="457200" y="3666744"/>
            <a:ext cx="384048" cy="384048"/>
          </a:xfrm>
          <a:prstGeom prst="ellipse">
            <a:avLst/>
          </a:prstGeom>
          <a:solidFill>
            <a:schemeClr val="accent1"/>
          </a:solidFill>
          <a:ln w="12700">
            <a:solidFill>
              <a:schemeClr val="accent1"/>
            </a:solidFill>
            <a:prstDash val="solid"/>
          </a:ln>
        </p:spPr>
      </p:sp>
      <p:sp>
        <p:nvSpPr>
          <p:cNvPr id="16" name="Colatron part 4 label"/>
          <p:cNvSpPr txBox="1"/>
          <p:nvPr/>
        </p:nvSpPr>
        <p:spPr>
          <a:xfrm>
            <a:off x="457200" y="3666744"/>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17" name="Colatron part 4 name"/>
          <p:cNvSpPr txBox="1"/>
          <p:nvPr/>
        </p:nvSpPr>
        <p:spPr>
          <a:xfrm>
            <a:off x="1005840" y="3621024"/>
            <a:ext cx="3840480" cy="320040"/>
          </a:xfrm>
          <a:prstGeom prst="rect">
            <a:avLst/>
          </a:prstGeom>
          <a:noFill/>
          <a:ln/>
        </p:spPr>
        <p:txBody>
          <a:bodyPr wrap="square" lIns="0" tIns="0" rIns="0" bIns="0" rtlCol="0" anchor="ctr"/>
          <a:lstStyle/>
          <a:p>
            <a:pPr indent="0" marL="0">
              <a:buNone/>
            </a:pPr>
            <a:r>
              <a:rPr lang="en-US" sz="1600" b="1" dirty="0">
                <a:solidFill>
                  <a:schemeClr val="tx1"/>
                </a:solidFill>
              </a:rPr>
              <a:t>Post-net</a:t>
            </a:r>
            <a:endParaRPr lang="en-US" sz="1600" dirty="0"/>
          </a:p>
        </p:txBody>
      </p:sp>
      <p:sp>
        <p:nvSpPr>
          <p:cNvPr id="18" name="Colatron part 4 body"/>
          <p:cNvSpPr txBox="1"/>
          <p:nvPr/>
        </p:nvSpPr>
        <p:spPr>
          <a:xfrm>
            <a:off x="1005840" y="3941064"/>
            <a:ext cx="3840480" cy="457200"/>
          </a:xfrm>
          <a:prstGeom prst="rect">
            <a:avLst/>
          </a:prstGeom>
          <a:noFill/>
          <a:ln/>
        </p:spPr>
        <p:txBody>
          <a:bodyPr wrap="square" lIns="0" tIns="0" rIns="0" bIns="0" rtlCol="0" anchor="t"/>
          <a:lstStyle/>
          <a:p>
            <a:pPr indent="0" marL="0">
              <a:buNone/>
            </a:pPr>
            <a:r>
              <a:rPr lang="en-US" sz="1300" dirty="0">
                <a:solidFill>
                  <a:schemeClr val="accent6"/>
                </a:solidFill>
              </a:rPr>
              <a:t>5 convolutions sharpen the whole spectrogram</a:t>
            </a:r>
            <a:endParaRPr lang="en-US" sz="1300" dirty="0"/>
          </a:p>
        </p:txBody>
      </p:sp>
      <p:sp>
        <p:nvSpPr>
          <p:cNvPr id="19" name="Training card"/>
          <p:cNvSpPr/>
          <p:nvPr/>
        </p:nvSpPr>
        <p:spPr>
          <a:xfrm>
            <a:off x="5120640" y="1097280"/>
            <a:ext cx="3566160" cy="3429000"/>
          </a:xfrm>
          <a:prstGeom prst="roundRect">
            <a:avLst>
              <a:gd name="adj" fmla="val 2133"/>
            </a:avLst>
          </a:prstGeom>
          <a:solidFill>
            <a:schemeClr val="bg2"/>
          </a:solidFill>
          <a:ln w="12700">
            <a:solidFill>
              <a:schemeClr val="bg2"/>
            </a:solidFill>
            <a:prstDash val="solid"/>
          </a:ln>
        </p:spPr>
      </p:sp>
      <p:sp>
        <p:nvSpPr>
          <p:cNvPr id="20" name="Training text"/>
          <p:cNvSpPr txBox="1"/>
          <p:nvPr/>
        </p:nvSpPr>
        <p:spPr>
          <a:xfrm>
            <a:off x="5303520" y="1234440"/>
            <a:ext cx="3200400" cy="3200400"/>
          </a:xfrm>
          <a:prstGeom prst="rect">
            <a:avLst/>
          </a:prstGeom>
          <a:noFill/>
          <a:ln/>
        </p:spPr>
        <p:txBody>
          <a:bodyPr wrap="square" lIns="0" tIns="0" rIns="0" bIns="0" rtlCol="0" anchor="t"/>
          <a:lstStyle/>
          <a:p>
            <a:pPr indent="0" marL="0">
              <a:spcAft>
                <a:spcPts val="600"/>
              </a:spcAft>
              <a:buNone/>
            </a:pPr>
            <a:r>
              <a:rPr lang="en-US" sz="1600" b="1" dirty="0">
                <a:solidFill>
                  <a:schemeClr val="accent1"/>
                </a:solidFill>
              </a:rPr>
              <a:t>Training, from scratch</a:t>
            </a:r>
            <a:endParaRPr lang="en-US" sz="1300" dirty="0"/>
          </a:p>
          <a:p>
            <a:pPr indent="0" marL="0">
              <a:spcAft>
                <a:spcPts val="600"/>
              </a:spcAft>
              <a:buNone/>
            </a:pPr>
            <a:r>
              <a:rPr lang="en-US" sz="600" dirty="0">
                <a:solidFill>
                  <a:schemeClr val="tx1"/>
                </a:solidFill>
              </a:rPr>
              <a:t> </a:t>
            </a:r>
            <a:endParaRPr lang="en-US" sz="1300" dirty="0"/>
          </a:p>
          <a:p>
            <a:pPr marL="342900" indent="-342900">
              <a:spcAft>
                <a:spcPts val="600"/>
              </a:spcAft>
              <a:buSzPct val="100000"/>
              <a:buChar char="•"/>
            </a:pPr>
            <a:r>
              <a:rPr lang="en-US" sz="1300" dirty="0">
                <a:solidFill>
                  <a:schemeClr val="tx1"/>
                </a:solidFill>
              </a:rPr>
              <a:t>7.4M parameters (Tacotron 2: 28M)</a:t>
            </a:r>
            <a:endParaRPr lang="en-US" sz="1300" dirty="0"/>
          </a:p>
          <a:p>
            <a:pPr marL="342900" indent="-342900">
              <a:spcAft>
                <a:spcPts val="600"/>
              </a:spcAft>
              <a:buSzPct val="100000"/>
              <a:buChar char="•"/>
            </a:pPr>
            <a:r>
              <a:rPr lang="en-US" sz="1300" dirty="0">
                <a:solidFill>
                  <a:schemeClr val="tx1"/>
                </a:solidFill>
              </a:rPr>
              <a:t>Loss: L1 + MSE on mels, stop-token BCE, guided attention</a:t>
            </a:r>
            <a:endParaRPr lang="en-US" sz="1300" dirty="0"/>
          </a:p>
          <a:p>
            <a:pPr marL="342900" indent="-342900">
              <a:spcAft>
                <a:spcPts val="600"/>
              </a:spcAft>
              <a:buSzPct val="100000"/>
              <a:buChar char="•"/>
            </a:pPr>
            <a:r>
              <a:rPr lang="en-US" sz="1300" dirty="0">
                <a:solidFill>
                  <a:schemeClr val="tx1"/>
                </a:solidFill>
              </a:rPr>
              <a:t>Guided attention penalises weights far from the diagonal</a:t>
            </a:r>
            <a:endParaRPr lang="en-US" sz="1300" dirty="0"/>
          </a:p>
          <a:p>
            <a:pPr marL="342900" indent="-342900">
              <a:spcAft>
                <a:spcPts val="600"/>
              </a:spcAft>
              <a:buSzPct val="100000"/>
              <a:buChar char="•"/>
            </a:pPr>
            <a:r>
              <a:rPr lang="en-US" sz="1300" dirty="0">
                <a:solidFill>
                  <a:schemeClr val="tx1"/>
                </a:solidFill>
              </a:rPr>
              <a:t>Adam 1e-3, gradient clipping 1.0</a:t>
            </a:r>
            <a:endParaRPr lang="en-US" sz="1300" dirty="0"/>
          </a:p>
          <a:p>
            <a:pPr marL="342900" indent="-342900">
              <a:spcAft>
                <a:spcPts val="600"/>
              </a:spcAft>
              <a:buSzPct val="100000"/>
              <a:buChar char="•"/>
            </a:pPr>
            <a:r>
              <a:rPr lang="en-US" sz="1300" dirty="0">
                <a:solidFill>
                  <a:schemeClr val="tx1"/>
                </a:solidFill>
              </a:rPr>
              <a:t>18,000 steps, 5.3 h: laptop CPU, then a free Colab T4 GPU</a:t>
            </a:r>
            <a:endParaRPr lang="en-US" sz="13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chemeClr val="tx2"/>
                </a:solidFill>
                <a:latin typeface="Arial" pitchFamily="34" charset="0"/>
                <a:ea typeface="Arial" pitchFamily="34" charset="-122"/>
                <a:cs typeface="Arial" pitchFamily="34" charset="-120"/>
              </a:rPr>
              <a:t>Attention learns to read in order</a:t>
            </a:r>
            <a:endParaRPr lang="en-US" sz="3000" dirty="0"/>
          </a:p>
        </p:txBody>
      </p:sp>
      <p:pic>
        <p:nvPicPr>
          <p:cNvPr id="3" name="Training progress figure" descr="Colatron's attention at three training steps, validation mel loss and word error rate over training.">    </p:cNvPr>
          <p:cNvPicPr>
            <a:picLocks noChangeAspect="1"/>
          </p:cNvPicPr>
          <p:nvPr/>
        </p:nvPicPr>
        <p:blipFill>
          <a:blip r:embed="rId1"/>
          <a:stretch>
            <a:fillRect/>
          </a:stretch>
        </p:blipFill>
        <p:spPr>
          <a:xfrm>
            <a:off x="457200" y="1005840"/>
            <a:ext cx="5852160" cy="3172968"/>
          </a:xfrm>
          <a:prstGeom prst="rect">
            <a:avLst/>
          </a:prstGeom>
        </p:spPr>
      </p:pic>
      <p:sp>
        <p:nvSpPr>
          <p:cNvPr id="4" name="Monotonic value"/>
          <p:cNvSpPr txBox="1"/>
          <p:nvPr/>
        </p:nvSpPr>
        <p:spPr>
          <a:xfrm>
            <a:off x="6537960" y="1097280"/>
            <a:ext cx="2148840" cy="640080"/>
          </a:xfrm>
          <a:prstGeom prst="rect">
            <a:avLst/>
          </a:prstGeom>
          <a:noFill/>
          <a:ln/>
        </p:spPr>
        <p:txBody>
          <a:bodyPr wrap="square" lIns="0" tIns="0" rIns="0" bIns="0" rtlCol="0" anchor="ctr"/>
          <a:lstStyle/>
          <a:p>
            <a:pPr indent="0" marL="0">
              <a:buNone/>
            </a:pPr>
            <a:r>
              <a:rPr lang="en-US" sz="3400" b="1" dirty="0">
                <a:solidFill>
                  <a:schemeClr val="accent1"/>
                </a:solidFill>
                <a:latin typeface="Arial" pitchFamily="34" charset="0"/>
                <a:ea typeface="Arial" pitchFamily="34" charset="-122"/>
                <a:cs typeface="Arial" pitchFamily="34" charset="-120"/>
              </a:rPr>
              <a:t>99–100%</a:t>
            </a:r>
            <a:endParaRPr lang="en-US" sz="3400" dirty="0"/>
          </a:p>
        </p:txBody>
      </p:sp>
      <p:sp>
        <p:nvSpPr>
          <p:cNvPr id="5" name="Monotonic label"/>
          <p:cNvSpPr txBox="1"/>
          <p:nvPr/>
        </p:nvSpPr>
        <p:spPr>
          <a:xfrm>
            <a:off x="6537960" y="1737360"/>
            <a:ext cx="2148840" cy="685800"/>
          </a:xfrm>
          <a:prstGeom prst="rect">
            <a:avLst/>
          </a:prstGeom>
          <a:noFill/>
          <a:ln/>
        </p:spPr>
        <p:txBody>
          <a:bodyPr wrap="square" lIns="0" tIns="0" rIns="0" bIns="0" rtlCol="0" anchor="ctr"/>
          <a:lstStyle/>
          <a:p>
            <a:pPr indent="0" marL="0">
              <a:buNone/>
            </a:pPr>
            <a:r>
              <a:rPr lang="en-US" sz="1200" dirty="0">
                <a:solidFill>
                  <a:schemeClr val="accent6"/>
                </a:solidFill>
              </a:rPr>
              <a:t>of decoder steps never move backwards in the text</a:t>
            </a:r>
            <a:endParaRPr lang="en-US" sz="1200" dirty="0"/>
          </a:p>
        </p:txBody>
      </p:sp>
      <p:sp>
        <p:nvSpPr>
          <p:cNvPr id="6" name="Progress takeaway"/>
          <p:cNvSpPr txBox="1"/>
          <p:nvPr/>
        </p:nvSpPr>
        <p:spPr>
          <a:xfrm>
            <a:off x="6537960" y="2651760"/>
            <a:ext cx="2148840" cy="1463040"/>
          </a:xfrm>
          <a:prstGeom prst="rect">
            <a:avLst/>
          </a:prstGeom>
          <a:noFill/>
          <a:ln/>
        </p:spPr>
        <p:txBody>
          <a:bodyPr wrap="square" lIns="0" tIns="0" rIns="0" bIns="0" rtlCol="0" anchor="t"/>
          <a:lstStyle/>
          <a:p>
            <a:pPr indent="0" marL="0">
              <a:buNone/>
            </a:pPr>
            <a:r>
              <a:rPr lang="en-US" sz="1300" b="1" dirty="0">
                <a:solidFill>
                  <a:schemeClr val="tx1"/>
                </a:solidFill>
              </a:rPr>
              <a:t>The diagonal appears within the first 500 steps: the guided attention loss fixes the 2018 failure.</a:t>
            </a:r>
            <a:endParaRPr lang="en-US" sz="13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chemeClr val="tx2"/>
                </a:solidFill>
                <a:latin typeface="Arial" pitchFamily="34" charset="0"/>
                <a:ea typeface="Arial" pitchFamily="34" charset="-122"/>
                <a:cs typeface="Arial" pitchFamily="34" charset="-120"/>
              </a:rPr>
              <a:t>Vocoders: speed and quality</a:t>
            </a:r>
            <a:endParaRPr lang="en-US" sz="3000" dirty="0"/>
          </a:p>
        </p:txBody>
      </p:sp>
      <p:sp>
        <p:nvSpPr>
          <p:cNvPr id="3" name="Vocoder card 1"/>
          <p:cNvSpPr/>
          <p:nvPr/>
        </p:nvSpPr>
        <p:spPr>
          <a:xfrm>
            <a:off x="457200" y="1097280"/>
            <a:ext cx="4023360" cy="2880360"/>
          </a:xfrm>
          <a:prstGeom prst="roundRect">
            <a:avLst>
              <a:gd name="adj" fmla="val 2540"/>
            </a:avLst>
          </a:prstGeom>
          <a:solidFill>
            <a:schemeClr val="bg2"/>
          </a:solidFill>
          <a:ln w="12700">
            <a:solidFill>
              <a:schemeClr val="bg2"/>
            </a:solidFill>
            <a:prstDash val="solid"/>
          </a:ln>
        </p:spPr>
      </p:sp>
      <p:sp>
        <p:nvSpPr>
          <p:cNvPr id="4" name="Vocoder 1 name"/>
          <p:cNvSpPr txBox="1"/>
          <p:nvPr/>
        </p:nvSpPr>
        <p:spPr>
          <a:xfrm>
            <a:off x="731520" y="1280160"/>
            <a:ext cx="3474720" cy="365760"/>
          </a:xfrm>
          <a:prstGeom prst="rect">
            <a:avLst/>
          </a:prstGeom>
          <a:noFill/>
          <a:ln/>
        </p:spPr>
        <p:txBody>
          <a:bodyPr wrap="square" lIns="0" tIns="0" rIns="0" bIns="0" rtlCol="0" anchor="ctr"/>
          <a:lstStyle/>
          <a:p>
            <a:pPr indent="0" marL="0">
              <a:buNone/>
            </a:pPr>
            <a:r>
              <a:rPr lang="en-US" sz="2000" b="1" dirty="0">
                <a:solidFill>
                  <a:schemeClr val="tx1"/>
                </a:solidFill>
              </a:rPr>
              <a:t>Griffin-Lim</a:t>
            </a:r>
            <a:endParaRPr lang="en-US" sz="2000" dirty="0"/>
          </a:p>
        </p:txBody>
      </p:sp>
      <p:sp>
        <p:nvSpPr>
          <p:cNvPr id="5" name="Vocoder 1 how"/>
          <p:cNvSpPr txBox="1"/>
          <p:nvPr/>
        </p:nvSpPr>
        <p:spPr>
          <a:xfrm>
            <a:off x="731520" y="1645920"/>
            <a:ext cx="3474720" cy="320040"/>
          </a:xfrm>
          <a:prstGeom prst="rect">
            <a:avLst/>
          </a:prstGeom>
          <a:noFill/>
          <a:ln/>
        </p:spPr>
        <p:txBody>
          <a:bodyPr wrap="square" lIns="0" tIns="0" rIns="0" bIns="0" rtlCol="0" anchor="ctr"/>
          <a:lstStyle/>
          <a:p>
            <a:pPr indent="0" marL="0">
              <a:buNone/>
            </a:pPr>
            <a:r>
              <a:rPr lang="en-US" sz="1300" dirty="0">
                <a:solidFill>
                  <a:schemeClr val="accent6"/>
                </a:solidFill>
              </a:rPr>
              <a:t>signal processing, no learning</a:t>
            </a:r>
            <a:endParaRPr lang="en-US" sz="1300" dirty="0"/>
          </a:p>
        </p:txBody>
      </p:sp>
      <p:sp>
        <p:nvSpPr>
          <p:cNvPr id="6" name="Vocoder 1 time"/>
          <p:cNvSpPr txBox="1"/>
          <p:nvPr/>
        </p:nvSpPr>
        <p:spPr>
          <a:xfrm>
            <a:off x="731520" y="2057400"/>
            <a:ext cx="3474720" cy="731520"/>
          </a:xfrm>
          <a:prstGeom prst="rect">
            <a:avLst/>
          </a:prstGeom>
          <a:noFill/>
          <a:ln/>
        </p:spPr>
        <p:txBody>
          <a:bodyPr wrap="square" lIns="0" tIns="0" rIns="0" bIns="0" rtlCol="0" anchor="ctr"/>
          <a:lstStyle/>
          <a:p>
            <a:pPr indent="0" marL="0">
              <a:buNone/>
            </a:pPr>
            <a:r>
              <a:rPr lang="en-US" sz="4400" b="1" dirty="0">
                <a:solidFill>
                  <a:schemeClr val="accent1"/>
                </a:solidFill>
                <a:latin typeface="Arial" pitchFamily="34" charset="0"/>
                <a:ea typeface="Arial" pitchFamily="34" charset="-122"/>
                <a:cs typeface="Arial" pitchFamily="34" charset="-120"/>
              </a:rPr>
              <a:t>0.08 s</a:t>
            </a:r>
            <a:endParaRPr lang="en-US" sz="4400" dirty="0"/>
          </a:p>
        </p:txBody>
      </p:sp>
      <p:sp>
        <p:nvSpPr>
          <p:cNvPr id="7" name="Vocoder 1 unit"/>
          <p:cNvSpPr txBox="1"/>
          <p:nvPr/>
        </p:nvSpPr>
        <p:spPr>
          <a:xfrm>
            <a:off x="731520" y="2743200"/>
            <a:ext cx="3474720" cy="274320"/>
          </a:xfrm>
          <a:prstGeom prst="rect">
            <a:avLst/>
          </a:prstGeom>
          <a:noFill/>
          <a:ln/>
        </p:spPr>
        <p:txBody>
          <a:bodyPr wrap="square" lIns="0" tIns="0" rIns="0" bIns="0" rtlCol="0" anchor="ctr"/>
          <a:lstStyle/>
          <a:p>
            <a:pPr indent="0" marL="0">
              <a:buNone/>
            </a:pPr>
            <a:r>
              <a:rPr lang="en-US" sz="1200" dirty="0">
                <a:solidFill>
                  <a:schemeClr val="accent6"/>
                </a:solidFill>
              </a:rPr>
              <a:t>to make 3.3 s of speech</a:t>
            </a:r>
            <a:endParaRPr lang="en-US" sz="1200" dirty="0"/>
          </a:p>
        </p:txBody>
      </p:sp>
      <p:sp>
        <p:nvSpPr>
          <p:cNvPr id="8" name="Vocoder 1 verdict"/>
          <p:cNvSpPr txBox="1"/>
          <p:nvPr/>
        </p:nvSpPr>
        <p:spPr>
          <a:xfrm>
            <a:off x="731520" y="3154680"/>
            <a:ext cx="3474720" cy="731520"/>
          </a:xfrm>
          <a:prstGeom prst="rect">
            <a:avLst/>
          </a:prstGeom>
          <a:noFill/>
          <a:ln/>
        </p:spPr>
        <p:txBody>
          <a:bodyPr wrap="square" lIns="0" tIns="0" rIns="0" bIns="0" rtlCol="0" anchor="t"/>
          <a:lstStyle/>
          <a:p>
            <a:pPr indent="0" marL="0">
              <a:buNone/>
            </a:pPr>
            <a:r>
              <a:rPr lang="en-US" sz="1400" dirty="0">
                <a:solidFill>
                  <a:schemeClr val="tx1"/>
                </a:solidFill>
              </a:rPr>
              <a:t>Fast, but metallic: it has to guess the phase the mel throws away</a:t>
            </a:r>
            <a:endParaRPr lang="en-US" sz="1400" dirty="0"/>
          </a:p>
        </p:txBody>
      </p:sp>
      <p:sp>
        <p:nvSpPr>
          <p:cNvPr id="9" name="Vocoder card 2"/>
          <p:cNvSpPr/>
          <p:nvPr/>
        </p:nvSpPr>
        <p:spPr>
          <a:xfrm>
            <a:off x="4663440" y="1097280"/>
            <a:ext cx="4023360" cy="2880360"/>
          </a:xfrm>
          <a:prstGeom prst="roundRect">
            <a:avLst>
              <a:gd name="adj" fmla="val 2540"/>
            </a:avLst>
          </a:prstGeom>
          <a:solidFill>
            <a:schemeClr val="bg2"/>
          </a:solidFill>
          <a:ln w="12700">
            <a:solidFill>
              <a:schemeClr val="bg2"/>
            </a:solidFill>
            <a:prstDash val="solid"/>
          </a:ln>
        </p:spPr>
      </p:sp>
      <p:sp>
        <p:nvSpPr>
          <p:cNvPr id="10" name="Vocoder 2 name"/>
          <p:cNvSpPr txBox="1"/>
          <p:nvPr/>
        </p:nvSpPr>
        <p:spPr>
          <a:xfrm>
            <a:off x="4937760" y="1280160"/>
            <a:ext cx="3474720" cy="365760"/>
          </a:xfrm>
          <a:prstGeom prst="rect">
            <a:avLst/>
          </a:prstGeom>
          <a:noFill/>
          <a:ln/>
        </p:spPr>
        <p:txBody>
          <a:bodyPr wrap="square" lIns="0" tIns="0" rIns="0" bIns="0" rtlCol="0" anchor="ctr"/>
          <a:lstStyle/>
          <a:p>
            <a:pPr indent="0" marL="0">
              <a:buNone/>
            </a:pPr>
            <a:r>
              <a:rPr lang="en-US" sz="2000" b="1" dirty="0">
                <a:solidFill>
                  <a:schemeClr val="tx1"/>
                </a:solidFill>
              </a:rPr>
              <a:t>HiFi-GAN</a:t>
            </a:r>
            <a:endParaRPr lang="en-US" sz="2000" dirty="0"/>
          </a:p>
        </p:txBody>
      </p:sp>
      <p:sp>
        <p:nvSpPr>
          <p:cNvPr id="11" name="Vocoder 2 how"/>
          <p:cNvSpPr txBox="1"/>
          <p:nvPr/>
        </p:nvSpPr>
        <p:spPr>
          <a:xfrm>
            <a:off x="4937760" y="1645920"/>
            <a:ext cx="3474720" cy="320040"/>
          </a:xfrm>
          <a:prstGeom prst="rect">
            <a:avLst/>
          </a:prstGeom>
          <a:noFill/>
          <a:ln/>
        </p:spPr>
        <p:txBody>
          <a:bodyPr wrap="square" lIns="0" tIns="0" rIns="0" bIns="0" rtlCol="0" anchor="ctr"/>
          <a:lstStyle/>
          <a:p>
            <a:pPr indent="0" marL="0">
              <a:buNone/>
            </a:pPr>
            <a:r>
              <a:rPr lang="en-US" sz="1300" dirty="0">
                <a:solidFill>
                  <a:schemeClr val="accent6"/>
                </a:solidFill>
              </a:rPr>
              <a:t>neural network (GAN), all frames in parallel</a:t>
            </a:r>
            <a:endParaRPr lang="en-US" sz="1300" dirty="0"/>
          </a:p>
        </p:txBody>
      </p:sp>
      <p:sp>
        <p:nvSpPr>
          <p:cNvPr id="12" name="Vocoder 2 time"/>
          <p:cNvSpPr txBox="1"/>
          <p:nvPr/>
        </p:nvSpPr>
        <p:spPr>
          <a:xfrm>
            <a:off x="4937760" y="2057400"/>
            <a:ext cx="3474720" cy="731520"/>
          </a:xfrm>
          <a:prstGeom prst="rect">
            <a:avLst/>
          </a:prstGeom>
          <a:noFill/>
          <a:ln/>
        </p:spPr>
        <p:txBody>
          <a:bodyPr wrap="square" lIns="0" tIns="0" rIns="0" bIns="0" rtlCol="0" anchor="ctr"/>
          <a:lstStyle/>
          <a:p>
            <a:pPr indent="0" marL="0">
              <a:buNone/>
            </a:pPr>
            <a:r>
              <a:rPr lang="en-US" sz="4400" b="1" dirty="0">
                <a:solidFill>
                  <a:schemeClr val="accent4"/>
                </a:solidFill>
                <a:latin typeface="Arial" pitchFamily="34" charset="0"/>
                <a:ea typeface="Arial" pitchFamily="34" charset="-122"/>
                <a:cs typeface="Arial" pitchFamily="34" charset="-120"/>
              </a:rPr>
              <a:t>0.65 s</a:t>
            </a:r>
            <a:endParaRPr lang="en-US" sz="4400" dirty="0"/>
          </a:p>
        </p:txBody>
      </p:sp>
      <p:sp>
        <p:nvSpPr>
          <p:cNvPr id="13" name="Vocoder 2 unit"/>
          <p:cNvSpPr txBox="1"/>
          <p:nvPr/>
        </p:nvSpPr>
        <p:spPr>
          <a:xfrm>
            <a:off x="4937760" y="2743200"/>
            <a:ext cx="3474720" cy="274320"/>
          </a:xfrm>
          <a:prstGeom prst="rect">
            <a:avLst/>
          </a:prstGeom>
          <a:noFill/>
          <a:ln/>
        </p:spPr>
        <p:txBody>
          <a:bodyPr wrap="square" lIns="0" tIns="0" rIns="0" bIns="0" rtlCol="0" anchor="ctr"/>
          <a:lstStyle/>
          <a:p>
            <a:pPr indent="0" marL="0">
              <a:buNone/>
            </a:pPr>
            <a:r>
              <a:rPr lang="en-US" sz="1200" dirty="0">
                <a:solidFill>
                  <a:schemeClr val="accent6"/>
                </a:solidFill>
              </a:rPr>
              <a:t>to make 3.3 s of speech</a:t>
            </a:r>
            <a:endParaRPr lang="en-US" sz="1200" dirty="0"/>
          </a:p>
        </p:txBody>
      </p:sp>
      <p:sp>
        <p:nvSpPr>
          <p:cNvPr id="14" name="Vocoder 2 verdict"/>
          <p:cNvSpPr txBox="1"/>
          <p:nvPr/>
        </p:nvSpPr>
        <p:spPr>
          <a:xfrm>
            <a:off x="4937760" y="3154680"/>
            <a:ext cx="3474720" cy="731520"/>
          </a:xfrm>
          <a:prstGeom prst="rect">
            <a:avLst/>
          </a:prstGeom>
          <a:noFill/>
          <a:ln/>
        </p:spPr>
        <p:txBody>
          <a:bodyPr wrap="square" lIns="0" tIns="0" rIns="0" bIns="0" rtlCol="0" anchor="t"/>
          <a:lstStyle/>
          <a:p>
            <a:pPr indent="0" marL="0">
              <a:buNone/>
            </a:pPr>
            <a:r>
              <a:rPr lang="en-US" sz="1400" dirty="0">
                <a:solidFill>
                  <a:schemeClr val="tx1"/>
                </a:solidFill>
              </a:rPr>
              <a:t>Natural sounding, and still about 5× faster than real time</a:t>
            </a:r>
            <a:endParaRPr lang="en-US" sz="1400" dirty="0"/>
          </a:p>
        </p:txBody>
      </p:sp>
      <p:sp>
        <p:nvSpPr>
          <p:cNvPr id="15" name="Vocoder method"/>
          <p:cNvSpPr txBox="1"/>
          <p:nvPr/>
        </p:nvSpPr>
        <p:spPr>
          <a:xfrm>
            <a:off x="457200" y="4114800"/>
            <a:ext cx="8229600" cy="548640"/>
          </a:xfrm>
          <a:prstGeom prst="rect">
            <a:avLst/>
          </a:prstGeom>
          <a:noFill/>
          <a:ln/>
        </p:spPr>
        <p:txBody>
          <a:bodyPr wrap="square" lIns="0" tIns="0" rIns="0" bIns="0" rtlCol="0" anchor="ctr"/>
          <a:lstStyle/>
          <a:p>
            <a:pPr indent="0" marL="0">
              <a:buNone/>
            </a:pPr>
            <a:r>
              <a:rPr lang="en-US" sz="1200" dirty="0">
                <a:solidFill>
                  <a:schemeClr val="accent6"/>
                </a:solidFill>
              </a:rPr>
              <a:t>Same sentence on a laptop CPU, identical mel into both vocoders, so only the vocoder differs. Colatron's mels work with both, because all parts share one mel format.</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chemeClr val="tx2"/>
                </a:solidFill>
                <a:latin typeface="Arial" pitchFamily="34" charset="0"/>
                <a:ea typeface="Arial" pitchFamily="34" charset="-122"/>
                <a:cs typeface="Arial" pitchFamily="34" charset="-120"/>
              </a:rPr>
              <a:t>Can a listener understand it?</a:t>
            </a:r>
            <a:endParaRPr lang="en-US" sz="3000" dirty="0"/>
          </a:p>
        </p:txBody>
      </p:sp>
      <p:graphicFrame>
        <p:nvGraphicFramePr>
          <p:cNvPr id="3" name="Word error rate chart" descr=""/>
          <p:cNvGraphicFramePr/>
          <p:nvPr/>
        </p:nvGraphicFramePr>
        <p:xfrm>
          <a:off x="457200" y="1005840"/>
          <a:ext cx="5120640" cy="3566160"/>
        </p:xfrm>
        <a:graphic xmlns:a="http://schemas.openxmlformats.org/drawingml/2006/main">
          <a:graphicData uri="http://schemas.openxmlformats.org/drawingml/2006/chart">
            <c:chart xmlns:c="http://schemas.openxmlformats.org/drawingml/2006/chart" r:id="rId1"/>
          </a:graphicData>
        </a:graphic>
      </p:graphicFrame>
      <p:sp>
        <p:nvSpPr>
          <p:cNvPr id="4" name="Colatron WER value"/>
          <p:cNvSpPr txBox="1"/>
          <p:nvPr/>
        </p:nvSpPr>
        <p:spPr>
          <a:xfrm>
            <a:off x="5852160" y="1097280"/>
            <a:ext cx="2834640" cy="640080"/>
          </a:xfrm>
          <a:prstGeom prst="rect">
            <a:avLst/>
          </a:prstGeom>
          <a:noFill/>
          <a:ln/>
        </p:spPr>
        <p:txBody>
          <a:bodyPr wrap="square" lIns="0" tIns="0" rIns="0" bIns="0" rtlCol="0" anchor="ctr"/>
          <a:lstStyle/>
          <a:p>
            <a:pPr indent="0" marL="0">
              <a:buNone/>
            </a:pPr>
            <a:r>
              <a:rPr lang="en-US" sz="4000" b="1" dirty="0">
                <a:solidFill>
                  <a:schemeClr val="accent1"/>
                </a:solidFill>
                <a:latin typeface="Arial" pitchFamily="34" charset="0"/>
                <a:ea typeface="Arial" pitchFamily="34" charset="-122"/>
                <a:cs typeface="Arial" pitchFamily="34" charset="-120"/>
              </a:rPr>
              <a:t>9%</a:t>
            </a:r>
            <a:endParaRPr lang="en-US" sz="4000" dirty="0"/>
          </a:p>
        </p:txBody>
      </p:sp>
      <p:sp>
        <p:nvSpPr>
          <p:cNvPr id="5" name="Colatron WER label"/>
          <p:cNvSpPr txBox="1"/>
          <p:nvPr/>
        </p:nvSpPr>
        <p:spPr>
          <a:xfrm>
            <a:off x="5852160" y="1737360"/>
            <a:ext cx="2834640" cy="685800"/>
          </a:xfrm>
          <a:prstGeom prst="rect">
            <a:avLst/>
          </a:prstGeom>
          <a:noFill/>
          <a:ln/>
        </p:spPr>
        <p:txBody>
          <a:bodyPr wrap="square" lIns="0" tIns="0" rIns="0" bIns="0" rtlCol="0" anchor="ctr"/>
          <a:lstStyle/>
          <a:p>
            <a:pPr indent="0" marL="0">
              <a:buNone/>
            </a:pPr>
            <a:r>
              <a:rPr lang="en-US" sz="1300" dirty="0">
                <a:solidFill>
                  <a:schemeClr val="accent6"/>
                </a:solidFill>
              </a:rPr>
              <a:t>word error rate for Colatron + HiFi-GAN, versus 100% for the baseline and 16% for Tacotron 2</a:t>
            </a:r>
            <a:endParaRPr lang="en-US" sz="1300" dirty="0"/>
          </a:p>
        </p:txBody>
      </p:sp>
      <p:sp>
        <p:nvSpPr>
          <p:cNvPr id="6" name="WER method"/>
          <p:cNvSpPr txBox="1"/>
          <p:nvPr/>
        </p:nvSpPr>
        <p:spPr>
          <a:xfrm>
            <a:off x="5852160" y="2468880"/>
            <a:ext cx="2834640" cy="2103120"/>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chemeClr val="tx1"/>
                </a:solidFill>
              </a:rPr>
              <a:t>Model checkpoint: step 18,000</a:t>
            </a:r>
            <a:endParaRPr lang="en-US" sz="1200" dirty="0"/>
          </a:p>
          <a:p>
            <a:pPr marL="342900" indent="-342900">
              <a:spcAft>
                <a:spcPts val="400"/>
              </a:spcAft>
              <a:buSzPct val="100000"/>
              <a:buChar char="•"/>
            </a:pPr>
            <a:r>
              <a:rPr lang="en-US" sz="1200" dirty="0">
                <a:solidFill>
                  <a:schemeClr val="tx1"/>
                </a:solidFill>
              </a:rPr>
              <a:t>wav2vec 2.0 recogniser (never trained on LJ Speech) transcribes each clip</a:t>
            </a:r>
            <a:endParaRPr lang="en-US" sz="1200" dirty="0"/>
          </a:p>
          <a:p>
            <a:pPr marL="342900" indent="-342900">
              <a:spcAft>
                <a:spcPts val="400"/>
              </a:spcAft>
              <a:buSzPct val="100000"/>
              <a:buChar char="•"/>
            </a:pPr>
            <a:r>
              <a:rPr lang="en-US" sz="1200" dirty="0">
                <a:solidFill>
                  <a:schemeClr val="tx1"/>
                </a:solidFill>
              </a:rPr>
              <a:t>Compared word by word with the sentence we asked for</a:t>
            </a:r>
            <a:endParaRPr lang="en-US" sz="1200" dirty="0"/>
          </a:p>
          <a:p>
            <a:pPr marL="342900" indent="-342900">
              <a:spcAft>
                <a:spcPts val="400"/>
              </a:spcAft>
              <a:buSzPct val="100000"/>
              <a:buChar char="•"/>
            </a:pPr>
            <a:r>
              <a:rPr lang="en-US" sz="1200" dirty="0">
                <a:solidFill>
                  <a:schemeClr val="tx1"/>
                </a:solidFill>
              </a:rPr>
              <a:t>20 held-out test clips; real recordings give the floor</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chemeClr val="tx2"/>
                </a:solidFill>
                <a:latin typeface="Arial" pitchFamily="34" charset="0"/>
                <a:ea typeface="Arial" pitchFamily="34" charset="-122"/>
                <a:cs typeface="Arial" pitchFamily="34" charset="-120"/>
              </a:rPr>
              <a:t>Distance to the real recording</a:t>
            </a:r>
            <a:endParaRPr lang="en-US" sz="3000" dirty="0"/>
          </a:p>
        </p:txBody>
      </p:sp>
      <p:graphicFrame>
        <p:nvGraphicFramePr>
          <p:cNvPr id="3" name="Mel distance chart" descr=""/>
          <p:cNvGraphicFramePr/>
          <p:nvPr/>
        </p:nvGraphicFramePr>
        <p:xfrm>
          <a:off x="457200" y="1005840"/>
          <a:ext cx="5120640" cy="3566160"/>
        </p:xfrm>
        <a:graphic xmlns:a="http://schemas.openxmlformats.org/drawingml/2006/main">
          <a:graphicData uri="http://schemas.openxmlformats.org/drawingml/2006/chart">
            <c:chart xmlns:c="http://schemas.openxmlformats.org/drawingml/2006/chart" r:id="rId1"/>
          </a:graphicData>
        </a:graphic>
      </p:graphicFrame>
      <p:sp>
        <p:nvSpPr>
          <p:cNvPr id="4" name="Improvement value"/>
          <p:cNvSpPr txBox="1"/>
          <p:nvPr/>
        </p:nvSpPr>
        <p:spPr>
          <a:xfrm>
            <a:off x="5852160" y="1097280"/>
            <a:ext cx="2834640" cy="640080"/>
          </a:xfrm>
          <a:prstGeom prst="rect">
            <a:avLst/>
          </a:prstGeom>
          <a:noFill/>
          <a:ln/>
        </p:spPr>
        <p:txBody>
          <a:bodyPr wrap="square" lIns="0" tIns="0" rIns="0" bIns="0" rtlCol="0" anchor="ctr"/>
          <a:lstStyle/>
          <a:p>
            <a:pPr indent="0" marL="0">
              <a:buNone/>
            </a:pPr>
            <a:r>
              <a:rPr lang="en-US" sz="3600" b="1" dirty="0">
                <a:solidFill>
                  <a:schemeClr val="accent1"/>
                </a:solidFill>
                <a:latin typeface="Arial" pitchFamily="34" charset="0"/>
                <a:ea typeface="Arial" pitchFamily="34" charset="-122"/>
                <a:cs typeface="Arial" pitchFamily="34" charset="-120"/>
              </a:rPr>
              <a:t>33% lower</a:t>
            </a:r>
            <a:endParaRPr lang="en-US" sz="3600" dirty="0"/>
          </a:p>
        </p:txBody>
      </p:sp>
      <p:sp>
        <p:nvSpPr>
          <p:cNvPr id="5" name="Improvement label"/>
          <p:cNvSpPr txBox="1"/>
          <p:nvPr/>
        </p:nvSpPr>
        <p:spPr>
          <a:xfrm>
            <a:off x="5852160" y="1691640"/>
            <a:ext cx="2834640" cy="594360"/>
          </a:xfrm>
          <a:prstGeom prst="rect">
            <a:avLst/>
          </a:prstGeom>
          <a:noFill/>
          <a:ln/>
        </p:spPr>
        <p:txBody>
          <a:bodyPr wrap="square" lIns="0" tIns="0" rIns="0" bIns="0" rtlCol="0" anchor="ctr"/>
          <a:lstStyle/>
          <a:p>
            <a:pPr indent="0" marL="0">
              <a:buNone/>
            </a:pPr>
            <a:r>
              <a:rPr lang="en-US" sz="1300" dirty="0">
                <a:solidFill>
                  <a:schemeClr val="accent6"/>
                </a:solidFill>
              </a:rPr>
              <a:t>Colatron vs baseline, both through Griffin-Lim (a fair, same-vocoder comparison)</a:t>
            </a:r>
            <a:endParaRPr lang="en-US" sz="1300" dirty="0"/>
          </a:p>
        </p:txBody>
      </p:sp>
      <p:sp>
        <p:nvSpPr>
          <p:cNvPr id="6" name="Method list"/>
          <p:cNvSpPr txBox="1"/>
          <p:nvPr/>
        </p:nvSpPr>
        <p:spPr>
          <a:xfrm>
            <a:off x="5852160" y="2423160"/>
            <a:ext cx="2834640" cy="1097280"/>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chemeClr val="tx1"/>
                </a:solidFill>
              </a:rPr>
              <a:t>Same 20 held-out test clips</a:t>
            </a:r>
            <a:endParaRPr lang="en-US" sz="1200" dirty="0"/>
          </a:p>
          <a:p>
            <a:pPr marL="342900" indent="-342900">
              <a:spcAft>
                <a:spcPts val="400"/>
              </a:spcAft>
              <a:buSzPct val="100000"/>
              <a:buChar char="•"/>
            </a:pPr>
            <a:r>
              <a:rPr lang="en-US" sz="1200" dirty="0">
                <a:solidFill>
                  <a:schemeClr val="tx1"/>
                </a:solidFill>
              </a:rPr>
              <a:t>Generated audio → mel with the same settings</a:t>
            </a:r>
            <a:endParaRPr lang="en-US" sz="1200" dirty="0"/>
          </a:p>
          <a:p>
            <a:pPr marL="342900" indent="-342900">
              <a:spcAft>
                <a:spcPts val="400"/>
              </a:spcAft>
              <a:buSzPct val="100000"/>
              <a:buChar char="•"/>
            </a:pPr>
            <a:r>
              <a:rPr lang="en-US" sz="1200" dirty="0">
                <a:solidFill>
                  <a:schemeClr val="tx1"/>
                </a:solidFill>
              </a:rPr>
              <a:t>DTW lines up the two mels in time before comparing</a:t>
            </a:r>
            <a:endParaRPr lang="en-US" sz="1200" dirty="0"/>
          </a:p>
        </p:txBody>
      </p:sp>
      <p:sp>
        <p:nvSpPr>
          <p:cNvPr id="7" name="Caveat"/>
          <p:cNvSpPr txBox="1"/>
          <p:nvPr/>
        </p:nvSpPr>
        <p:spPr>
          <a:xfrm>
            <a:off x="5852160" y="3611880"/>
            <a:ext cx="2834640" cy="914400"/>
          </a:xfrm>
          <a:prstGeom prst="rect">
            <a:avLst/>
          </a:prstGeom>
          <a:noFill/>
          <a:ln/>
        </p:spPr>
        <p:txBody>
          <a:bodyPr wrap="square" lIns="0" tIns="0" rIns="0" bIns="0" rtlCol="0" anchor="t"/>
          <a:lstStyle/>
          <a:p>
            <a:pPr indent="0" marL="0">
              <a:buNone/>
            </a:pPr>
            <a:r>
              <a:rPr lang="en-US" sz="1200" b="1" dirty="0">
                <a:solidFill>
                  <a:schemeClr val="accent6"/>
                </a:solidFill>
              </a:rPr>
              <a:t>Caveat: </a:t>
            </a:r>
            <a:pPr indent="0" marL="0">
              <a:buNone/>
            </a:pPr>
            <a:r>
              <a:rPr lang="en-US" sz="1200" dirty="0">
                <a:solidFill>
                  <a:schemeClr val="accent6"/>
                </a:solidFill>
              </a:rPr>
              <a:t>Tacotron 2 was pretrained on all of LJ Speech, so it may have seen these clips. Colatron never did.</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chemeClr val="tx2"/>
                </a:solidFill>
                <a:latin typeface="Arial" pitchFamily="34" charset="0"/>
                <a:ea typeface="Arial" pitchFamily="34" charset="-122"/>
                <a:cs typeface="Arial" pitchFamily="34" charset="-120"/>
              </a:rPr>
              <a:t>What the three models produce</a:t>
            </a:r>
            <a:endParaRPr lang="en-US" sz="3000" dirty="0"/>
          </a:p>
        </p:txBody>
      </p:sp>
      <p:pic>
        <p:nvPicPr>
          <p:cNvPr id="3" name="Three system mel plot" descr="Mel spectrograms of the same sentence from the baseline, Colatron and Tacotron 2.">    </p:cNvPr>
          <p:cNvPicPr>
            <a:picLocks noChangeAspect="1"/>
          </p:cNvPicPr>
          <p:nvPr/>
        </p:nvPicPr>
        <p:blipFill>
          <a:blip r:embed="rId1"/>
          <a:stretch>
            <a:fillRect/>
          </a:stretch>
        </p:blipFill>
        <p:spPr>
          <a:xfrm>
            <a:off x="457200" y="1005840"/>
            <a:ext cx="5120640" cy="3584448"/>
          </a:xfrm>
          <a:prstGeom prst="rect">
            <a:avLst/>
          </a:prstGeom>
        </p:spPr>
      </p:pic>
      <p:sp>
        <p:nvSpPr>
          <p:cNvPr id="4" name="Baseline reads"/>
          <p:cNvSpPr txBox="1"/>
          <p:nvPr/>
        </p:nvSpPr>
        <p:spPr>
          <a:xfrm>
            <a:off x="5852160" y="1051560"/>
            <a:ext cx="2834640" cy="960120"/>
          </a:xfrm>
          <a:prstGeom prst="rect">
            <a:avLst/>
          </a:prstGeom>
          <a:noFill/>
          <a:ln/>
        </p:spPr>
        <p:txBody>
          <a:bodyPr wrap="square" lIns="0" tIns="0" rIns="0" bIns="0" rtlCol="0" anchor="t"/>
          <a:lstStyle/>
          <a:p>
            <a:pPr indent="0" marL="0">
              <a:buNone/>
            </a:pPr>
            <a:r>
              <a:rPr lang="en-US" sz="1300" b="1" dirty="0">
                <a:solidFill>
                  <a:schemeClr val="accent2"/>
                </a:solidFill>
              </a:rPr>
              <a:t>Baseline</a:t>
            </a:r>
            <a:endParaRPr lang="en-US" sz="1300" dirty="0"/>
          </a:p>
          <a:p>
            <a:pPr indent="0" marL="0">
              <a:buNone/>
            </a:pPr>
            <a:r>
              <a:rPr lang="en-US" sz="1300" dirty="0">
                <a:solidFill>
                  <a:schemeClr val="tx1"/>
                </a:solidFill>
              </a:rPr>
              <a:t>One smooth blur: without timing it predicts the average sound.</a:t>
            </a:r>
            <a:endParaRPr lang="en-US" sz="1300" dirty="0"/>
          </a:p>
        </p:txBody>
      </p:sp>
      <p:sp>
        <p:nvSpPr>
          <p:cNvPr id="5" name="Colatron reads"/>
          <p:cNvSpPr txBox="1"/>
          <p:nvPr/>
        </p:nvSpPr>
        <p:spPr>
          <a:xfrm>
            <a:off x="5852160" y="2057400"/>
            <a:ext cx="2834640" cy="960120"/>
          </a:xfrm>
          <a:prstGeom prst="rect">
            <a:avLst/>
          </a:prstGeom>
          <a:noFill/>
          <a:ln/>
        </p:spPr>
        <p:txBody>
          <a:bodyPr wrap="square" lIns="0" tIns="0" rIns="0" bIns="0" rtlCol="0" anchor="t"/>
          <a:lstStyle/>
          <a:p>
            <a:pPr indent="0" marL="0">
              <a:buNone/>
            </a:pPr>
            <a:r>
              <a:rPr lang="en-US" sz="1300" b="1" dirty="0">
                <a:solidFill>
                  <a:schemeClr val="accent1"/>
                </a:solidFill>
              </a:rPr>
              <a:t>Colatron (ours)</a:t>
            </a:r>
            <a:endParaRPr lang="en-US" sz="1300" dirty="0"/>
          </a:p>
          <a:p>
            <a:pPr indent="0" marL="0">
              <a:buNone/>
            </a:pPr>
            <a:r>
              <a:rPr lang="en-US" sz="1300" dirty="0">
                <a:solidFill>
                  <a:schemeClr val="tx1"/>
                </a:solidFill>
              </a:rPr>
              <a:t>Syllables, pauses and pitch stripes appear: attention gives it timing.</a:t>
            </a:r>
            <a:endParaRPr lang="en-US" sz="1300" dirty="0"/>
          </a:p>
        </p:txBody>
      </p:sp>
      <p:sp>
        <p:nvSpPr>
          <p:cNvPr id="6" name="Tacotron reads"/>
          <p:cNvSpPr txBox="1"/>
          <p:nvPr/>
        </p:nvSpPr>
        <p:spPr>
          <a:xfrm>
            <a:off x="5852160" y="3063240"/>
            <a:ext cx="2834640" cy="960120"/>
          </a:xfrm>
          <a:prstGeom prst="rect">
            <a:avLst/>
          </a:prstGeom>
          <a:noFill/>
          <a:ln/>
        </p:spPr>
        <p:txBody>
          <a:bodyPr wrap="square" lIns="0" tIns="0" rIns="0" bIns="0" rtlCol="0" anchor="t"/>
          <a:lstStyle/>
          <a:p>
            <a:pPr indent="0" marL="0">
              <a:buNone/>
            </a:pPr>
            <a:r>
              <a:rPr lang="en-US" sz="1300" b="1" dirty="0">
                <a:solidFill>
                  <a:schemeClr val="accent6"/>
                </a:solidFill>
              </a:rPr>
              <a:t>Tacotron 2 (reference)</a:t>
            </a:r>
            <a:endParaRPr lang="en-US" sz="1300" dirty="0"/>
          </a:p>
          <a:p>
            <a:pPr indent="0" marL="0">
              <a:buNone/>
            </a:pPr>
            <a:r>
              <a:rPr lang="en-US" sz="1300" dirty="0">
                <a:solidFill>
                  <a:schemeClr val="tx1"/>
                </a:solidFill>
              </a:rPr>
              <a:t>Sharper detail from 4× the parameters and days of GPU training.</a:t>
            </a:r>
            <a:endParaRPr lang="en-US" sz="13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chemeClr val="tx2"/>
                </a:solidFill>
                <a:latin typeface="Arial" pitchFamily="34" charset="0"/>
                <a:ea typeface="Arial" pitchFamily="34" charset="-122"/>
                <a:cs typeface="Arial" pitchFamily="34" charset="-120"/>
              </a:rPr>
              <a:t>Conclusions</a:t>
            </a:r>
            <a:endParaRPr lang="en-US" sz="3000" dirty="0"/>
          </a:p>
        </p:txBody>
      </p:sp>
      <p:sp>
        <p:nvSpPr>
          <p:cNvPr id="3" name="Conclusion 1 circle"/>
          <p:cNvSpPr/>
          <p:nvPr/>
        </p:nvSpPr>
        <p:spPr>
          <a:xfrm>
            <a:off x="457200" y="1097280"/>
            <a:ext cx="384048" cy="384048"/>
          </a:xfrm>
          <a:prstGeom prst="ellipse">
            <a:avLst/>
          </a:prstGeom>
          <a:solidFill>
            <a:schemeClr val="accent1"/>
          </a:solidFill>
          <a:ln w="12700">
            <a:solidFill>
              <a:schemeClr val="accent1"/>
            </a:solidFill>
            <a:prstDash val="solid"/>
          </a:ln>
        </p:spPr>
      </p:sp>
      <p:sp>
        <p:nvSpPr>
          <p:cNvPr id="4" name="Conclusion 1 label"/>
          <p:cNvSpPr txBox="1"/>
          <p:nvPr/>
        </p:nvSpPr>
        <p:spPr>
          <a:xfrm>
            <a:off x="457200" y="109728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5" name="Conclusion 1 head"/>
          <p:cNvSpPr txBox="1"/>
          <p:nvPr/>
        </p:nvSpPr>
        <p:spPr>
          <a:xfrm>
            <a:off x="1005840" y="1051560"/>
            <a:ext cx="4572000" cy="301752"/>
          </a:xfrm>
          <a:prstGeom prst="rect">
            <a:avLst/>
          </a:prstGeom>
          <a:noFill/>
          <a:ln/>
        </p:spPr>
        <p:txBody>
          <a:bodyPr wrap="square" lIns="0" tIns="0" rIns="0" bIns="0" rtlCol="0" anchor="ctr"/>
          <a:lstStyle/>
          <a:p>
            <a:pPr indent="0" marL="0">
              <a:buNone/>
            </a:pPr>
            <a:r>
              <a:rPr lang="en-US" sz="1500" b="1" dirty="0">
                <a:solidFill>
                  <a:schemeClr val="tx1"/>
                </a:solidFill>
              </a:rPr>
              <a:t>Attention + data fix the 2018 failure</a:t>
            </a:r>
            <a:endParaRPr lang="en-US" sz="1500" dirty="0"/>
          </a:p>
        </p:txBody>
      </p:sp>
      <p:sp>
        <p:nvSpPr>
          <p:cNvPr id="6" name="Conclusion 1 body"/>
          <p:cNvSpPr txBox="1"/>
          <p:nvPr/>
        </p:nvSpPr>
        <p:spPr>
          <a:xfrm>
            <a:off x="1005840" y="1353312"/>
            <a:ext cx="4572000" cy="384048"/>
          </a:xfrm>
          <a:prstGeom prst="rect">
            <a:avLst/>
          </a:prstGeom>
          <a:noFill/>
          <a:ln/>
        </p:spPr>
        <p:txBody>
          <a:bodyPr wrap="square" lIns="0" tIns="0" rIns="0" bIns="0" rtlCol="0" anchor="t"/>
          <a:lstStyle/>
          <a:p>
            <a:pPr indent="0" marL="0">
              <a:buNone/>
            </a:pPr>
            <a:r>
              <a:rPr lang="en-US" sz="1200" dirty="0">
                <a:solidFill>
                  <a:schemeClr val="accent6"/>
                </a:solidFill>
              </a:rPr>
              <a:t>Our from-scratch Colatron reads text in order (99–100% monotonic); the paper's attention never aligned.</a:t>
            </a:r>
            <a:endParaRPr lang="en-US" sz="1200" dirty="0"/>
          </a:p>
        </p:txBody>
      </p:sp>
      <p:sp>
        <p:nvSpPr>
          <p:cNvPr id="7" name="Conclusion 2 circle"/>
          <p:cNvSpPr/>
          <p:nvPr/>
        </p:nvSpPr>
        <p:spPr>
          <a:xfrm>
            <a:off x="457200" y="1810512"/>
            <a:ext cx="384048" cy="384048"/>
          </a:xfrm>
          <a:prstGeom prst="ellipse">
            <a:avLst/>
          </a:prstGeom>
          <a:solidFill>
            <a:schemeClr val="accent1"/>
          </a:solidFill>
          <a:ln w="12700">
            <a:solidFill>
              <a:schemeClr val="accent1"/>
            </a:solidFill>
            <a:prstDash val="solid"/>
          </a:ln>
        </p:spPr>
      </p:sp>
      <p:sp>
        <p:nvSpPr>
          <p:cNvPr id="8" name="Conclusion 2 label"/>
          <p:cNvSpPr txBox="1"/>
          <p:nvPr/>
        </p:nvSpPr>
        <p:spPr>
          <a:xfrm>
            <a:off x="457200" y="1810512"/>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9" name="Conclusion 2 head"/>
          <p:cNvSpPr txBox="1"/>
          <p:nvPr/>
        </p:nvSpPr>
        <p:spPr>
          <a:xfrm>
            <a:off x="1005840" y="1764792"/>
            <a:ext cx="4572000" cy="301752"/>
          </a:xfrm>
          <a:prstGeom prst="rect">
            <a:avLst/>
          </a:prstGeom>
          <a:noFill/>
          <a:ln/>
        </p:spPr>
        <p:txBody>
          <a:bodyPr wrap="square" lIns="0" tIns="0" rIns="0" bIns="0" rtlCol="0" anchor="ctr"/>
          <a:lstStyle/>
          <a:p>
            <a:pPr indent="0" marL="0">
              <a:buNone/>
            </a:pPr>
            <a:r>
              <a:rPr lang="en-US" sz="1500" b="1" dirty="0">
                <a:solidFill>
                  <a:schemeClr val="tx1"/>
                </a:solidFill>
              </a:rPr>
              <a:t>Learned timing is essential</a:t>
            </a:r>
            <a:endParaRPr lang="en-US" sz="1500" dirty="0"/>
          </a:p>
        </p:txBody>
      </p:sp>
      <p:sp>
        <p:nvSpPr>
          <p:cNvPr id="10" name="Conclusion 2 body"/>
          <p:cNvSpPr txBox="1"/>
          <p:nvPr/>
        </p:nvSpPr>
        <p:spPr>
          <a:xfrm>
            <a:off x="1005840" y="2066544"/>
            <a:ext cx="4572000" cy="384048"/>
          </a:xfrm>
          <a:prstGeom prst="rect">
            <a:avLst/>
          </a:prstGeom>
          <a:noFill/>
          <a:ln/>
        </p:spPr>
        <p:txBody>
          <a:bodyPr wrap="square" lIns="0" tIns="0" rIns="0" bIns="0" rtlCol="0" anchor="t"/>
          <a:lstStyle/>
          <a:p>
            <a:pPr indent="0" marL="0">
              <a:buNone/>
            </a:pPr>
            <a:r>
              <a:rPr lang="en-US" sz="1200" dirty="0">
                <a:solidFill>
                  <a:schemeClr val="accent6"/>
                </a:solidFill>
              </a:rPr>
              <a:t>Without attention the baseline is 100% word error; Colatron is 9%.</a:t>
            </a:r>
            <a:endParaRPr lang="en-US" sz="1200" dirty="0"/>
          </a:p>
        </p:txBody>
      </p:sp>
      <p:sp>
        <p:nvSpPr>
          <p:cNvPr id="11" name="Conclusion 3 circle"/>
          <p:cNvSpPr/>
          <p:nvPr/>
        </p:nvSpPr>
        <p:spPr>
          <a:xfrm>
            <a:off x="457200" y="2523744"/>
            <a:ext cx="384048" cy="384048"/>
          </a:xfrm>
          <a:prstGeom prst="ellipse">
            <a:avLst/>
          </a:prstGeom>
          <a:solidFill>
            <a:schemeClr val="accent1"/>
          </a:solidFill>
          <a:ln w="12700">
            <a:solidFill>
              <a:schemeClr val="accent1"/>
            </a:solidFill>
            <a:prstDash val="solid"/>
          </a:ln>
        </p:spPr>
      </p:sp>
      <p:sp>
        <p:nvSpPr>
          <p:cNvPr id="12" name="Conclusion 3 label"/>
          <p:cNvSpPr txBox="1"/>
          <p:nvPr/>
        </p:nvSpPr>
        <p:spPr>
          <a:xfrm>
            <a:off x="457200" y="2523744"/>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3" name="Conclusion 3 head"/>
          <p:cNvSpPr txBox="1"/>
          <p:nvPr/>
        </p:nvSpPr>
        <p:spPr>
          <a:xfrm>
            <a:off x="1005840" y="2478024"/>
            <a:ext cx="4572000" cy="301752"/>
          </a:xfrm>
          <a:prstGeom prst="rect">
            <a:avLst/>
          </a:prstGeom>
          <a:noFill/>
          <a:ln/>
        </p:spPr>
        <p:txBody>
          <a:bodyPr wrap="square" lIns="0" tIns="0" rIns="0" bIns="0" rtlCol="0" anchor="ctr"/>
          <a:lstStyle/>
          <a:p>
            <a:pPr indent="0" marL="0">
              <a:buNone/>
            </a:pPr>
            <a:r>
              <a:rPr lang="en-US" sz="1500" b="1" dirty="0">
                <a:solidFill>
                  <a:schemeClr val="tx1"/>
                </a:solidFill>
              </a:rPr>
              <a:t>Understood better than the reference</a:t>
            </a:r>
            <a:endParaRPr lang="en-US" sz="1500" dirty="0"/>
          </a:p>
        </p:txBody>
      </p:sp>
      <p:sp>
        <p:nvSpPr>
          <p:cNvPr id="14" name="Conclusion 3 body"/>
          <p:cNvSpPr txBox="1"/>
          <p:nvPr/>
        </p:nvSpPr>
        <p:spPr>
          <a:xfrm>
            <a:off x="1005840" y="2779776"/>
            <a:ext cx="4572000" cy="384048"/>
          </a:xfrm>
          <a:prstGeom prst="rect">
            <a:avLst/>
          </a:prstGeom>
          <a:noFill/>
          <a:ln/>
        </p:spPr>
        <p:txBody>
          <a:bodyPr wrap="square" lIns="0" tIns="0" rIns="0" bIns="0" rtlCol="0" anchor="t"/>
          <a:lstStyle/>
          <a:p>
            <a:pPr indent="0" marL="0">
              <a:buNone/>
            </a:pPr>
            <a:r>
              <a:rPr lang="en-US" sz="1200" dirty="0">
                <a:solidFill>
                  <a:schemeClr val="accent6"/>
                </a:solidFill>
              </a:rPr>
              <a:t>Pretrained Tacotron 2 (4× larger, days on GPUs) scores 16% on the same clips, though it still sounds more natural.</a:t>
            </a:r>
            <a:endParaRPr lang="en-US" sz="1200" dirty="0"/>
          </a:p>
        </p:txBody>
      </p:sp>
      <p:sp>
        <p:nvSpPr>
          <p:cNvPr id="15" name="Conclusion 4 circle"/>
          <p:cNvSpPr/>
          <p:nvPr/>
        </p:nvSpPr>
        <p:spPr>
          <a:xfrm>
            <a:off x="457200" y="3236976"/>
            <a:ext cx="384048" cy="384048"/>
          </a:xfrm>
          <a:prstGeom prst="ellipse">
            <a:avLst/>
          </a:prstGeom>
          <a:solidFill>
            <a:schemeClr val="accent1"/>
          </a:solidFill>
          <a:ln w="12700">
            <a:solidFill>
              <a:schemeClr val="accent1"/>
            </a:solidFill>
            <a:prstDash val="solid"/>
          </a:ln>
        </p:spPr>
      </p:sp>
      <p:sp>
        <p:nvSpPr>
          <p:cNvPr id="16" name="Conclusion 4 label"/>
          <p:cNvSpPr txBox="1"/>
          <p:nvPr/>
        </p:nvSpPr>
        <p:spPr>
          <a:xfrm>
            <a:off x="457200" y="3236976"/>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17" name="Conclusion 4 head"/>
          <p:cNvSpPr txBox="1"/>
          <p:nvPr/>
        </p:nvSpPr>
        <p:spPr>
          <a:xfrm>
            <a:off x="1005840" y="3191256"/>
            <a:ext cx="4572000" cy="301752"/>
          </a:xfrm>
          <a:prstGeom prst="rect">
            <a:avLst/>
          </a:prstGeom>
          <a:noFill/>
          <a:ln/>
        </p:spPr>
        <p:txBody>
          <a:bodyPr wrap="square" lIns="0" tIns="0" rIns="0" bIns="0" rtlCol="0" anchor="ctr"/>
          <a:lstStyle/>
          <a:p>
            <a:pPr indent="0" marL="0">
              <a:buNone/>
            </a:pPr>
            <a:r>
              <a:rPr lang="en-US" sz="1500" b="1" dirty="0">
                <a:solidFill>
                  <a:schemeClr val="tx1"/>
                </a:solidFill>
              </a:rPr>
              <a:t>Cheap to train, runs on a laptop</a:t>
            </a:r>
            <a:endParaRPr lang="en-US" sz="1500" dirty="0"/>
          </a:p>
        </p:txBody>
      </p:sp>
      <p:sp>
        <p:nvSpPr>
          <p:cNvPr id="18" name="Conclusion 4 body"/>
          <p:cNvSpPr txBox="1"/>
          <p:nvPr/>
        </p:nvSpPr>
        <p:spPr>
          <a:xfrm>
            <a:off x="1005840" y="3493008"/>
            <a:ext cx="4572000" cy="384048"/>
          </a:xfrm>
          <a:prstGeom prst="rect">
            <a:avLst/>
          </a:prstGeom>
          <a:noFill/>
          <a:ln/>
        </p:spPr>
        <p:txBody>
          <a:bodyPr wrap="square" lIns="0" tIns="0" rIns="0" bIns="0" rtlCol="0" anchor="t"/>
          <a:lstStyle/>
          <a:p>
            <a:pPr indent="0" marL="0">
              <a:buNone/>
            </a:pPr>
            <a:r>
              <a:rPr lang="en-US" sz="1200" dirty="0">
                <a:solidFill>
                  <a:schemeClr val="accent6"/>
                </a:solidFill>
              </a:rPr>
              <a:t>5.3 h of training (laptop CPU + free Colab GPU); speaks on a laptop CPU.</a:t>
            </a:r>
            <a:endParaRPr lang="en-US" sz="1200" dirty="0"/>
          </a:p>
        </p:txBody>
      </p:sp>
      <p:sp>
        <p:nvSpPr>
          <p:cNvPr id="19" name="Limitations card"/>
          <p:cNvSpPr/>
          <p:nvPr/>
        </p:nvSpPr>
        <p:spPr>
          <a:xfrm>
            <a:off x="5852160" y="1051560"/>
            <a:ext cx="2834640" cy="2788920"/>
          </a:xfrm>
          <a:prstGeom prst="roundRect">
            <a:avLst>
              <a:gd name="adj" fmla="val 2623"/>
            </a:avLst>
          </a:prstGeom>
          <a:solidFill>
            <a:schemeClr val="bg2"/>
          </a:solidFill>
          <a:ln w="12700">
            <a:solidFill>
              <a:schemeClr val="bg2"/>
            </a:solidFill>
            <a:prstDash val="solid"/>
          </a:ln>
        </p:spPr>
      </p:sp>
      <p:sp>
        <p:nvSpPr>
          <p:cNvPr id="20" name="Limitations"/>
          <p:cNvSpPr txBox="1"/>
          <p:nvPr/>
        </p:nvSpPr>
        <p:spPr>
          <a:xfrm>
            <a:off x="6035040" y="1188720"/>
            <a:ext cx="2514600" cy="2560320"/>
          </a:xfrm>
          <a:prstGeom prst="rect">
            <a:avLst/>
          </a:prstGeom>
          <a:noFill/>
          <a:ln/>
        </p:spPr>
        <p:txBody>
          <a:bodyPr wrap="square" lIns="0" tIns="0" rIns="0" bIns="0" rtlCol="0" anchor="t"/>
          <a:lstStyle/>
          <a:p>
            <a:pPr indent="0" marL="0">
              <a:spcAft>
                <a:spcPts val="400"/>
              </a:spcAft>
              <a:buNone/>
            </a:pPr>
            <a:r>
              <a:rPr lang="en-US" sz="1600" b="1" dirty="0">
                <a:solidFill>
                  <a:schemeClr val="accent1"/>
                </a:solidFill>
              </a:rPr>
              <a:t>Limitations</a:t>
            </a:r>
            <a:endParaRPr lang="en-US" sz="1300" dirty="0"/>
          </a:p>
          <a:p>
            <a:pPr indent="0" marL="0">
              <a:spcAft>
                <a:spcPts val="400"/>
              </a:spcAft>
              <a:buNone/>
            </a:pPr>
            <a:r>
              <a:rPr lang="en-US" sz="600" dirty="0">
                <a:solidFill>
                  <a:schemeClr val="tx1"/>
                </a:solidFill>
              </a:rPr>
              <a:t> </a:t>
            </a:r>
            <a:endParaRPr lang="en-US" sz="1300" dirty="0"/>
          </a:p>
          <a:p>
            <a:pPr marL="342900" indent="-342900">
              <a:spcAft>
                <a:spcPts val="400"/>
              </a:spcAft>
              <a:buSzPct val="100000"/>
              <a:buChar char="•"/>
            </a:pPr>
            <a:r>
              <a:rPr lang="en-US" sz="1300" dirty="0">
                <a:solidFill>
                  <a:schemeClr val="tx1"/>
                </a:solidFill>
              </a:rPr>
              <a:t>Less natural than Tacotron 2 (slightly robotic)</a:t>
            </a:r>
            <a:endParaRPr lang="en-US" sz="1300" dirty="0"/>
          </a:p>
          <a:p>
            <a:pPr marL="342900" indent="-342900">
              <a:spcAft>
                <a:spcPts val="400"/>
              </a:spcAft>
              <a:buSzPct val="100000"/>
              <a:buChar char="•"/>
            </a:pPr>
            <a:r>
              <a:rPr lang="en-US" sz="1300" dirty="0">
                <a:solidFill>
                  <a:schemeClr val="tx1"/>
                </a:solidFill>
              </a:rPr>
              <a:t>Uses a pretrained HiFi-GAN vocoder</a:t>
            </a:r>
            <a:endParaRPr lang="en-US" sz="1300" dirty="0"/>
          </a:p>
          <a:p>
            <a:pPr marL="342900" indent="-342900">
              <a:spcAft>
                <a:spcPts val="400"/>
              </a:spcAft>
              <a:buSzPct val="100000"/>
              <a:buChar char="•"/>
            </a:pPr>
            <a:r>
              <a:rPr lang="en-US" sz="1300" dirty="0">
                <a:solidFill>
                  <a:schemeClr val="tx1"/>
                </a:solidFill>
              </a:rPr>
              <a:t>One speaker, English only</a:t>
            </a:r>
            <a:endParaRPr lang="en-US" sz="1300" dirty="0"/>
          </a:p>
          <a:p>
            <a:pPr marL="342900" indent="-342900">
              <a:spcAft>
                <a:spcPts val="400"/>
              </a:spcAft>
              <a:buSzPct val="100000"/>
              <a:buChar char="•"/>
            </a:pPr>
            <a:r>
              <a:rPr lang="en-US" sz="1300" dirty="0">
                <a:solidFill>
                  <a:schemeClr val="tx1"/>
                </a:solidFill>
              </a:rPr>
              <a:t>No human listening test (MOS)</a:t>
            </a:r>
            <a:endParaRPr lang="en-US" sz="1300" dirty="0"/>
          </a:p>
          <a:p>
            <a:pPr indent="0" marL="0">
              <a:spcAft>
                <a:spcPts val="400"/>
              </a:spcAft>
              <a:buNone/>
            </a:pPr>
            <a:r>
              <a:rPr lang="en-US" sz="600" dirty="0">
                <a:solidFill>
                  <a:schemeClr val="tx1"/>
                </a:solidFill>
              </a:rPr>
              <a:t> </a:t>
            </a:r>
            <a:endParaRPr lang="en-US" sz="1300" dirty="0"/>
          </a:p>
          <a:p>
            <a:pPr indent="0" marL="0">
              <a:spcAft>
                <a:spcPts val="400"/>
              </a:spcAft>
              <a:buNone/>
            </a:pPr>
            <a:r>
              <a:rPr lang="en-US" sz="1300" i="1" dirty="0">
                <a:solidFill>
                  <a:schemeClr val="tx1"/>
                </a:solidFill>
              </a:rPr>
              <a:t>Next: train longer on a GPU</a:t>
            </a:r>
            <a:endParaRPr lang="en-US" sz="13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8046720" cy="1005840"/>
          </a:xfrm>
          <a:prstGeom prst="rect">
            <a:avLst/>
          </a:prstGeom>
          <a:noFill/>
          <a:ln/>
        </p:spPr>
        <p:txBody>
          <a:bodyPr wrap="square" lIns="0" tIns="0" rIns="0" bIns="0" rtlCol="0" anchor="b"/>
          <a:lstStyle/>
          <a:p>
            <a:pPr algn="l" indent="0" marL="0">
              <a:buNone/>
            </a:pPr>
            <a:r>
              <a:rPr lang="en-US" sz="4800" b="1" dirty="0">
                <a:solidFill>
                  <a:schemeClr val="bg1"/>
                </a:solidFill>
                <a:latin typeface="Arial" pitchFamily="34" charset="0"/>
                <a:ea typeface="Arial" pitchFamily="34" charset="-122"/>
                <a:cs typeface="Arial" pitchFamily="34" charset="-120"/>
              </a:rPr>
              <a:t>Live demo</a:t>
            </a:r>
            <a:endParaRPr lang="en-US" sz="4800" dirty="0"/>
          </a:p>
        </p:txBody>
      </p:sp>
      <p:sp>
        <p:nvSpPr>
          <p:cNvPr id="3" name="Text 0"/>
          <p:cNvSpPr/>
          <p:nvPr>
            <p:ph idx="101" type="body" hasCustomPrompt="1"/>
          </p:nvPr>
        </p:nvSpPr>
        <p:spPr>
          <a:xfrm>
            <a:off x="548640" y="2514600"/>
            <a:ext cx="8046720" cy="548640"/>
          </a:xfrm>
          <a:prstGeom prst="rect">
            <a:avLst/>
          </a:prstGeom>
          <a:noFill/>
          <a:ln/>
        </p:spPr>
        <p:txBody>
          <a:bodyPr wrap="square" lIns="0" tIns="0" rIns="0" bIns="0" rtlCol="0" anchor="t"/>
          <a:lstStyle/>
          <a:p>
            <a:pPr indent="0" marL="0">
              <a:buNone/>
            </a:pPr>
            <a:r>
              <a:rPr lang="en-US" sz="2000" dirty="0">
                <a:solidFill>
                  <a:schemeClr val="bg2"/>
                </a:solidFill>
                <a:latin typeface="Courier New" pitchFamily="34" charset="0"/>
                <a:ea typeface="Courier New" pitchFamily="34" charset="-122"/>
                <a:cs typeface="Courier New" pitchFamily="34" charset="-120"/>
              </a:rPr>
              <a:t>python app/app.py  →  http://127.0.0.1:7860</a:t>
            </a:r>
            <a:endParaRPr lang="en-US" sz="2000" dirty="0"/>
          </a:p>
        </p:txBody>
      </p:sp>
      <p:sp>
        <p:nvSpPr>
          <p:cNvPr id="4" name="Demo step 1 circle"/>
          <p:cNvSpPr/>
          <p:nvPr/>
        </p:nvSpPr>
        <p:spPr>
          <a:xfrm>
            <a:off x="548640" y="3383280"/>
            <a:ext cx="384048" cy="384048"/>
          </a:xfrm>
          <a:prstGeom prst="ellipse">
            <a:avLst/>
          </a:prstGeom>
          <a:solidFill>
            <a:schemeClr val="accent2"/>
          </a:solidFill>
          <a:ln w="12700">
            <a:solidFill>
              <a:schemeClr val="accent2"/>
            </a:solidFill>
            <a:prstDash val="solid"/>
          </a:ln>
        </p:spPr>
      </p:sp>
      <p:sp>
        <p:nvSpPr>
          <p:cNvPr id="5" name="Demo step 1 label"/>
          <p:cNvSpPr txBox="1"/>
          <p:nvPr/>
        </p:nvSpPr>
        <p:spPr>
          <a:xfrm>
            <a:off x="548640" y="338328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6" name="Demo step 1 text"/>
          <p:cNvSpPr txBox="1"/>
          <p:nvPr/>
        </p:nvSpPr>
        <p:spPr>
          <a:xfrm>
            <a:off x="1051560" y="3383280"/>
            <a:ext cx="2103120" cy="384048"/>
          </a:xfrm>
          <a:prstGeom prst="rect">
            <a:avLst/>
          </a:prstGeom>
          <a:noFill/>
          <a:ln/>
        </p:spPr>
        <p:txBody>
          <a:bodyPr wrap="square" lIns="0" tIns="0" rIns="0" bIns="0" rtlCol="0" anchor="ctr"/>
          <a:lstStyle/>
          <a:p>
            <a:pPr indent="0" marL="0">
              <a:buNone/>
            </a:pPr>
            <a:r>
              <a:rPr lang="en-US" sz="1500" dirty="0">
                <a:solidFill>
                  <a:schemeClr val="bg1"/>
                </a:solidFill>
              </a:rPr>
              <a:t>Type a sentence</a:t>
            </a:r>
            <a:endParaRPr lang="en-US" sz="1500" dirty="0"/>
          </a:p>
        </p:txBody>
      </p:sp>
      <p:sp>
        <p:nvSpPr>
          <p:cNvPr id="7" name="Demo step 2 circle"/>
          <p:cNvSpPr/>
          <p:nvPr/>
        </p:nvSpPr>
        <p:spPr>
          <a:xfrm>
            <a:off x="3291840" y="3383280"/>
            <a:ext cx="384048" cy="384048"/>
          </a:xfrm>
          <a:prstGeom prst="ellipse">
            <a:avLst/>
          </a:prstGeom>
          <a:solidFill>
            <a:schemeClr val="accent2"/>
          </a:solidFill>
          <a:ln w="12700">
            <a:solidFill>
              <a:schemeClr val="accent2"/>
            </a:solidFill>
            <a:prstDash val="solid"/>
          </a:ln>
        </p:spPr>
      </p:sp>
      <p:sp>
        <p:nvSpPr>
          <p:cNvPr id="8" name="Demo step 2 label"/>
          <p:cNvSpPr txBox="1"/>
          <p:nvPr/>
        </p:nvSpPr>
        <p:spPr>
          <a:xfrm>
            <a:off x="3291840" y="338328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9" name="Demo step 2 text"/>
          <p:cNvSpPr txBox="1"/>
          <p:nvPr/>
        </p:nvSpPr>
        <p:spPr>
          <a:xfrm>
            <a:off x="3794760" y="3383280"/>
            <a:ext cx="2103120" cy="384048"/>
          </a:xfrm>
          <a:prstGeom prst="rect">
            <a:avLst/>
          </a:prstGeom>
          <a:noFill/>
          <a:ln/>
        </p:spPr>
        <p:txBody>
          <a:bodyPr wrap="square" lIns="0" tIns="0" rIns="0" bIns="0" rtlCol="0" anchor="ctr"/>
          <a:lstStyle/>
          <a:p>
            <a:pPr indent="0" marL="0">
              <a:buNone/>
            </a:pPr>
            <a:r>
              <a:rPr lang="en-US" sz="1500" dirty="0">
                <a:solidFill>
                  <a:schemeClr val="bg1"/>
                </a:solidFill>
              </a:rPr>
              <a:t>Choose a system</a:t>
            </a:r>
            <a:endParaRPr lang="en-US" sz="1500" dirty="0"/>
          </a:p>
        </p:txBody>
      </p:sp>
      <p:sp>
        <p:nvSpPr>
          <p:cNvPr id="10" name="Demo step 3 circle"/>
          <p:cNvSpPr/>
          <p:nvPr/>
        </p:nvSpPr>
        <p:spPr>
          <a:xfrm>
            <a:off x="6035040" y="3383280"/>
            <a:ext cx="384048" cy="384048"/>
          </a:xfrm>
          <a:prstGeom prst="ellipse">
            <a:avLst/>
          </a:prstGeom>
          <a:solidFill>
            <a:schemeClr val="accent2"/>
          </a:solidFill>
          <a:ln w="12700">
            <a:solidFill>
              <a:schemeClr val="accent2"/>
            </a:solidFill>
            <a:prstDash val="solid"/>
          </a:ln>
        </p:spPr>
      </p:sp>
      <p:sp>
        <p:nvSpPr>
          <p:cNvPr id="11" name="Demo step 3 label"/>
          <p:cNvSpPr txBox="1"/>
          <p:nvPr/>
        </p:nvSpPr>
        <p:spPr>
          <a:xfrm>
            <a:off x="6035040" y="338328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2" name="Demo step 3 text"/>
          <p:cNvSpPr txBox="1"/>
          <p:nvPr/>
        </p:nvSpPr>
        <p:spPr>
          <a:xfrm>
            <a:off x="6537960" y="3383280"/>
            <a:ext cx="2103120" cy="384048"/>
          </a:xfrm>
          <a:prstGeom prst="rect">
            <a:avLst/>
          </a:prstGeom>
          <a:noFill/>
          <a:ln/>
        </p:spPr>
        <p:txBody>
          <a:bodyPr wrap="square" lIns="0" tIns="0" rIns="0" bIns="0" rtlCol="0" anchor="ctr"/>
          <a:lstStyle/>
          <a:p>
            <a:pPr indent="0" marL="0">
              <a:buNone/>
            </a:pPr>
            <a:r>
              <a:rPr lang="en-US" sz="1500" dirty="0">
                <a:solidFill>
                  <a:schemeClr val="bg1"/>
                </a:solidFill>
              </a:rPr>
              <a:t>Hear it, see the attention</a:t>
            </a:r>
            <a:endParaRPr lang="en-US" sz="1500" dirty="0"/>
          </a:p>
        </p:txBody>
      </p:sp>
      <p:sp>
        <p:nvSpPr>
          <p:cNvPr id="13" name="Demo fallback"/>
          <p:cNvSpPr txBox="1"/>
          <p:nvPr/>
        </p:nvSpPr>
        <p:spPr>
          <a:xfrm>
            <a:off x="548640" y="4251960"/>
            <a:ext cx="8046720" cy="320040"/>
          </a:xfrm>
          <a:prstGeom prst="rect">
            <a:avLst/>
          </a:prstGeom>
          <a:noFill/>
          <a:ln/>
        </p:spPr>
        <p:txBody>
          <a:bodyPr wrap="square" lIns="0" tIns="0" rIns="0" bIns="0" rtlCol="0" anchor="ctr"/>
          <a:lstStyle/>
          <a:p>
            <a:pPr indent="0" marL="0">
              <a:buNone/>
            </a:pPr>
            <a:r>
              <a:rPr lang="en-US" sz="1200" dirty="0">
                <a:solidFill>
                  <a:schemeClr val="accent3"/>
                </a:solidFill>
              </a:rPr>
              <a:t>Backup: pre-generated audio in samples/</a:t>
            </a:r>
            <a:endParaRPr lang="en-US" sz="1200" dirty="0"/>
          </a:p>
        </p:txBody>
      </p:sp>
    </p:spTree>
  </p:cSld>
  <p:clrMapOvr>
    <a:masterClrMapping/>
  </p:clrMapOvr>
</p:sld>
</file>

<file path=ppt/theme/theme1.xml><?xml version="1.0" encoding="utf-8"?>
<a:theme xmlns:a="http://schemas.openxmlformats.org/drawingml/2006/main" name="Colatron">
  <a:themeElements>
    <a:clrScheme name="Colatron">
      <a:dk1>
        <a:srgbClr val="1C1A2E"/>
      </a:dk1>
      <a:lt1>
        <a:srgbClr val="FFFFFF"/>
      </a:lt1>
      <a:dk2>
        <a:srgbClr val="251E52"/>
      </a:dk2>
      <a:lt2>
        <a:srgbClr val="F1EEFA"/>
      </a:lt2>
      <a:accent1>
        <a:srgbClr val="5B3FD9"/>
      </a:accent1>
      <a:accent2>
        <a:srgbClr val="FF6B57"/>
      </a:accent2>
      <a:accent3>
        <a:srgbClr val="A8A2C2"/>
      </a:accent3>
      <a:accent4>
        <a:srgbClr val="2BA89A"/>
      </a:accent4>
      <a:accent5>
        <a:srgbClr val="F2B33D"/>
      </a:accent5>
      <a:accent6>
        <a:srgbClr val="6E6A85"/>
      </a:accent6>
      <a:hlink>
        <a:srgbClr val="5B3FD9"/>
      </a:hlink>
      <a:folHlink>
        <a:srgbClr val="6E6A85"/>
      </a:folHlink>
    </a:clrScheme>
    <a:fontScheme name="Colatron">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Colatron: End-to-End Text-to-Speech</dc:title>
  <dc:subject>PptxGenJS Presentation</dc:subject>
  <dc:creator>Mann Mehta, Marapareddy Deekshitha</dc:creator>
  <cp:lastModifiedBy>Mann Mehta, Marapareddy Deekshitha</cp:lastModifiedBy>
  <cp:revision>1</cp:revision>
  <dcterms:created xsi:type="dcterms:W3CDTF">2026-10-13T17:46:18Z</dcterms:created>
  <dcterms:modified xsi:type="dcterms:W3CDTF">2026-10-13T17:46:18Z</dcterms:modified>
</cp:coreProperties>
</file>